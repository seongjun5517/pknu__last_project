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6f00ed55824688" /><Relationship Type="http://schemas.openxmlformats.org/officeDocument/2006/relationships/extended-properties" Target="/docProps/app.xml" Id="Ra0ab678c36e14102" /><Relationship Type="http://schemas.openxmlformats.org/officeDocument/2006/relationships/officeDocument" Target="/ppt/presentation.xml" Id="Rf527eac0b1e34de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5555c1c0fcd472c"/>
  </p:sldMasterIdLst>
  <p:notesMasterIdLst>
    <p:notesMasterId xmlns:r="http://schemas.openxmlformats.org/officeDocument/2006/relationships" r:id="Rd1d7ef73d855432d"/>
  </p:notesMasterIdLst>
  <p:sldIdLst>
    <p:sldId xmlns:r="http://schemas.openxmlformats.org/officeDocument/2006/relationships" id="256" r:id="Re188b7832f51406a"/>
    <p:sldId xmlns:r="http://schemas.openxmlformats.org/officeDocument/2006/relationships" id="257" r:id="R258e1c901d784e3f"/>
    <p:sldId xmlns:r="http://schemas.openxmlformats.org/officeDocument/2006/relationships" id="258" r:id="Rcecc5d12bc7d4b42"/>
    <p:sldId xmlns:r="http://schemas.openxmlformats.org/officeDocument/2006/relationships" id="259" r:id="Rd9d53c3ae2674c6b"/>
    <p:sldId xmlns:r="http://schemas.openxmlformats.org/officeDocument/2006/relationships" id="260" r:id="Rd0cf4a002c2f42b3"/>
    <p:sldId xmlns:r="http://schemas.openxmlformats.org/officeDocument/2006/relationships" id="261" r:id="Raf6bd4343f544217"/>
    <p:sldId xmlns:r="http://schemas.openxmlformats.org/officeDocument/2006/relationships" id="262" r:id="R38f369c6d0344123"/>
    <p:sldId xmlns:r="http://schemas.openxmlformats.org/officeDocument/2006/relationships" id="263" r:id="Rcc65f1737b4d44da"/>
    <p:sldId xmlns:r="http://schemas.openxmlformats.org/officeDocument/2006/relationships" id="264" r:id="Rb0958730b7e14d18"/>
    <p:sldId xmlns:r="http://schemas.openxmlformats.org/officeDocument/2006/relationships" id="265" r:id="R8d485b9c86724501"/>
  </p:sldIdLst>
  <p:sldSz cx="18288000" cy="10287000"/>
  <p:notesSz cx="6858000" cy="9144000"/>
  <p:embeddedFontLst>
    <p:embeddedFont>
      <p:font typeface="Mandali"/>
      <p:regular xmlns:r="http://schemas.openxmlformats.org/officeDocument/2006/relationships" r:id="R0b9b1af168a84f52"/>
    </p:embeddedFont>
    <p:embeddedFont>
      <p:font typeface="Aptos Bold"/>
      <p:regular xmlns:r="http://schemas.openxmlformats.org/officeDocument/2006/relationships" r:id="Rdd4cfa76b7cf4611"/>
    </p:embeddedFont>
    <p:embeddedFont>
      <p:font typeface="IBM Plex Sans KR Bold"/>
      <p:regular xmlns:r="http://schemas.openxmlformats.org/officeDocument/2006/relationships" r:id="Red9e251d9b6241bf"/>
    </p:embeddedFont>
    <p:embeddedFont>
      <p:font typeface="Aptos"/>
      <p:regular xmlns:r="http://schemas.openxmlformats.org/officeDocument/2006/relationships" r:id="R76ac6da13e734345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c4f7bd1f22443f" /><Relationship Type="http://schemas.openxmlformats.org/officeDocument/2006/relationships/slideMaster" Target="/ppt/slideMasters/slideMaster1.xml" Id="Ra5555c1c0fcd472c" /><Relationship Type="http://schemas.openxmlformats.org/officeDocument/2006/relationships/notesMaster" Target="/ppt/notesMasters/notesMaster1.xml" Id="Rd1d7ef73d855432d" /><Relationship Type="http://schemas.openxmlformats.org/officeDocument/2006/relationships/presProps" Target="/ppt/presProps.xml" Id="Rbea4d53a231345e9" /><Relationship Type="http://schemas.openxmlformats.org/officeDocument/2006/relationships/viewProps" Target="/ppt/viewProps.xml" Id="R8077326929794730" /><Relationship Type="http://schemas.openxmlformats.org/officeDocument/2006/relationships/tableStyles" Target="/ppt/tableStyles.xml" Id="R303881c61f3f44be" /><Relationship Type="http://schemas.openxmlformats.org/officeDocument/2006/relationships/font" Target="/ppt/fonts/font.dat" Id="R0b9b1af168a84f52" /><Relationship Type="http://schemas.openxmlformats.org/officeDocument/2006/relationships/font" Target="/ppt/fonts/font2.dat" Id="Rdd4cfa76b7cf4611" /><Relationship Type="http://schemas.openxmlformats.org/officeDocument/2006/relationships/font" Target="/ppt/fonts/font3.dat" Id="Red9e251d9b6241bf" /><Relationship Type="http://schemas.openxmlformats.org/officeDocument/2006/relationships/font" Target="/ppt/fonts/font4.dat" Id="R76ac6da13e734345" /><Relationship Type="http://schemas.openxmlformats.org/officeDocument/2006/relationships/slide" Target="/ppt/slides/slide1.xml" Id="Re188b7832f51406a" /><Relationship Type="http://schemas.openxmlformats.org/officeDocument/2006/relationships/slide" Target="/ppt/slides/slide2.xml" Id="R258e1c901d784e3f" /><Relationship Type="http://schemas.openxmlformats.org/officeDocument/2006/relationships/slide" Target="/ppt/slides/slide3.xml" Id="Rcecc5d12bc7d4b42" /><Relationship Type="http://schemas.openxmlformats.org/officeDocument/2006/relationships/slide" Target="/ppt/slides/slide4.xml" Id="Rd9d53c3ae2674c6b" /><Relationship Type="http://schemas.openxmlformats.org/officeDocument/2006/relationships/slide" Target="/ppt/slides/slide5.xml" Id="Rd0cf4a002c2f42b3" /><Relationship Type="http://schemas.openxmlformats.org/officeDocument/2006/relationships/slide" Target="/ppt/slides/slide6.xml" Id="Raf6bd4343f544217" /><Relationship Type="http://schemas.openxmlformats.org/officeDocument/2006/relationships/slide" Target="/ppt/slides/slide7.xml" Id="R38f369c6d0344123" /><Relationship Type="http://schemas.openxmlformats.org/officeDocument/2006/relationships/slide" Target="/ppt/slides/slide8.xml" Id="Rcc65f1737b4d44da" /><Relationship Type="http://schemas.openxmlformats.org/officeDocument/2006/relationships/slide" Target="/ppt/slides/slide9.xml" Id="Rb0958730b7e14d18" /><Relationship Type="http://schemas.openxmlformats.org/officeDocument/2006/relationships/slide" Target="/ppt/slides/slide10.xml" Id="R8d485b9c867245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d5fb80a41a4b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4a8aacb0fb43a4" /><Relationship Type="http://schemas.openxmlformats.org/officeDocument/2006/relationships/notesMaster" Target="/ppt/notesMasters/notesMaster1.xml" Id="R20eeb5c5c96246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efc638722a4c91" /><Relationship Type="http://schemas.openxmlformats.org/officeDocument/2006/relationships/notesMaster" Target="/ppt/notesMasters/notesMaster1.xml" Id="R1aabf316bcd746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6e8eec3d246ac" /><Relationship Type="http://schemas.openxmlformats.org/officeDocument/2006/relationships/notesMaster" Target="/ppt/notesMasters/notesMaster1.xml" Id="Rdcec90538e4a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ce96f60f1b448e" /><Relationship Type="http://schemas.openxmlformats.org/officeDocument/2006/relationships/notesMaster" Target="/ppt/notesMasters/notesMaster1.xml" Id="R28927166691f4c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cfd183f5df4586" /><Relationship Type="http://schemas.openxmlformats.org/officeDocument/2006/relationships/notesMaster" Target="/ppt/notesMasters/notesMaster1.xml" Id="Rb56a89c3cad344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668f69515f4f08" /><Relationship Type="http://schemas.openxmlformats.org/officeDocument/2006/relationships/notesMaster" Target="/ppt/notesMasters/notesMaster1.xml" Id="Rb41724ccb1b047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b344ed105c4aa2" /><Relationship Type="http://schemas.openxmlformats.org/officeDocument/2006/relationships/notesMaster" Target="/ppt/notesMasters/notesMaster1.xml" Id="Rf90ee835c55f43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b44c0039fb4635" /><Relationship Type="http://schemas.openxmlformats.org/officeDocument/2006/relationships/notesMaster" Target="/ppt/notesMasters/notesMaster1.xml" Id="R8606ebdcb9c94b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71277a76442f4" /><Relationship Type="http://schemas.openxmlformats.org/officeDocument/2006/relationships/notesMaster" Target="/ppt/notesMasters/notesMaster1.xml" Id="Re66e9d15d24a41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86ce3b163d4832" /><Relationship Type="http://schemas.openxmlformats.org/officeDocument/2006/relationships/notesMaster" Target="/ppt/notesMasters/notesMaster1.xml" Id="R036866127854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78cfba3474c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5f1528fc8d4c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740eb54d245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6721508a94b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d7755294943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adaf3e0b841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2cac8702a4f9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0634711624a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f6062667641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cf534255642d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c7565181746e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308561-25AA-48FB-B0B8-2353CC026CC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A14EB8B-61D2-466D-B6F0-DB5266B144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A433B8-5BAB-4D85-9B4E-E086F11127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621503-7FE3-42A9-97B9-FC11F601CD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CEFBC9-8EE3-492A-A9E1-0ED8D8E9E2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387641-2A45-4830-B75F-ADB6D7C4E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0F5BF9-D633-4759-B303-0F0AEA1DBC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A48090-4355-41C3-9A06-4DEBE05CBA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E13C3-69F0-4D2E-86FC-8D8773AF73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1C2504-8206-426A-AB08-F79E9886EE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35A111-C41A-4CA7-BD02-8147354F39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D35595-FFEB-4B7E-A16F-8D01904DCB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D24498-1727-4C3F-9AF1-5C1CA2E4BD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8D5D15-0B9B-4C71-A352-E98CC83745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55EA65-733C-4112-A627-DD5E7C90EC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E0FECF-A406-4537-810D-DE34945F9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F2CDACF-6461-430A-8486-58D88F77FB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E0639C0-9B0D-496D-B6F1-9F823FA62CC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0E1252-00CA-478B-AF16-0DAD1D1CF5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332762-BD9D-4345-BB75-A233F24E9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DA5007F-F3BF-41A8-A2CE-882EE1C274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4C87CC-3047-4389-AA67-4F641D14B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F27BE60-F487-4900-8ED5-410F83A02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D0D25C6-B8A9-4E1D-AD62-67DD71AF27A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868445B-F57D-4D39-938B-3311A164FA3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75BB375-0FE6-4B07-8C7F-EF1FECEC496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D604C98-D039-487F-88AD-CE5455C5ED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F3A4A79-1EFB-425F-A551-439D25D37C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71CA1C0-0FD8-4157-9116-49D71C0528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F7DA10-3831-4466-A642-60F26AA84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BC9F032-33DA-4AEC-A6D0-9C04852CB3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F0D37D1-313E-4085-BA37-9916BF9FC6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F3B1EE9-334D-4D9D-8953-DB74DF67AD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80F4801-78A5-4E52-B9AF-2AC1500209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D098AB5-D456-490E-ADA0-4A73BC2A5C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2823A58-4299-40A3-9940-B479D5473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7F5F6A-F9EE-4E8E-91F4-B587BB133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1CEFC2-7B23-4547-A1C8-45D069DCEF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0A69F0-34EC-49DF-ADAF-60B2B4DE4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89E37E-E4A6-4799-9FD2-C02E316E60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5E2CF6-A3DC-40EC-8FE9-DC1DCCB91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8A46FF3-B4D1-42FB-8CFB-BB70A62392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A60A1D-0C96-4E19-AA7D-70DAFB55F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449275A-6FDD-44A2-9BAF-4E52390F799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94460C-DB0D-4A82-A8A2-BD33250757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D098406-31E9-4428-9C9B-903810BDAE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E6A3337-DE26-47F9-861E-90CC8F10C6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A4F3B4-5F76-4CAE-9848-9ED8B616B6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8EDD92-8C95-4DA0-B78F-6479909ED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6A2AC4-7886-4D61-B675-7C6546A195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72F852-D4C9-4B26-B4FE-9A43388FAE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AA609B-22C1-44D2-8B4A-FDEA0CFD14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CF8A0C-8B04-4362-92A9-DB563FAE69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9BD767F-557D-448A-9833-E48ACC3D5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95CD08-9DA4-4D44-9946-F84E320B8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633BBB-40DE-4593-8F95-FF924C9475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345BCA-BA63-4A9A-9C30-EE3B8ABD4F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A3ABD9A-FD25-44D8-92DD-704C609788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ef21274f77499e" /><Relationship Type="http://schemas.openxmlformats.org/officeDocument/2006/relationships/slideLayout" Target="/ppt/slideLayouts/slideLayout1.xml" Id="R1964c26ab01e4ea6" /><Relationship Type="http://schemas.openxmlformats.org/officeDocument/2006/relationships/slideLayout" Target="/ppt/slideLayouts/slideLayout2.xml" Id="R0f57e03c9c774c01" /><Relationship Type="http://schemas.openxmlformats.org/officeDocument/2006/relationships/slideLayout" Target="/ppt/slideLayouts/slideLayout3.xml" Id="R0ff4f9e02311486b" /><Relationship Type="http://schemas.openxmlformats.org/officeDocument/2006/relationships/slideLayout" Target="/ppt/slideLayouts/slideLayout4.xml" Id="R6d217cfb8d0847ee" /><Relationship Type="http://schemas.openxmlformats.org/officeDocument/2006/relationships/slideLayout" Target="/ppt/slideLayouts/slideLayout5.xml" Id="R67a653ecad41444e" /><Relationship Type="http://schemas.openxmlformats.org/officeDocument/2006/relationships/slideLayout" Target="/ppt/slideLayouts/slideLayout6.xml" Id="Raf945ee391e243e2" /><Relationship Type="http://schemas.openxmlformats.org/officeDocument/2006/relationships/slideLayout" Target="/ppt/slideLayouts/slideLayout7.xml" Id="R6184989017e5470f" /><Relationship Type="http://schemas.openxmlformats.org/officeDocument/2006/relationships/slideLayout" Target="/ppt/slideLayouts/slideLayout8.xml" Id="Rf3a9f268d60e47e1" /><Relationship Type="http://schemas.openxmlformats.org/officeDocument/2006/relationships/slideLayout" Target="/ppt/slideLayouts/slideLayout9.xml" Id="R9d72e6ad021742b7" /><Relationship Type="http://schemas.openxmlformats.org/officeDocument/2006/relationships/slideLayout" Target="/ppt/slideLayouts/slideLayout10.xml" Id="R57bf3b6a080848d1" /><Relationship Type="http://schemas.openxmlformats.org/officeDocument/2006/relationships/slideLayout" Target="/ppt/slideLayouts/slideLayout11.xml" Id="R05a0c0fbfc7343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C3D8EDC-4A46-4B8A-AAFF-FABC64E30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0FA7BD-94C5-4762-92CD-DED0746975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0DD022-72B5-4C80-8F8F-30298BB61DA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E5C5B8-B5E4-49F6-9F2E-35F758F1F95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E7095B-40D8-4623-B6EF-2E6735B400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4c26ab01e4ea6"/>
    <p:sldLayoutId xmlns:r="http://schemas.openxmlformats.org/officeDocument/2006/relationships" id="2147483650" r:id="R0f57e03c9c774c01"/>
    <p:sldLayoutId xmlns:r="http://schemas.openxmlformats.org/officeDocument/2006/relationships" id="2147483651" r:id="R0ff4f9e02311486b"/>
    <p:sldLayoutId xmlns:r="http://schemas.openxmlformats.org/officeDocument/2006/relationships" id="2147483652" r:id="R6d217cfb8d0847ee"/>
    <p:sldLayoutId xmlns:r="http://schemas.openxmlformats.org/officeDocument/2006/relationships" id="2147483653" r:id="R67a653ecad41444e"/>
    <p:sldLayoutId xmlns:r="http://schemas.openxmlformats.org/officeDocument/2006/relationships" id="2147483654" r:id="Raf945ee391e243e2"/>
    <p:sldLayoutId xmlns:r="http://schemas.openxmlformats.org/officeDocument/2006/relationships" id="2147483655" r:id="R6184989017e5470f"/>
    <p:sldLayoutId xmlns:r="http://schemas.openxmlformats.org/officeDocument/2006/relationships" id="2147483656" r:id="Rf3a9f268d60e47e1"/>
    <p:sldLayoutId xmlns:r="http://schemas.openxmlformats.org/officeDocument/2006/relationships" id="2147483657" r:id="R9d72e6ad021742b7"/>
    <p:sldLayoutId xmlns:r="http://schemas.openxmlformats.org/officeDocument/2006/relationships" id="2147483658" r:id="R57bf3b6a080848d1"/>
    <p:sldLayoutId xmlns:r="http://schemas.openxmlformats.org/officeDocument/2006/relationships" id="2147483659" r:id="R05a0c0fbfc7343ae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d0357d78dd4ca4" /><Relationship Type="http://schemas.openxmlformats.org/officeDocument/2006/relationships/image" Target="/ppt/media/image.jpeg" Id="R768ee2104f174c32" /><Relationship Type="http://schemas.openxmlformats.org/officeDocument/2006/relationships/notesSlide" Target="/ppt/notesSlides/notesSlide1.xml" Id="Rdd301d6a365b41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4c189c9cb148f5" /><Relationship Type="http://schemas.openxmlformats.org/officeDocument/2006/relationships/image" Target="/ppt/media/image.jpeg" Id="R606686db9bd04590" /><Relationship Type="http://schemas.openxmlformats.org/officeDocument/2006/relationships/image" Target="/ppt/media/image.png" Id="Re3d193e03b9648aa" /><Relationship Type="http://schemas.openxmlformats.org/officeDocument/2006/relationships/notesSlide" Target="/ppt/notesSlides/notesSlide2.xml" Id="R229ae5ae593e48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1b2278df094fdb" /><Relationship Type="http://schemas.openxmlformats.org/officeDocument/2006/relationships/image" Target="/ppt/media/image.jpeg" Id="R1b01474b51d54a33" /><Relationship Type="http://schemas.openxmlformats.org/officeDocument/2006/relationships/notesSlide" Target="/ppt/notesSlides/notesSlide3.xml" Id="R44d5d8c52d81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291e79c44d403c" /><Relationship Type="http://schemas.openxmlformats.org/officeDocument/2006/relationships/image" Target="/ppt/media/image.jpeg" Id="R19ae7fcca6d5483e" /><Relationship Type="http://schemas.openxmlformats.org/officeDocument/2006/relationships/image" Target="/ppt/media/image2.png" Id="R07138f6e13f7426f" /><Relationship Type="http://schemas.openxmlformats.org/officeDocument/2006/relationships/notesSlide" Target="/ppt/notesSlides/notesSlide4.xml" Id="R0bea34017d714f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228abad7c041eb" /><Relationship Type="http://schemas.openxmlformats.org/officeDocument/2006/relationships/image" Target="/ppt/media/image.jpeg" Id="Reed554a36fd44247" /><Relationship Type="http://schemas.openxmlformats.org/officeDocument/2006/relationships/image" Target="/ppt/media/image3.png" Id="R8d522875087b4a34" /><Relationship Type="http://schemas.openxmlformats.org/officeDocument/2006/relationships/notesSlide" Target="/ppt/notesSlides/notesSlide5.xml" Id="R26e5c6ec3e6a48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a86a8e49e14565" /><Relationship Type="http://schemas.openxmlformats.org/officeDocument/2006/relationships/image" Target="/ppt/media/image.jpeg" Id="Rda69d278608a459e" /><Relationship Type="http://schemas.openxmlformats.org/officeDocument/2006/relationships/image" Target="/ppt/media/image4.png" Id="R4f6705fb84a14884" /><Relationship Type="http://schemas.openxmlformats.org/officeDocument/2006/relationships/notesSlide" Target="/ppt/notesSlides/notesSlide6.xml" Id="R1f50ba8c987b49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4e3d5b04534640" /><Relationship Type="http://schemas.openxmlformats.org/officeDocument/2006/relationships/image" Target="/ppt/media/image.jpeg" Id="R44f7160d90784c2b" /><Relationship Type="http://schemas.openxmlformats.org/officeDocument/2006/relationships/image" Target="/ppt/media/image3.png" Id="R9cd53c06e49041d5" /><Relationship Type="http://schemas.openxmlformats.org/officeDocument/2006/relationships/notesSlide" Target="/ppt/notesSlides/notesSlide7.xml" Id="R82c63420ca2f41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b38e0fd7c5414b" /><Relationship Type="http://schemas.openxmlformats.org/officeDocument/2006/relationships/image" Target="/ppt/media/image.jpeg" Id="Rec732297a2454ac1" /><Relationship Type="http://schemas.openxmlformats.org/officeDocument/2006/relationships/image" Target="/ppt/media/image5.png" Id="Rd6caf353e51c4b2c" /><Relationship Type="http://schemas.openxmlformats.org/officeDocument/2006/relationships/image" Target="/ppt/media/image6.png" Id="Re5e89ec57da34ea4" /><Relationship Type="http://schemas.openxmlformats.org/officeDocument/2006/relationships/image" Target="/ppt/media/image4.png" Id="R474c5063cc8348a2" /><Relationship Type="http://schemas.openxmlformats.org/officeDocument/2006/relationships/image" Target="/ppt/media/image7.png" Id="Re2f3bb56f9414ed2" /><Relationship Type="http://schemas.openxmlformats.org/officeDocument/2006/relationships/notesSlide" Target="/ppt/notesSlides/notesSlide8.xml" Id="R363ee542a97c48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0bae09c86d4da5" /><Relationship Type="http://schemas.openxmlformats.org/officeDocument/2006/relationships/image" Target="/ppt/media/image.jpeg" Id="R7700e3389b1845bd" /><Relationship Type="http://schemas.openxmlformats.org/officeDocument/2006/relationships/notesSlide" Target="/ppt/notesSlides/notesSlide9.xml" Id="R276eb4ba42d047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856d8f77164e51" /><Relationship Type="http://schemas.openxmlformats.org/officeDocument/2006/relationships/image" Target="/ppt/media/image.jpeg" Id="R66d1f6a1ef554652" /><Relationship Type="http://schemas.openxmlformats.org/officeDocument/2006/relationships/notesSlide" Target="/ppt/notesSlides/notesSlide10.xml" Id="R94d44f4e646a4e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7A80672-34F0-4557-82F9-D3897D56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7ABBF1A-F24A-44B5-9B90-44E7865B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0773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5587227-CC73-4E1F-9EDA-A13DEF7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0773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3930172-8A60-459A-94D4-E9166D56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6185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FE19F7C-DF3B-4F56-A85F-2EE00D8E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6185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917E033-25D3-41C7-A28C-AB15DFB4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1587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327A524-1368-4629-9E12-D7C6993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1587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48AD875-609D-432B-8D30-385016A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6989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A971C6A-2A45-49DA-AA4C-10444EC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6989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A7E60EB-96D1-4136-8CEE-7BE6AAF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2400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A778B3-8CB0-42DA-A774-5CBEE5A0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2400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BC6E3692-D26D-48BE-B791-B9CF8A7F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1C64D6F5-79E2-4232-9FCB-91A2F49B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A39D16C-299B-4FC9-8645-FE94C8D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163C59B-BFE5-472B-B631-6C19E8FC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150736"/>
            <a:ext cx="4255284" cy="301985"/>
          </a:xfrm>
          <a:custGeom xmlns:a="http://schemas.openxmlformats.org/drawingml/2006/main">
            <a:rect l="l" t="t" r="r" b="b"/>
            <a:pathLst>
              <a:path w="5673713" h="402648">
                <a:moveTo>
                  <a:pt x="0" y="0"/>
                </a:moveTo>
                <a:lnTo>
                  <a:pt x="5673713" y="0"/>
                </a:lnTo>
                <a:lnTo>
                  <a:pt x="5673713" y="402648"/>
                </a:lnTo>
                <a:lnTo>
                  <a:pt x="0" y="40264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224563" r="0" b="-224564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4AB28FA-24A8-4B1D-A23C-792983F2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150736"/>
            <a:ext cx="4255284" cy="30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91"/>
              </a:lnSpc>
              <a:spcBef>
                <a:spcPts val="0"/>
              </a:spcBef>
              <a:buNone/>
            </a:pPr>
            <a:r>
              <a:rPr sz="1576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DATA · ML/DL · WEB SERVICE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1A17FF7-98AF-4B50-9E2D-13F6E991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1768426"/>
            <a:ext cx="9677340" cy="2895776"/>
          </a:xfrm>
          <a:custGeom xmlns:a="http://schemas.openxmlformats.org/drawingml/2006/main">
            <a:rect l="l" t="t" r="r" b="b"/>
            <a:pathLst>
              <a:path w="12903121" h="3861036">
                <a:moveTo>
                  <a:pt x="0" y="0"/>
                </a:moveTo>
                <a:lnTo>
                  <a:pt x="12903121" y="0"/>
                </a:lnTo>
                <a:lnTo>
                  <a:pt x="12903121" y="3861036"/>
                </a:lnTo>
                <a:lnTo>
                  <a:pt x="0" y="386103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26720" r="0" b="-3512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7BB01F2-EF14-40C3-A4E1-E2C4E11B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1761283"/>
            <a:ext cx="9677343" cy="29029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8106"/>
              </a:lnSpc>
              <a:spcBef>
                <a:spcPts val="0"/>
              </a:spcBef>
              <a:buNone/>
            </a:pPr>
            <a:r>
              <a:rPr sz="6755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....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FB002C53-50C9-4936-BCFB-DAB5F864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5143500"/>
            <a:ext cx="9883241" cy="984847"/>
          </a:xfrm>
          <a:custGeom xmlns:a="http://schemas.openxmlformats.org/drawingml/2006/main">
            <a:rect l="l" t="t" r="r" b="b"/>
            <a:pathLst>
              <a:path w="13177655" h="1313130">
                <a:moveTo>
                  <a:pt x="0" y="0"/>
                </a:moveTo>
                <a:lnTo>
                  <a:pt x="13177655" y="0"/>
                </a:lnTo>
                <a:lnTo>
                  <a:pt x="13177655" y="1313130"/>
                </a:lnTo>
                <a:lnTo>
                  <a:pt x="0" y="13131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50937" r="0" b="-140139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EBD76651-F71A-4098-BDF9-345E0CE9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5107782"/>
            <a:ext cx="9883245" cy="10205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134"/>
              </a:lnSpc>
              <a:spcBef>
                <a:spcPts val="0"/>
              </a:spcBef>
              <a:buNone/>
            </a:pPr>
            <a:r>
              <a:rPr sz="217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데이터 수집·전처리·예측 모델링 결과를 REST API와 실시간 통신으로 연결해, 사용자에게 필요한 웹 서비스로 전달하는 개발자 김수빈입니다.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76B8C0D-C706-4F48-A402-B4587A78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7303513"/>
            <a:ext cx="1304038" cy="542928"/>
          </a:xfrm>
          <a:custGeom xmlns:a="http://schemas.openxmlformats.org/drawingml/2006/main">
            <a:rect l="l" t="t" r="r" b="b"/>
            <a:pathLst>
              <a:path w="1738718" h="723904">
                <a:moveTo>
                  <a:pt x="0" y="0"/>
                </a:moveTo>
                <a:lnTo>
                  <a:pt x="1738718" y="0"/>
                </a:lnTo>
                <a:lnTo>
                  <a:pt x="1738718" y="723904"/>
                </a:lnTo>
                <a:lnTo>
                  <a:pt x="0" y="72390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19" r="0" b="10219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967EC16-B6B6-4BE2-A7DC-D5DC4138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7303513"/>
            <a:ext cx="1304039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4323"/>
              </a:lnSpc>
              <a:spcBef>
                <a:spcPts val="0"/>
              </a:spcBef>
              <a:buNone/>
            </a:pPr>
            <a:r>
              <a:rPr sz="3602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9+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05BBC31-5618-43BD-9424-5164F30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7921209"/>
            <a:ext cx="1647207" cy="205900"/>
          </a:xfrm>
          <a:custGeom xmlns:a="http://schemas.openxmlformats.org/drawingml/2006/main">
            <a:rect l="l" t="t" r="r" b="b"/>
            <a:pathLst>
              <a:path w="2196276" h="274533">
                <a:moveTo>
                  <a:pt x="0" y="0"/>
                </a:moveTo>
                <a:lnTo>
                  <a:pt x="2196276" y="0"/>
                </a:lnTo>
                <a:lnTo>
                  <a:pt x="2196276" y="274533"/>
                </a:lnTo>
                <a:lnTo>
                  <a:pt x="0" y="274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05880" r="0" b="-105881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863D528D-E417-47CB-A927-CD576320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551" y="7914066"/>
            <a:ext cx="1647206" cy="2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67"/>
              </a:lnSpc>
              <a:spcBef>
                <a:spcPts val="0"/>
              </a:spcBef>
              <a:buNone/>
            </a:pPr>
            <a:r>
              <a:rPr sz="1306" u="none">
                <a:solidFill>
                  <a:srgbClr val="9CA3AF"/>
                </a:solidFill>
                <a:latin typeface="Mandali"/>
                <a:ea typeface="Mandali"/>
                <a:cs typeface="Mandali"/>
              </a:rPr>
              <a:t>개발 프로젝트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AF5AB6C-9A9A-4A55-ABE9-2F48D580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8988" y="7253754"/>
            <a:ext cx="17145" cy="772096"/>
          </a:xfrm>
          <a:custGeom xmlns:a="http://schemas.openxmlformats.org/drawingml/2006/main">
            <a:rect l="l" t="t" r="r" b="b"/>
            <a:pathLst>
              <a:path w="22860" h="1029462">
                <a:moveTo>
                  <a:pt x="0" y="0"/>
                </a:moveTo>
                <a:lnTo>
                  <a:pt x="22860" y="1029462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-5728123" t="0" r="-5728179" b="-3"/>
            </a:stretch>
          </a:blipFill>
          <a:ln xmlns:a="http://schemas.openxmlformats.org/drawingml/2006/main" w="17158">
            <a:solidFill>
              <a:srgbClr val="E5E7EB"/>
            </a:solidFill>
            <a:prstDash val="solid"/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6DFD8CE-FDA7-4F9B-BF11-61B1201D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551" y="7303513"/>
            <a:ext cx="1304038" cy="542928"/>
          </a:xfrm>
          <a:custGeom xmlns:a="http://schemas.openxmlformats.org/drawingml/2006/main">
            <a:rect l="l" t="t" r="r" b="b"/>
            <a:pathLst>
              <a:path w="1738718" h="723904">
                <a:moveTo>
                  <a:pt x="0" y="0"/>
                </a:moveTo>
                <a:lnTo>
                  <a:pt x="1738718" y="0"/>
                </a:lnTo>
                <a:lnTo>
                  <a:pt x="1738718" y="723904"/>
                </a:lnTo>
                <a:lnTo>
                  <a:pt x="0" y="72390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19" r="0" b="10219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09EC6D4E-F5DC-4276-B321-1082FF63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551" y="7303513"/>
            <a:ext cx="1304039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4323"/>
              </a:lnSpc>
              <a:spcBef>
                <a:spcPts val="0"/>
              </a:spcBef>
              <a:buNone/>
            </a:pPr>
            <a:r>
              <a:rPr sz="3602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4+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A38D2357-1AAB-4D6C-BB6B-B1519839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551" y="7921209"/>
            <a:ext cx="1647207" cy="205900"/>
          </a:xfrm>
          <a:custGeom xmlns:a="http://schemas.openxmlformats.org/drawingml/2006/main">
            <a:rect l="l" t="t" r="r" b="b"/>
            <a:pathLst>
              <a:path w="2196276" h="274533">
                <a:moveTo>
                  <a:pt x="0" y="0"/>
                </a:moveTo>
                <a:lnTo>
                  <a:pt x="2196276" y="0"/>
                </a:lnTo>
                <a:lnTo>
                  <a:pt x="2196276" y="274533"/>
                </a:lnTo>
                <a:lnTo>
                  <a:pt x="0" y="274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05880" r="0" b="-105881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D9A46B0F-3787-434D-93E0-96247CA0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1551" y="7914066"/>
            <a:ext cx="1647206" cy="2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67"/>
              </a:lnSpc>
              <a:spcBef>
                <a:spcPts val="0"/>
              </a:spcBef>
              <a:buNone/>
            </a:pPr>
            <a:r>
              <a:rPr sz="1306" u="none">
                <a:solidFill>
                  <a:srgbClr val="9CA3AF"/>
                </a:solidFill>
                <a:latin typeface="Mandali"/>
                <a:ea typeface="Mandali"/>
                <a:cs typeface="Mandali"/>
              </a:rPr>
              <a:t>개발 분야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B8B22F03-C3B6-4786-B258-525BF0A9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988" y="7253754"/>
            <a:ext cx="17145" cy="772096"/>
          </a:xfrm>
          <a:custGeom xmlns:a="http://schemas.openxmlformats.org/drawingml/2006/main">
            <a:rect l="l" t="t" r="r" b="b"/>
            <a:pathLst>
              <a:path w="22860" h="1029462">
                <a:moveTo>
                  <a:pt x="0" y="0"/>
                </a:moveTo>
                <a:lnTo>
                  <a:pt x="22860" y="1029462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-5728123" t="0" r="-5728179" b="-3"/>
            </a:stretch>
          </a:blipFill>
          <a:ln xmlns:a="http://schemas.openxmlformats.org/drawingml/2006/main" w="17158">
            <a:solidFill>
              <a:srgbClr val="E5E7EB"/>
            </a:solidFill>
            <a:prstDash val="solid"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7262CE42-406C-4B03-8F67-6EC4FDD5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541" y="7303513"/>
            <a:ext cx="1304038" cy="542928"/>
          </a:xfrm>
          <a:custGeom xmlns:a="http://schemas.openxmlformats.org/drawingml/2006/main">
            <a:rect l="l" t="t" r="r" b="b"/>
            <a:pathLst>
              <a:path w="1738718" h="723904">
                <a:moveTo>
                  <a:pt x="0" y="0"/>
                </a:moveTo>
                <a:lnTo>
                  <a:pt x="1738718" y="0"/>
                </a:lnTo>
                <a:lnTo>
                  <a:pt x="1738718" y="723904"/>
                </a:lnTo>
                <a:lnTo>
                  <a:pt x="0" y="72390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19" r="0" b="10219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CBB802E-E058-45FC-8790-D339DF9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541" y="7303513"/>
            <a:ext cx="1304039" cy="54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4323"/>
              </a:lnSpc>
              <a:spcBef>
                <a:spcPts val="0"/>
              </a:spcBef>
              <a:buNone/>
            </a:pPr>
            <a:r>
              <a:rPr sz="3602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10+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5790C684-6FE5-45A9-AED7-8A193E95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541" y="7921209"/>
            <a:ext cx="1647207" cy="205900"/>
          </a:xfrm>
          <a:custGeom xmlns:a="http://schemas.openxmlformats.org/drawingml/2006/main">
            <a:rect l="l" t="t" r="r" b="b"/>
            <a:pathLst>
              <a:path w="2196276" h="274533">
                <a:moveTo>
                  <a:pt x="0" y="0"/>
                </a:moveTo>
                <a:lnTo>
                  <a:pt x="2196276" y="0"/>
                </a:lnTo>
                <a:lnTo>
                  <a:pt x="2196276" y="274533"/>
                </a:lnTo>
                <a:lnTo>
                  <a:pt x="0" y="274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105880" r="0" b="-105881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88482385-36FB-49F7-9D7B-624E6C99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2541" y="7914066"/>
            <a:ext cx="1647206" cy="213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67"/>
              </a:lnSpc>
              <a:spcBef>
                <a:spcPts val="0"/>
              </a:spcBef>
              <a:buNone/>
            </a:pPr>
            <a:r>
              <a:rPr sz="1306" u="none">
                <a:solidFill>
                  <a:srgbClr val="9CA3AF"/>
                </a:solidFill>
                <a:latin typeface="Mandali"/>
                <a:ea typeface="Mandali"/>
                <a:cs typeface="Mandali"/>
              </a:rPr>
              <a:t>기술 스택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C5BBEE51-BCBE-4F36-B4C2-76B84C7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22434" y="7253754"/>
            <a:ext cx="5818175" cy="2328429"/>
          </a:xfrm>
          <a:custGeom xmlns:a="http://schemas.openxmlformats.org/drawingml/2006/main">
            <a:rect l="l" t="t" r="r" b="b"/>
            <a:pathLst>
              <a:path w="7757567" h="3104573">
                <a:moveTo>
                  <a:pt x="0" y="180448"/>
                </a:moveTo>
                <a:cubicBezTo>
                  <a:pt x="0" y="80766"/>
                  <a:pt x="62822" y="0"/>
                  <a:pt x="140357" y="0"/>
                </a:cubicBezTo>
                <a:lnTo>
                  <a:pt x="7617210" y="0"/>
                </a:lnTo>
                <a:cubicBezTo>
                  <a:pt x="7694745" y="0"/>
                  <a:pt x="7757567" y="80766"/>
                  <a:pt x="7757567" y="180448"/>
                </a:cubicBezTo>
                <a:lnTo>
                  <a:pt x="7757567" y="2924126"/>
                </a:lnTo>
                <a:cubicBezTo>
                  <a:pt x="7757567" y="3023807"/>
                  <a:pt x="7694745" y="3104573"/>
                  <a:pt x="7617210" y="3104573"/>
                </a:cubicBezTo>
                <a:lnTo>
                  <a:pt x="140357" y="3104573"/>
                </a:lnTo>
                <a:cubicBezTo>
                  <a:pt x="62822" y="3104573"/>
                  <a:pt x="0" y="3023807"/>
                  <a:pt x="0" y="29241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BE00239-6B85-4DB3-9F11-58141DD7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689" y="7722892"/>
            <a:ext cx="1441305" cy="315714"/>
          </a:xfrm>
          <a:custGeom xmlns:a="http://schemas.openxmlformats.org/drawingml/2006/main">
            <a:rect l="l" t="t" r="r" b="b"/>
            <a:pathLst>
              <a:path w="1921741" h="420952">
                <a:moveTo>
                  <a:pt x="0" y="0"/>
                </a:moveTo>
                <a:lnTo>
                  <a:pt x="1921741" y="0"/>
                </a:lnTo>
                <a:lnTo>
                  <a:pt x="1921741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AC8433AD-713B-48C8-8B94-5C586D45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689" y="7722892"/>
            <a:ext cx="1441304" cy="315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D</a:t>
            </a: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eveloper.</a:t>
            </a:r>
          </a:p>
        </p:txBody>
      </p:sp>
      <p:sp>
        <p:nvSpPr>
          <p:cNvPr id="61" name="AutoShape 61">
            <a:extLst xmlns:a="http://schemas.openxmlformats.org/drawingml/2006/main">
              <a:ext uri="{FF2B5EF4-FFF2-40B4-BE49-F238E27FC236}">
                <a16:creationId xmlns:a16="http://schemas.microsoft.com/office/drawing/2014/main" id="{16E7E26E-9F23-45E5-8AEB-E907D7D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V="1">
            <a:off x="12114240" y="8043370"/>
            <a:ext cx="4909665" cy="476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0761C6A2-DAEB-4F17-B35F-28224B4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689" y="8260134"/>
            <a:ext cx="1441305" cy="315714"/>
          </a:xfrm>
          <a:custGeom xmlns:a="http://schemas.openxmlformats.org/drawingml/2006/main">
            <a:rect l="l" t="t" r="r" b="b"/>
            <a:pathLst>
              <a:path w="1921741" h="420952">
                <a:moveTo>
                  <a:pt x="0" y="0"/>
                </a:moveTo>
                <a:lnTo>
                  <a:pt x="1921741" y="0"/>
                </a:lnTo>
                <a:lnTo>
                  <a:pt x="1921741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03F3DA-1B31-4757-8B46-99F7B080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689" y="8260134"/>
            <a:ext cx="1441304" cy="315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Tel.</a:t>
            </a:r>
          </a:p>
        </p:txBody>
      </p:sp>
      <p:sp>
        <p:nvSpPr>
          <p:cNvPr id="65" name="AutoShape 65">
            <a:extLst xmlns:a="http://schemas.openxmlformats.org/drawingml/2006/main">
              <a:ext uri="{FF2B5EF4-FFF2-40B4-BE49-F238E27FC236}">
                <a16:creationId xmlns:a16="http://schemas.microsoft.com/office/drawing/2014/main" id="{2099D994-1AB2-46F4-8B90-30BB4767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V="1">
            <a:off x="12114226" y="8566324"/>
            <a:ext cx="4909665" cy="476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B2CF72D7-9547-47A9-AAF9-59D1C39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689" y="8799687"/>
            <a:ext cx="1441305" cy="534602"/>
          </a:xfrm>
          <a:custGeom xmlns:a="http://schemas.openxmlformats.org/drawingml/2006/main">
            <a:rect l="l" t="t" r="r" b="b"/>
            <a:pathLst>
              <a:path w="1921741" h="712803">
                <a:moveTo>
                  <a:pt x="0" y="0"/>
                </a:moveTo>
                <a:lnTo>
                  <a:pt x="1921741" y="0"/>
                </a:lnTo>
                <a:lnTo>
                  <a:pt x="1921741" y="712803"/>
                </a:lnTo>
                <a:lnTo>
                  <a:pt x="0" y="712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23004" r="0" b="17939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62D3753D-757E-4AB8-B5F4-13F9C01A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1689" y="8799687"/>
            <a:ext cx="1441304" cy="5346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E-Mail.</a:t>
            </a:r>
          </a:p>
          <a:p xmlns:a="http://schemas.openxmlformats.org/drawingml/2006/main">
            <a:pPr algn="l">
              <a:lnSpc>
                <a:spcPts val="1891"/>
              </a:lnSpc>
              <a:buNone/>
            </a:pPr>
          </a:p>
        </p:txBody>
      </p:sp>
      <p:sp>
        <p:nvSpPr>
          <p:cNvPr id="69" name="AutoShape 69">
            <a:extLst xmlns:a="http://schemas.openxmlformats.org/drawingml/2006/main">
              <a:ext uri="{FF2B5EF4-FFF2-40B4-BE49-F238E27FC236}">
                <a16:creationId xmlns:a16="http://schemas.microsoft.com/office/drawing/2014/main" id="{0EBAF3AF-86A8-424D-8EA4-15E9BF57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V="1">
            <a:off x="12114231" y="9113020"/>
            <a:ext cx="4909665" cy="476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8CEC2DC3-E028-4D5C-9D65-5626891E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8825" y="7745784"/>
            <a:ext cx="635073" cy="315714"/>
          </a:xfrm>
          <a:custGeom xmlns:a="http://schemas.openxmlformats.org/drawingml/2006/main">
            <a:rect l="l" t="t" r="r" b="b"/>
            <a:pathLst>
              <a:path w="846765" h="420952">
                <a:moveTo>
                  <a:pt x="0" y="0"/>
                </a:moveTo>
                <a:lnTo>
                  <a:pt x="846765" y="0"/>
                </a:lnTo>
                <a:lnTo>
                  <a:pt x="846765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953" r="-126950" b="-38953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905FB624-563C-44A5-B9CD-84017274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8825" y="7745784"/>
            <a:ext cx="635071" cy="315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김수빈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81663324-F5D7-435E-A99D-56896ECC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5734" y="8260134"/>
            <a:ext cx="1506184" cy="315714"/>
          </a:xfrm>
          <a:custGeom xmlns:a="http://schemas.openxmlformats.org/drawingml/2006/main">
            <a:rect l="l" t="t" r="r" b="b"/>
            <a:pathLst>
              <a:path w="2008246" h="420952">
                <a:moveTo>
                  <a:pt x="0" y="0"/>
                </a:moveTo>
                <a:lnTo>
                  <a:pt x="2008246" y="0"/>
                </a:lnTo>
                <a:lnTo>
                  <a:pt x="2008246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953" r="4307" b="-38953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486C39DD-ED4A-4B42-ACD0-5633FA3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5734" y="8260134"/>
            <a:ext cx="1506182" cy="315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010-5573-9892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D46E5111-9130-48B4-A52C-0C2384C2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7715" y="8757577"/>
            <a:ext cx="2140580" cy="315714"/>
          </a:xfrm>
          <a:custGeom xmlns:a="http://schemas.openxmlformats.org/drawingml/2006/main">
            <a:rect l="l" t="t" r="r" b="b"/>
            <a:pathLst>
              <a:path w="2854107" h="420952">
                <a:moveTo>
                  <a:pt x="0" y="0"/>
                </a:moveTo>
                <a:lnTo>
                  <a:pt x="2854107" y="0"/>
                </a:lnTo>
                <a:lnTo>
                  <a:pt x="2854107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8ee2104f174c32">
              <a:alphaModFix amt="0"/>
            </a:blip>
            <a:stretch>
              <a:fillRect l="0" t="-38953" r="32667" b="-38953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BE2857D8-E401-4A7E-A64D-7B9F1B87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7715" y="8757577"/>
            <a:ext cx="2140578" cy="3157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ussophia3@naver.com</a:t>
            </a:r>
          </a:p>
        </p:txBody>
      </p:sp>
    </p:spTree>
    <p:extLst>
      <p:ext uri="{BB962C8B-B14F-4D97-AF65-F5344CB8AC3E}">
        <p14:creationId xmlns:p14="http://schemas.microsoft.com/office/powerpoint/2010/main" val="1524335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F2B36B5-15CB-44D0-ACDD-04503581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482CB4B-BB7E-4302-BD45-5E6D856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D0BD662-A175-4A21-B7B5-E47AB98E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FCDF939-E6F4-4A2F-A460-5DD89C30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6D87874-2567-4D8E-BC68-51EE562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704434-5E89-4130-BB0A-1E7A7DC4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B79E492-C52E-4829-B05E-9B43864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7520" y="1418187"/>
            <a:ext cx="4255284" cy="301985"/>
          </a:xfrm>
          <a:custGeom xmlns:a="http://schemas.openxmlformats.org/drawingml/2006/main">
            <a:rect l="l" t="t" r="r" b="b"/>
            <a:pathLst>
              <a:path w="5673713" h="402648">
                <a:moveTo>
                  <a:pt x="0" y="0"/>
                </a:moveTo>
                <a:lnTo>
                  <a:pt x="5673713" y="0"/>
                </a:lnTo>
                <a:lnTo>
                  <a:pt x="5673713" y="402648"/>
                </a:lnTo>
                <a:lnTo>
                  <a:pt x="0" y="40264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224563" r="0" b="-224564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15AC7A0-A98F-404F-B761-4CDB44BA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7520" y="1418187"/>
            <a:ext cx="4255284" cy="301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91"/>
              </a:lnSpc>
              <a:spcBef>
                <a:spcPts val="0"/>
              </a:spcBef>
              <a:buNone/>
            </a:pPr>
            <a:r>
              <a:rPr sz="1576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DATA · ML/DL · WEB SERVICE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92B47E35-3875-4C2C-BB43-E014DE7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681" y="2196391"/>
            <a:ext cx="5818175" cy="7360390"/>
          </a:xfrm>
          <a:custGeom xmlns:a="http://schemas.openxmlformats.org/drawingml/2006/main">
            <a:rect l="l" t="t" r="r" b="b"/>
            <a:pathLst>
              <a:path w="7757567" h="9813854">
                <a:moveTo>
                  <a:pt x="0" y="570413"/>
                </a:moveTo>
                <a:cubicBezTo>
                  <a:pt x="0" y="255309"/>
                  <a:pt x="62822" y="0"/>
                  <a:pt x="140357" y="0"/>
                </a:cubicBezTo>
                <a:lnTo>
                  <a:pt x="7617210" y="0"/>
                </a:lnTo>
                <a:cubicBezTo>
                  <a:pt x="7694745" y="0"/>
                  <a:pt x="7757567" y="255309"/>
                  <a:pt x="7757567" y="570413"/>
                </a:cubicBezTo>
                <a:lnTo>
                  <a:pt x="7757567" y="9243441"/>
                </a:lnTo>
                <a:cubicBezTo>
                  <a:pt x="7757567" y="9558545"/>
                  <a:pt x="7694745" y="9813854"/>
                  <a:pt x="7617210" y="9813854"/>
                </a:cubicBezTo>
                <a:lnTo>
                  <a:pt x="140357" y="9813854"/>
                </a:lnTo>
                <a:cubicBezTo>
                  <a:pt x="62822" y="9813854"/>
                  <a:pt x="0" y="9558545"/>
                  <a:pt x="0" y="92434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7463866-7121-4522-920F-11535263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5666" y="2906051"/>
            <a:ext cx="2863183" cy="3817577"/>
          </a:xfrm>
          <a:custGeom xmlns:a="http://schemas.openxmlformats.org/drawingml/2006/main">
            <a:rect l="l" t="t" r="r" b="b"/>
            <a:pathLst>
              <a:path w="2863183" h="3817577">
                <a:moveTo>
                  <a:pt x="0" y="0"/>
                </a:moveTo>
                <a:lnTo>
                  <a:pt x="2863182" y="0"/>
                </a:lnTo>
                <a:lnTo>
                  <a:pt x="2863182" y="3817577"/>
                </a:lnTo>
                <a:lnTo>
                  <a:pt x="0" y="38175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3d193e03b9648aa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A84AF4D-E690-4BDB-BEC7-C6E301D1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936" y="7697591"/>
            <a:ext cx="1441305" cy="315714"/>
          </a:xfrm>
          <a:custGeom xmlns:a="http://schemas.openxmlformats.org/drawingml/2006/main">
            <a:rect l="l" t="t" r="r" b="b"/>
            <a:pathLst>
              <a:path w="1921741" h="420952">
                <a:moveTo>
                  <a:pt x="0" y="0"/>
                </a:moveTo>
                <a:lnTo>
                  <a:pt x="1921741" y="0"/>
                </a:lnTo>
                <a:lnTo>
                  <a:pt x="1921741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E576F10-7CDF-4EFF-B8AD-1372A8E5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936" y="7697591"/>
            <a:ext cx="1441304" cy="315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D</a:t>
            </a: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eveloper.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7C4F7646-BEE4-4DB3-B011-C1CBC949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2488" y="8018070"/>
            <a:ext cx="4909666" cy="4762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C50ACB8-8787-429C-A3E3-093DB5B1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936" y="8234834"/>
            <a:ext cx="1441305" cy="315714"/>
          </a:xfrm>
          <a:custGeom xmlns:a="http://schemas.openxmlformats.org/drawingml/2006/main">
            <a:rect l="l" t="t" r="r" b="b"/>
            <a:pathLst>
              <a:path w="1921741" h="420952">
                <a:moveTo>
                  <a:pt x="0" y="0"/>
                </a:moveTo>
                <a:lnTo>
                  <a:pt x="1921741" y="0"/>
                </a:lnTo>
                <a:lnTo>
                  <a:pt x="1921741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AB0F31A8-3AA4-4147-9C81-A66CBC6D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936" y="8234834"/>
            <a:ext cx="1441304" cy="315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Tel.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3D946A10-1C4B-49C8-9D2E-6AD7CA19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2474" y="8541023"/>
            <a:ext cx="4909666" cy="476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A679449-9302-480B-B535-2EC78358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936" y="8774386"/>
            <a:ext cx="1441305" cy="534602"/>
          </a:xfrm>
          <a:custGeom xmlns:a="http://schemas.openxmlformats.org/drawingml/2006/main">
            <a:rect l="l" t="t" r="r" b="b"/>
            <a:pathLst>
              <a:path w="1921741" h="712803">
                <a:moveTo>
                  <a:pt x="0" y="0"/>
                </a:moveTo>
                <a:lnTo>
                  <a:pt x="1921741" y="0"/>
                </a:lnTo>
                <a:lnTo>
                  <a:pt x="1921741" y="712803"/>
                </a:lnTo>
                <a:lnTo>
                  <a:pt x="0" y="712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23004" r="0" b="17939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4360F55F-3AA3-4AE2-8B20-90BABCD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936" y="8774386"/>
            <a:ext cx="1441304" cy="5346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E-Mail.</a:t>
            </a:r>
          </a:p>
          <a:p xmlns:a="http://schemas.openxmlformats.org/drawingml/2006/main">
            <a:pPr algn="l">
              <a:lnSpc>
                <a:spcPts val="1891"/>
              </a:lnSpc>
              <a:buNone/>
            </a:pP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88623476-362E-47AE-B5DA-5E2AF880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2478" y="9087719"/>
            <a:ext cx="4909666" cy="4763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DB057B3-C0FF-447E-A7F0-50DA5D1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7073" y="7720484"/>
            <a:ext cx="635074" cy="315714"/>
          </a:xfrm>
          <a:custGeom xmlns:a="http://schemas.openxmlformats.org/drawingml/2006/main">
            <a:rect l="l" t="t" r="r" b="b"/>
            <a:pathLst>
              <a:path w="846765" h="420952">
                <a:moveTo>
                  <a:pt x="0" y="0"/>
                </a:moveTo>
                <a:lnTo>
                  <a:pt x="846765" y="0"/>
                </a:lnTo>
                <a:lnTo>
                  <a:pt x="846765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8953" r="-126950" b="-38953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230B0F7-CD37-435C-AD02-530E8180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7073" y="7720484"/>
            <a:ext cx="635072" cy="315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김수빈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299808A-E23F-44D6-9642-BAFE51F3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982" y="8234834"/>
            <a:ext cx="1506184" cy="315714"/>
          </a:xfrm>
          <a:custGeom xmlns:a="http://schemas.openxmlformats.org/drawingml/2006/main">
            <a:rect l="l" t="t" r="r" b="b"/>
            <a:pathLst>
              <a:path w="2008246" h="420952">
                <a:moveTo>
                  <a:pt x="0" y="0"/>
                </a:moveTo>
                <a:lnTo>
                  <a:pt x="2008246" y="0"/>
                </a:lnTo>
                <a:lnTo>
                  <a:pt x="2008246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8953" r="4307" b="-38953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EADBE28C-C105-4BD7-B91C-D34D967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3982" y="8234834"/>
            <a:ext cx="1506182" cy="315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010-5573-9892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ACEA6D1D-B16D-4686-995B-84FB7F4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5963" y="8732276"/>
            <a:ext cx="2140580" cy="315714"/>
          </a:xfrm>
          <a:custGeom xmlns:a="http://schemas.openxmlformats.org/drawingml/2006/main">
            <a:rect l="l" t="t" r="r" b="b"/>
            <a:pathLst>
              <a:path w="2854107" h="420952">
                <a:moveTo>
                  <a:pt x="0" y="0"/>
                </a:moveTo>
                <a:lnTo>
                  <a:pt x="2854107" y="0"/>
                </a:lnTo>
                <a:lnTo>
                  <a:pt x="2854107" y="420952"/>
                </a:lnTo>
                <a:lnTo>
                  <a:pt x="0" y="420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8953" r="32667" b="-38953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11B8E3F2-0EBE-4A3C-84AC-015E2977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5963" y="8732276"/>
            <a:ext cx="2140578" cy="315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ussophia3@naver.com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8757AAA4-6220-4F64-B9CE-60FCA11C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3778" y="2196391"/>
            <a:ext cx="8152656" cy="7360390"/>
          </a:xfrm>
          <a:custGeom xmlns:a="http://schemas.openxmlformats.org/drawingml/2006/main">
            <a:rect l="l" t="t" r="r" b="b"/>
            <a:pathLst>
              <a:path w="7757567" h="7003696">
                <a:moveTo>
                  <a:pt x="0" y="407077"/>
                </a:moveTo>
                <a:cubicBezTo>
                  <a:pt x="0" y="182202"/>
                  <a:pt x="62822" y="0"/>
                  <a:pt x="140357" y="0"/>
                </a:cubicBezTo>
                <a:lnTo>
                  <a:pt x="7617210" y="0"/>
                </a:lnTo>
                <a:cubicBezTo>
                  <a:pt x="7694745" y="0"/>
                  <a:pt x="7757567" y="182202"/>
                  <a:pt x="7757567" y="407077"/>
                </a:cubicBezTo>
                <a:lnTo>
                  <a:pt x="7757567" y="6596618"/>
                </a:lnTo>
                <a:cubicBezTo>
                  <a:pt x="7757567" y="6821493"/>
                  <a:pt x="7694745" y="7003696"/>
                  <a:pt x="7617210" y="7003696"/>
                </a:cubicBezTo>
                <a:lnTo>
                  <a:pt x="140357" y="7003696"/>
                </a:lnTo>
                <a:cubicBezTo>
                  <a:pt x="62822" y="7003696"/>
                  <a:pt x="0" y="6821493"/>
                  <a:pt x="0" y="659661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FFFFFF"/>
            </a:solidFill>
            <a:prstDash val="solid"/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02BCADC1-D934-4239-8C6B-1B66251A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0773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E9D8CDE3-192C-44D0-9169-530FF781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0773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5B28931-D328-4E51-AD43-211EF076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6185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277939-BA74-46EC-B82A-6D4D5A48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6185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96B750C0-775C-40DD-8374-865189E5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1587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8531F3EE-6D51-4AF8-A0D3-747381C5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1587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12A28B51-C7E9-4483-9A85-3804503C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6989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08925635-433A-480F-951E-1E96B844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46989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757C870C-6C53-47E2-BE4F-FA8D1319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2400" y="544873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6841FBC9-9AA8-4D01-99CC-B4812A48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2400" y="544873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449DE995-7A3C-407A-9B87-27CB4C7C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48F4E32D-2BBB-498E-BD9D-25EFDFB1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D89D38D-D81D-40CC-BA22-AC275661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4B3B1657-4682-4715-A97F-E2DD461F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0689" y="6026735"/>
            <a:ext cx="1483068" cy="626993"/>
          </a:xfrm>
          <a:custGeom xmlns:a="http://schemas.openxmlformats.org/drawingml/2006/main">
            <a:rect l="l" t="t" r="r" b="b"/>
            <a:pathLst>
              <a:path w="1977425" h="835992">
                <a:moveTo>
                  <a:pt x="0" y="0"/>
                </a:moveTo>
                <a:lnTo>
                  <a:pt x="1977425" y="0"/>
                </a:lnTo>
                <a:lnTo>
                  <a:pt x="1977425" y="835992"/>
                </a:lnTo>
                <a:lnTo>
                  <a:pt x="0" y="8359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9614" r="2816" b="30031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CEF4E753-D217-4989-A7E4-A0814969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10689" y="6026735"/>
            <a:ext cx="1483066" cy="626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정보처리기사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EFC279E6-D592-40FC-B4B8-B7BE505B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1726" y="4410027"/>
            <a:ext cx="5241438" cy="506101"/>
          </a:xfrm>
          <a:custGeom xmlns:a="http://schemas.openxmlformats.org/drawingml/2006/main">
            <a:rect l="l" t="t" r="r" b="b"/>
            <a:pathLst>
              <a:path w="6988584" h="674802">
                <a:moveTo>
                  <a:pt x="0" y="0"/>
                </a:moveTo>
                <a:lnTo>
                  <a:pt x="6988584" y="0"/>
                </a:lnTo>
                <a:lnTo>
                  <a:pt x="6988584" y="674802"/>
                </a:lnTo>
                <a:lnTo>
                  <a:pt x="0" y="674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24299" r="72501" b="13318"/>
            </a:stretch>
          </a:blipFill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20990F2E-C6E2-4F43-A0F5-1B610FA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1726" y="4410027"/>
            <a:ext cx="5241435" cy="506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인제대학교 전자IT기계자동차공학부 정보통신전공 졸업</a:t>
            </a:r>
          </a:p>
        </p:txBody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3DA9BC56-C685-40B4-A670-D454D681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51" y="2394601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33C07334-6A3E-46AF-B071-D1C343F9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51" y="2387458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004AAD"/>
                </a:solidFill>
                <a:latin typeface="Aptos Bold"/>
                <a:ea typeface="Aptos Bold"/>
                <a:cs typeface="Aptos Bold"/>
              </a:rPr>
              <a:t>Education</a:t>
            </a:r>
          </a:p>
        </p:txBody>
      </p:sp>
      <p:sp>
        <p:nvSpPr>
          <p:cNvPr id="71" name="AutoShape 71">
            <a:extLst xmlns:a="http://schemas.openxmlformats.org/drawingml/2006/main">
              <a:ext uri="{FF2B5EF4-FFF2-40B4-BE49-F238E27FC236}">
                <a16:creationId xmlns:a16="http://schemas.microsoft.com/office/drawing/2014/main" id="{365825C1-F9DE-46EF-AA8C-9F87898F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8156" y="2960604"/>
            <a:ext cx="701206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C8A276B4-31F1-423C-96E6-A1DAD97A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51" y="5236527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11C77CD4-4800-44BF-877D-8E03ED5F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51" y="5229384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004AAD"/>
                </a:solidFill>
                <a:latin typeface="Aptos Bold"/>
                <a:ea typeface="Aptos Bold"/>
                <a:cs typeface="Aptos Bold"/>
              </a:rPr>
              <a:t>Certificates</a:t>
            </a:r>
          </a:p>
        </p:txBody>
      </p:sp>
      <p:sp>
        <p:nvSpPr>
          <p:cNvPr id="75" name="AutoShape 75">
            <a:extLst xmlns:a="http://schemas.openxmlformats.org/drawingml/2006/main">
              <a:ext uri="{FF2B5EF4-FFF2-40B4-BE49-F238E27FC236}">
                <a16:creationId xmlns:a16="http://schemas.microsoft.com/office/drawing/2014/main" id="{1E747E96-2AFE-4A14-8836-893E69A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8156" y="5802531"/>
            <a:ext cx="701206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B1158FE-165A-4237-BBC3-846F7DB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8769" y="6165987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5DBF3E1B-54B6-4317-9B8B-A3678881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8769" y="6158844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2024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3F27A0FD-9F64-4822-8B86-403E3F43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6752184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7EA4E57A-31CF-4E9B-95D1-47CB5572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6745041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2025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E9977B47-A06E-4E7E-B475-0C7576D5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3930" y="6752184"/>
            <a:ext cx="2040417" cy="596644"/>
          </a:xfrm>
          <a:custGeom xmlns:a="http://schemas.openxmlformats.org/drawingml/2006/main">
            <a:rect l="l" t="t" r="r" b="b"/>
            <a:pathLst>
              <a:path w="2720557" h="795526">
                <a:moveTo>
                  <a:pt x="0" y="0"/>
                </a:moveTo>
                <a:lnTo>
                  <a:pt x="2720557" y="0"/>
                </a:lnTo>
                <a:lnTo>
                  <a:pt x="2720557" y="795526"/>
                </a:lnTo>
                <a:lnTo>
                  <a:pt x="0" y="7955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20612" r="29362" b="26472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8713AEC2-B0E9-4C63-BC75-4EE5F3CF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23930" y="6752184"/>
            <a:ext cx="2040415" cy="596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B1F27"/>
                </a:solidFill>
                <a:latin typeface="IBM Plex Sans KR Bold"/>
                <a:ea typeface="IBM Plex Sans KR Bold"/>
                <a:cs typeface="IBM Plex Sans KR Bold"/>
              </a:rPr>
              <a:t>Toeic Speaking IH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AA993CC2-B03B-4371-B66B-93EA573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3403517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42761117-EC14-4F1D-8C16-9AFDCF67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3396374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2026</a:t>
            </a:r>
          </a:p>
        </p:txBody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C2A58B51-C818-44D7-BF8B-0766B980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3279440"/>
            <a:ext cx="5241438" cy="626993"/>
          </a:xfrm>
          <a:custGeom xmlns:a="http://schemas.openxmlformats.org/drawingml/2006/main">
            <a:rect l="l" t="t" r="r" b="b"/>
            <a:pathLst>
              <a:path w="6988584" h="835992">
                <a:moveTo>
                  <a:pt x="0" y="0"/>
                </a:moveTo>
                <a:lnTo>
                  <a:pt x="6988584" y="0"/>
                </a:lnTo>
                <a:lnTo>
                  <a:pt x="6988584" y="835992"/>
                </a:lnTo>
                <a:lnTo>
                  <a:pt x="0" y="8359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9614" r="72501" b="30031"/>
            </a:stretch>
          </a:blipFill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EFBF388F-0840-40E6-A001-D0546627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3279440"/>
            <a:ext cx="5241435" cy="626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부경대학교 빅데이터 기반 AI 전문가 과정(960시간) 수료</a:t>
            </a:r>
          </a:p>
        </p:txBody>
      </p:sp>
      <p:sp>
        <p:nvSpPr>
          <p:cNvPr id="92" name="Freeform 92">
            <a:extLst xmlns:a="http://schemas.openxmlformats.org/drawingml/2006/main">
              <a:ext uri="{FF2B5EF4-FFF2-40B4-BE49-F238E27FC236}">
                <a16:creationId xmlns:a16="http://schemas.microsoft.com/office/drawing/2014/main" id="{6265CF9F-DD14-496D-9D6B-7623B8A3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3941782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54E3ED43-46E3-4249-AA74-81675BDD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3934639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2024</a:t>
            </a:r>
          </a:p>
        </p:txBody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B4AA959A-4739-441F-AE5D-C648234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2871" y="3878151"/>
            <a:ext cx="4622120" cy="506101"/>
          </a:xfrm>
          <a:custGeom xmlns:a="http://schemas.openxmlformats.org/drawingml/2006/main">
            <a:rect l="l" t="t" r="r" b="b"/>
            <a:pathLst>
              <a:path w="6162827" h="674802">
                <a:moveTo>
                  <a:pt x="0" y="0"/>
                </a:moveTo>
                <a:lnTo>
                  <a:pt x="6162827" y="0"/>
                </a:lnTo>
                <a:lnTo>
                  <a:pt x="6162827" y="674802"/>
                </a:lnTo>
                <a:lnTo>
                  <a:pt x="0" y="674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24299" r="68817" b="13318"/>
            </a:stretch>
          </a:blipFill>
        </p:spPr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1D92715C-2AC9-4544-A7E7-E93FF5FE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2871" y="3878151"/>
            <a:ext cx="4622118" cy="5061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인제대학교 일학습병행 응용SW엔지니어링 수료</a:t>
            </a:r>
          </a:p>
        </p:txBody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3499B885-A829-4B3C-999F-61C6BB52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4501599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82D995DB-8DC7-4635-B0D1-19A5F826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5765" y="4494456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2024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804E5580-8568-4A0C-B242-F9B481C8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51" y="7445351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BC784776-D22C-4318-8ABA-5EF6AF7F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551" y="7438208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004AAD"/>
                </a:solidFill>
                <a:latin typeface="Aptos Bold"/>
                <a:ea typeface="Aptos Bold"/>
                <a:cs typeface="Aptos Bold"/>
              </a:rPr>
              <a:t>Awards</a:t>
            </a:r>
          </a:p>
        </p:txBody>
      </p:sp>
      <p:sp>
        <p:nvSpPr>
          <p:cNvPr id="103" name="AutoShape 103">
            <a:extLst xmlns:a="http://schemas.openxmlformats.org/drawingml/2006/main">
              <a:ext uri="{FF2B5EF4-FFF2-40B4-BE49-F238E27FC236}">
                <a16:creationId xmlns:a16="http://schemas.microsoft.com/office/drawing/2014/main" id="{46EB4F31-6F90-453A-A62D-411311B5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5005" y="7927576"/>
            <a:ext cx="701206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9CA3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5" name="Freeform 105">
            <a:extLst xmlns:a="http://schemas.openxmlformats.org/drawingml/2006/main">
              <a:ext uri="{FF2B5EF4-FFF2-40B4-BE49-F238E27FC236}">
                <a16:creationId xmlns:a16="http://schemas.microsoft.com/office/drawing/2014/main" id="{1DE8A97E-6569-43B8-9F7C-F481BE0C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5618" y="8291033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B725BEF7-C115-4F68-A1B8-164F0FF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5618" y="8283890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2024</a:t>
            </a:r>
          </a:p>
        </p:txBody>
      </p:sp>
      <p:sp>
        <p:nvSpPr>
          <p:cNvPr id="108" name="Freeform 108">
            <a:extLst xmlns:a="http://schemas.openxmlformats.org/drawingml/2006/main">
              <a:ext uri="{FF2B5EF4-FFF2-40B4-BE49-F238E27FC236}">
                <a16:creationId xmlns:a16="http://schemas.microsoft.com/office/drawing/2014/main" id="{79F79EAC-614D-4B35-BEB5-4E0C595B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2613" y="8877230"/>
            <a:ext cx="1399437" cy="378840"/>
          </a:xfrm>
          <a:custGeom xmlns:a="http://schemas.openxmlformats.org/drawingml/2006/main">
            <a:rect l="l" t="t" r="r" b="b"/>
            <a:pathLst>
              <a:path w="1865917" h="505121">
                <a:moveTo>
                  <a:pt x="0" y="0"/>
                </a:moveTo>
                <a:lnTo>
                  <a:pt x="1865917" y="0"/>
                </a:lnTo>
                <a:lnTo>
                  <a:pt x="1865917" y="505121"/>
                </a:lnTo>
                <a:lnTo>
                  <a:pt x="0" y="5051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32462" r="-2991" b="-15799"/>
            </a:stretch>
          </a:blipFill>
        </p:spPr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6B06779B-5FAD-4CAC-B9DB-D9E13E3D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2613" y="8870087"/>
            <a:ext cx="1399435" cy="385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</a:pPr>
            <a:r>
              <a:rPr sz="20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2022</a:t>
            </a:r>
          </a:p>
        </p:txBody>
      </p:sp>
      <p:sp>
        <p:nvSpPr>
          <p:cNvPr id="111" name="Freeform 111">
            <a:extLst xmlns:a="http://schemas.openxmlformats.org/drawingml/2006/main">
              <a:ext uri="{FF2B5EF4-FFF2-40B4-BE49-F238E27FC236}">
                <a16:creationId xmlns:a16="http://schemas.microsoft.com/office/drawing/2014/main" id="{E01313D9-F766-4DC0-99FB-5A196568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5739" y="8135076"/>
            <a:ext cx="3409902" cy="626993"/>
          </a:xfrm>
          <a:custGeom xmlns:a="http://schemas.openxmlformats.org/drawingml/2006/main">
            <a:rect l="l" t="t" r="r" b="b"/>
            <a:pathLst>
              <a:path w="4546537" h="835992">
                <a:moveTo>
                  <a:pt x="0" y="0"/>
                </a:moveTo>
                <a:lnTo>
                  <a:pt x="4546537" y="0"/>
                </a:lnTo>
                <a:lnTo>
                  <a:pt x="4546537" y="835992"/>
                </a:lnTo>
                <a:lnTo>
                  <a:pt x="0" y="8359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19614" r="57731" b="30031"/>
            </a:stretch>
          </a:blipFill>
        </p:spPr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4EA5DD24-8A1A-4720-82DC-90CCB35A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05739" y="8135076"/>
            <a:ext cx="3409900" cy="626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B1F27"/>
                </a:solidFill>
                <a:latin typeface="Aptos Bold"/>
                <a:ea typeface="Aptos Bold"/>
                <a:cs typeface="Aptos Bold"/>
              </a:rPr>
              <a:t>일학습병행 우수사례 경진대회 대상</a:t>
            </a:r>
          </a:p>
        </p:txBody>
      </p:sp>
      <p:sp>
        <p:nvSpPr>
          <p:cNvPr id="114" name="Freeform 114">
            <a:extLst xmlns:a="http://schemas.openxmlformats.org/drawingml/2006/main">
              <a:ext uri="{FF2B5EF4-FFF2-40B4-BE49-F238E27FC236}">
                <a16:creationId xmlns:a16="http://schemas.microsoft.com/office/drawing/2014/main" id="{6768DADD-8841-4957-8C7B-3B5A639E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1615" y="8762073"/>
            <a:ext cx="4046872" cy="596644"/>
          </a:xfrm>
          <a:custGeom xmlns:a="http://schemas.openxmlformats.org/drawingml/2006/main">
            <a:rect l="l" t="t" r="r" b="b"/>
            <a:pathLst>
              <a:path w="5395830" h="795526">
                <a:moveTo>
                  <a:pt x="0" y="0"/>
                </a:moveTo>
                <a:lnTo>
                  <a:pt x="5395830" y="0"/>
                </a:lnTo>
                <a:lnTo>
                  <a:pt x="5395830" y="795526"/>
                </a:lnTo>
                <a:lnTo>
                  <a:pt x="0" y="7955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06686db9bd04590">
              <a:alphaModFix amt="0"/>
            </a:blip>
            <a:stretch>
              <a:fillRect l="0" t="-20612" r="64384" b="26472"/>
            </a:stretch>
          </a:blipFill>
        </p:spPr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D08CB2F8-0FB5-47BE-8CC1-1CE33600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1615" y="8762073"/>
            <a:ext cx="4046870" cy="596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B1F27"/>
                </a:solidFill>
                <a:latin typeface="IBM Plex Sans KR Bold"/>
                <a:ea typeface="IBM Plex Sans KR Bold"/>
                <a:cs typeface="IBM Plex Sans KR Bold"/>
              </a:rPr>
              <a:t>라이프 스타일 </a:t>
            </a:r>
            <a:r>
              <a:rPr sz="1800" b="1">
                <a:solidFill>
                  <a:srgbClr val="1B1F27"/>
                </a:solidFill>
                <a:latin typeface="IBM Plex Sans KR Bold"/>
                <a:ea typeface="IBM Plex Sans KR Bold"/>
                <a:cs typeface="IBM Plex Sans KR Bold"/>
              </a:rPr>
              <a:t>스마트 가전 메이터톤 장려상</a:t>
            </a:r>
          </a:p>
        </p:txBody>
      </p:sp>
    </p:spTree>
    <p:extLst>
      <p:ext uri="{BB962C8B-B14F-4D97-AF65-F5344CB8AC3E}">
        <p14:creationId xmlns:p14="http://schemas.microsoft.com/office/powerpoint/2010/main" val="343172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8F7D58B-5FAE-46E7-9786-3B297684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870880E-30C1-4C59-869E-B85BEFCC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1B19F4A-1D3B-4A7E-AA6E-BE74F0E3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F4997FB-1E2F-4AAF-9A83-67C18F5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9322066-7F27-463D-BBE4-902D7155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F096AC-5893-4EF1-AEF0-A9AE65AE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6ED1154-8B5B-4C85-9AA2-FDB43B0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834" y="301992"/>
            <a:ext cx="5010254" cy="480434"/>
          </a:xfrm>
          <a:custGeom xmlns:a="http://schemas.openxmlformats.org/drawingml/2006/main">
            <a:rect l="l" t="t" r="r" b="b"/>
            <a:pathLst>
              <a:path w="6680339" h="640580">
                <a:moveTo>
                  <a:pt x="0" y="0"/>
                </a:moveTo>
                <a:lnTo>
                  <a:pt x="6680339" y="0"/>
                </a:lnTo>
                <a:lnTo>
                  <a:pt x="6680339" y="640580"/>
                </a:lnTo>
                <a:lnTo>
                  <a:pt x="0" y="6405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153201" r="0" b="-15320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6F135A9-9BBC-4EB1-A323-6BBBEA77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834" y="301992"/>
            <a:ext cx="5010255" cy="4804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73"/>
              </a:lnSpc>
              <a:buNone/>
            </a:pPr>
            <a:r>
              <a:rPr sz="3227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기술 스택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666A4DC-17BC-4B54-BAB2-FF9140D6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164" y="2142473"/>
            <a:ext cx="7633525" cy="1526379"/>
          </a:xfrm>
          <a:custGeom xmlns:a="http://schemas.openxmlformats.org/drawingml/2006/main">
            <a:rect l="l" t="t" r="r" b="b"/>
            <a:pathLst>
              <a:path w="10178034" h="2035172">
                <a:moveTo>
                  <a:pt x="0" y="118291"/>
                </a:moveTo>
                <a:cubicBezTo>
                  <a:pt x="0" y="52945"/>
                  <a:pt x="82423" y="0"/>
                  <a:pt x="184150" y="0"/>
                </a:cubicBezTo>
                <a:lnTo>
                  <a:pt x="9993884" y="0"/>
                </a:lnTo>
                <a:cubicBezTo>
                  <a:pt x="10095611" y="0"/>
                  <a:pt x="10178034" y="52945"/>
                  <a:pt x="10178034" y="118291"/>
                </a:cubicBezTo>
                <a:lnTo>
                  <a:pt x="10178034" y="1916882"/>
                </a:lnTo>
                <a:cubicBezTo>
                  <a:pt x="10178034" y="1982227"/>
                  <a:pt x="10095611" y="2035172"/>
                  <a:pt x="9993884" y="2035172"/>
                </a:cubicBezTo>
                <a:lnTo>
                  <a:pt x="184150" y="2035172"/>
                </a:lnTo>
                <a:cubicBezTo>
                  <a:pt x="82423" y="2035172"/>
                  <a:pt x="0" y="1982227"/>
                  <a:pt x="0" y="19168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1B68B7F-80FF-47C2-8EBB-BEDBA0F9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048" y="2644259"/>
            <a:ext cx="3843483" cy="205900"/>
          </a:xfrm>
          <a:custGeom xmlns:a="http://schemas.openxmlformats.org/drawingml/2006/main">
            <a:rect l="l" t="t" r="r" b="b"/>
            <a:pathLst>
              <a:path w="5124644" h="274534">
                <a:moveTo>
                  <a:pt x="0" y="0"/>
                </a:moveTo>
                <a:lnTo>
                  <a:pt x="5124644" y="0"/>
                </a:lnTo>
                <a:lnTo>
                  <a:pt x="5124644" y="274534"/>
                </a:lnTo>
                <a:lnTo>
                  <a:pt x="0" y="27453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313720" r="0" b="-31372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0F26368-0286-4504-97D4-E9A527AD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048" y="2637116"/>
            <a:ext cx="3843480" cy="213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57"/>
              </a:lnSpc>
              <a:buNone/>
            </a:pPr>
            <a:r>
              <a:rPr sz="1381" b="1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LANGUAGES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4B4A685-194C-478B-82D5-56F429CF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048" y="3152151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E20FCF7-8D8B-43D4-9095-B47629DE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9048" y="3152151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D6947756-49F1-411A-845D-5B326517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8494" y="2983511"/>
            <a:ext cx="6039759" cy="507893"/>
          </a:xfrm>
          <a:custGeom xmlns:a="http://schemas.openxmlformats.org/drawingml/2006/main">
            <a:rect l="l" t="t" r="r" b="b"/>
            <a:pathLst>
              <a:path w="8053012" h="677191">
                <a:moveTo>
                  <a:pt x="0" y="0"/>
                </a:moveTo>
                <a:lnTo>
                  <a:pt x="8053012" y="0"/>
                </a:lnTo>
                <a:lnTo>
                  <a:pt x="8053012" y="677191"/>
                </a:lnTo>
                <a:lnTo>
                  <a:pt x="0" y="67719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8739" r="0" b="-154684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1E3DDC03-2B9A-4A44-9795-4E57B2EE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8494" y="2983511"/>
            <a:ext cx="6039755" cy="507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Python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· J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a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v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a · 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JavaS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c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r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i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p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 · C#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25D29D1D-BE65-4722-A06E-AB6BF88E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84" y="5610868"/>
            <a:ext cx="7633525" cy="2908813"/>
          </a:xfrm>
          <a:custGeom xmlns:a="http://schemas.openxmlformats.org/drawingml/2006/main">
            <a:rect l="l" t="t" r="r" b="b"/>
            <a:pathLst>
              <a:path w="10178034" h="3878419">
                <a:moveTo>
                  <a:pt x="0" y="225426"/>
                </a:moveTo>
                <a:cubicBezTo>
                  <a:pt x="0" y="100898"/>
                  <a:pt x="82423" y="0"/>
                  <a:pt x="184150" y="0"/>
                </a:cubicBezTo>
                <a:lnTo>
                  <a:pt x="9993884" y="0"/>
                </a:lnTo>
                <a:cubicBezTo>
                  <a:pt x="10095611" y="0"/>
                  <a:pt x="10178034" y="100898"/>
                  <a:pt x="10178034" y="225426"/>
                </a:cubicBezTo>
                <a:lnTo>
                  <a:pt x="10178034" y="3652993"/>
                </a:lnTo>
                <a:cubicBezTo>
                  <a:pt x="10178034" y="3777521"/>
                  <a:pt x="10095611" y="3878419"/>
                  <a:pt x="9993884" y="3878419"/>
                </a:cubicBezTo>
                <a:lnTo>
                  <a:pt x="184150" y="3878419"/>
                </a:lnTo>
                <a:cubicBezTo>
                  <a:pt x="82423" y="3878419"/>
                  <a:pt x="0" y="3777521"/>
                  <a:pt x="0" y="365299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934B278-F52D-42F3-9C5C-677FFBC1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6028611"/>
            <a:ext cx="3843483" cy="260677"/>
          </a:xfrm>
          <a:custGeom xmlns:a="http://schemas.openxmlformats.org/drawingml/2006/main">
            <a:rect l="l" t="t" r="r" b="b"/>
            <a:pathLst>
              <a:path w="5124644" h="347570">
                <a:moveTo>
                  <a:pt x="0" y="0"/>
                </a:moveTo>
                <a:lnTo>
                  <a:pt x="5124644" y="0"/>
                </a:lnTo>
                <a:lnTo>
                  <a:pt x="5124644" y="347570"/>
                </a:lnTo>
                <a:lnTo>
                  <a:pt x="0" y="34757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47797" r="0" b="-226784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7D982A-1EEC-4F5F-B593-26236DBB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6021468"/>
            <a:ext cx="3843480" cy="2678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57"/>
              </a:lnSpc>
              <a:spcBef>
                <a:spcPts val="0"/>
              </a:spcBef>
              <a:buNone/>
            </a:pPr>
            <a:r>
              <a:rPr sz="138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BACKEND 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AA2C7DA-7817-4DE8-AB05-73905BDA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6536503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226B18C-8335-4C82-B6C1-D0082A02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6536503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029EDC2-8176-40D4-9DEA-8D8AD642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6367863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672D765-C100-47CB-A953-77302CE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6367863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Spring Boot · Flask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24DF8BAE-38E6-429E-A70C-846C9B9F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7030660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C7B6B3E9-B748-4EEE-87B4-51ABD410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7030660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317FFD53-CA22-405F-85F3-96C9658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7524826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8FEE8BC2-93D2-4EE9-944A-15DDA790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7524826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75F7BB9-FDED-4605-AF62-241EDD22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84" y="3973682"/>
            <a:ext cx="7633525" cy="1503805"/>
          </a:xfrm>
          <a:custGeom xmlns:a="http://schemas.openxmlformats.org/drawingml/2006/main">
            <a:rect l="l" t="t" r="r" b="b"/>
            <a:pathLst>
              <a:path w="10178034" h="2005074">
                <a:moveTo>
                  <a:pt x="0" y="116541"/>
                </a:moveTo>
                <a:cubicBezTo>
                  <a:pt x="0" y="52162"/>
                  <a:pt x="82423" y="0"/>
                  <a:pt x="184150" y="0"/>
                </a:cubicBezTo>
                <a:lnTo>
                  <a:pt x="9993884" y="0"/>
                </a:lnTo>
                <a:cubicBezTo>
                  <a:pt x="10095611" y="0"/>
                  <a:pt x="10178034" y="52162"/>
                  <a:pt x="10178034" y="116541"/>
                </a:cubicBezTo>
                <a:lnTo>
                  <a:pt x="10178034" y="1888533"/>
                </a:lnTo>
                <a:cubicBezTo>
                  <a:pt x="10178034" y="1952912"/>
                  <a:pt x="10095611" y="2005074"/>
                  <a:pt x="9993884" y="2005074"/>
                </a:cubicBezTo>
                <a:lnTo>
                  <a:pt x="184150" y="2005074"/>
                </a:lnTo>
                <a:cubicBezTo>
                  <a:pt x="82423" y="2005074"/>
                  <a:pt x="0" y="1952912"/>
                  <a:pt x="0" y="188853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FAD1800-5414-4CE6-B1C5-C344A2DB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869" y="4475469"/>
            <a:ext cx="3843483" cy="260677"/>
          </a:xfrm>
          <a:custGeom xmlns:a="http://schemas.openxmlformats.org/drawingml/2006/main">
            <a:rect l="l" t="t" r="r" b="b"/>
            <a:pathLst>
              <a:path w="5124644" h="347570">
                <a:moveTo>
                  <a:pt x="0" y="0"/>
                </a:moveTo>
                <a:lnTo>
                  <a:pt x="5124644" y="0"/>
                </a:lnTo>
                <a:lnTo>
                  <a:pt x="5124644" y="347570"/>
                </a:lnTo>
                <a:lnTo>
                  <a:pt x="0" y="34757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47797" r="0" b="-226784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A5C5D503-71B7-40B3-86E3-4F013A87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869" y="4468326"/>
            <a:ext cx="3843480" cy="2678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57"/>
              </a:lnSpc>
              <a:spcBef>
                <a:spcPts val="0"/>
              </a:spcBef>
              <a:buNone/>
            </a:pPr>
            <a:r>
              <a:rPr sz="138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FRONTEND 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50BC4FA-F7DC-4DB0-AC6F-31F6E1B7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869" y="4983361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34DADBFE-26DC-44B5-B24A-B4D3F5A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869" y="4983361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387C2791-5598-4A47-AAFF-8B3AA5BC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0315" y="4854126"/>
            <a:ext cx="6039759" cy="783469"/>
          </a:xfrm>
          <a:custGeom xmlns:a="http://schemas.openxmlformats.org/drawingml/2006/main">
            <a:rect l="l" t="t" r="r" b="b"/>
            <a:pathLst>
              <a:path w="8053012" h="1044626">
                <a:moveTo>
                  <a:pt x="0" y="0"/>
                </a:moveTo>
                <a:lnTo>
                  <a:pt x="8053012" y="0"/>
                </a:lnTo>
                <a:lnTo>
                  <a:pt x="8053012" y="1044626"/>
                </a:lnTo>
                <a:lnTo>
                  <a:pt x="0" y="10446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135317" r="0" b="-65102"/>
            </a:stretch>
          </a:blip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94800C9F-3AB4-4609-8B95-784DADF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0315" y="4854126"/>
            <a:ext cx="6039755" cy="783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React · R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eact R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outer · Axios · 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Recharts</a:t>
            </a:r>
          </a:p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256B0117-8F46-4222-BA65-5A889E7C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6425650"/>
            <a:ext cx="7633525" cy="3060930"/>
          </a:xfrm>
          <a:custGeom xmlns:a="http://schemas.openxmlformats.org/drawingml/2006/main">
            <a:rect l="l" t="t" r="r" b="b"/>
            <a:pathLst>
              <a:path w="10178034" h="4081241">
                <a:moveTo>
                  <a:pt x="0" y="237215"/>
                </a:moveTo>
                <a:cubicBezTo>
                  <a:pt x="0" y="106174"/>
                  <a:pt x="82423" y="0"/>
                  <a:pt x="184150" y="0"/>
                </a:cubicBezTo>
                <a:lnTo>
                  <a:pt x="9993884" y="0"/>
                </a:lnTo>
                <a:cubicBezTo>
                  <a:pt x="10095611" y="0"/>
                  <a:pt x="10178034" y="106174"/>
                  <a:pt x="10178034" y="237215"/>
                </a:cubicBezTo>
                <a:lnTo>
                  <a:pt x="10178034" y="3844026"/>
                </a:lnTo>
                <a:cubicBezTo>
                  <a:pt x="10178034" y="3975067"/>
                  <a:pt x="10095611" y="4081241"/>
                  <a:pt x="9993884" y="4081241"/>
                </a:cubicBezTo>
                <a:lnTo>
                  <a:pt x="184150" y="4081241"/>
                </a:lnTo>
                <a:cubicBezTo>
                  <a:pt x="82423" y="4081241"/>
                  <a:pt x="0" y="3975067"/>
                  <a:pt x="0" y="38440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1D4F3C6-09EB-42C3-A9EC-5105531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6927437"/>
            <a:ext cx="3843483" cy="205900"/>
          </a:xfrm>
          <a:custGeom xmlns:a="http://schemas.openxmlformats.org/drawingml/2006/main">
            <a:rect l="l" t="t" r="r" b="b"/>
            <a:pathLst>
              <a:path w="5124644" h="274534">
                <a:moveTo>
                  <a:pt x="0" y="0"/>
                </a:moveTo>
                <a:lnTo>
                  <a:pt x="5124644" y="0"/>
                </a:lnTo>
                <a:lnTo>
                  <a:pt x="5124644" y="274534"/>
                </a:lnTo>
                <a:lnTo>
                  <a:pt x="0" y="27453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313720" r="0" b="-313720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AF29C125-CE62-4D26-92FA-12B06EF3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6920294"/>
            <a:ext cx="3843480" cy="213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57"/>
              </a:lnSpc>
              <a:buNone/>
            </a:pPr>
            <a:r>
              <a:rPr sz="1381" b="1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TOOLS · ENV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2F6CBFBB-7045-4D82-B319-56F654B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7435329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EA043CC8-7760-489E-A36A-25785675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7435329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FD3FF601-A534-478B-91D6-89BE0CB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224" y="8381628"/>
            <a:ext cx="6039759" cy="276226"/>
          </a:xfrm>
          <a:custGeom xmlns:a="http://schemas.openxmlformats.org/drawingml/2006/main">
            <a:rect l="l" t="t" r="r" b="b"/>
            <a:pathLst>
              <a:path w="8053012" h="368302">
                <a:moveTo>
                  <a:pt x="0" y="0"/>
                </a:moveTo>
                <a:lnTo>
                  <a:pt x="8053012" y="0"/>
                </a:lnTo>
                <a:lnTo>
                  <a:pt x="8053012" y="368302"/>
                </a:lnTo>
                <a:lnTo>
                  <a:pt x="0" y="3683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383805" r="0" b="-368284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FA8C6D6-F97E-4652-8C22-D7778C31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224" y="8381628"/>
            <a:ext cx="603975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VS Code · Eclipse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4E75DA87-26CE-4C27-8083-74BA6E07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7929486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5D1E919F-2CDC-4FC0-B70A-A90B5D23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7929486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65ECCC5B-3CD2-4C7A-8357-AE417E45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224" y="7270880"/>
            <a:ext cx="6039759" cy="507893"/>
          </a:xfrm>
          <a:custGeom xmlns:a="http://schemas.openxmlformats.org/drawingml/2006/main">
            <a:rect l="l" t="t" r="r" b="b"/>
            <a:pathLst>
              <a:path w="8053012" h="677191">
                <a:moveTo>
                  <a:pt x="0" y="0"/>
                </a:moveTo>
                <a:lnTo>
                  <a:pt x="8053012" y="0"/>
                </a:lnTo>
                <a:lnTo>
                  <a:pt x="8053012" y="677191"/>
                </a:lnTo>
                <a:lnTo>
                  <a:pt x="0" y="67719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8739" r="0" b="-154684"/>
            </a:stretch>
          </a:blipFill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DF150A79-4B1B-4244-9C1F-380EC9A6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224" y="7270880"/>
            <a:ext cx="6039755" cy="507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Dock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er 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· U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b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untu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E02636C9-3B42-4298-ACE9-E3C786C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8423652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D61E86FF-82FC-41E3-9EEC-134E8038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8423652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2F047E3D-3EFB-4DE3-818B-8F918E9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224" y="7790564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CD339F1D-10FD-4FBF-9C3E-425CFB93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8224" y="7790564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Git · GitHub · Notion</a:t>
            </a:r>
          </a:p>
        </p:txBody>
      </p:sp>
      <p:sp>
        <p:nvSpPr>
          <p:cNvPr id="78" name="Freeform 78">
            <a:extLst xmlns:a="http://schemas.openxmlformats.org/drawingml/2006/main">
              <a:ext uri="{FF2B5EF4-FFF2-40B4-BE49-F238E27FC236}">
                <a16:creationId xmlns:a16="http://schemas.microsoft.com/office/drawing/2014/main" id="{CB1E5763-72C5-492B-96CF-38DA5EC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8917819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8EFCC28A-C9FC-4154-86A5-8578C377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7884" y="8917819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42717FC6-40E7-40FD-8AF5-0953630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9649" y="8781678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989D0382-6FAA-464D-8050-B91C444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9649" y="8781678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J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u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py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te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r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Not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eb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ook</a:t>
            </a:r>
          </a:p>
        </p:txBody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70E7355B-B0F6-4E74-B733-44232C96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B8F9AB0C-43CB-4600-80FD-B4156812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02</a:t>
            </a:r>
          </a:p>
        </p:txBody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37C133A5-99F8-47B9-80B2-EA874494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7382998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EC345FA0-4B4B-4E7E-80BA-55929F4F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7382998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WebSocket · STOMP · SockJS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D9871799-963D-4F42-B172-BD4E81D8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6875755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8E535906-28DB-48B4-ABE0-B21AE0D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6875755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JPA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· REST API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6B8D3F48-6450-45FD-8194-E262FAC5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212" y="2130833"/>
            <a:ext cx="7633525" cy="2376201"/>
          </a:xfrm>
          <a:custGeom xmlns:a="http://schemas.openxmlformats.org/drawingml/2006/main">
            <a:rect l="l" t="t" r="r" b="b"/>
            <a:pathLst>
              <a:path w="10178034" h="3168269">
                <a:moveTo>
                  <a:pt x="0" y="184150"/>
                </a:moveTo>
                <a:cubicBezTo>
                  <a:pt x="0" y="82423"/>
                  <a:pt x="82423" y="0"/>
                  <a:pt x="184150" y="0"/>
                </a:cubicBezTo>
                <a:lnTo>
                  <a:pt x="9993884" y="0"/>
                </a:lnTo>
                <a:cubicBezTo>
                  <a:pt x="10095611" y="0"/>
                  <a:pt x="10178034" y="82423"/>
                  <a:pt x="10178034" y="184150"/>
                </a:cubicBezTo>
                <a:lnTo>
                  <a:pt x="10178034" y="2984119"/>
                </a:lnTo>
                <a:cubicBezTo>
                  <a:pt x="10178034" y="3085846"/>
                  <a:pt x="10095611" y="3168269"/>
                  <a:pt x="9993884" y="3168269"/>
                </a:cubicBezTo>
                <a:lnTo>
                  <a:pt x="184150" y="3168269"/>
                </a:lnTo>
                <a:cubicBezTo>
                  <a:pt x="82423" y="3168269"/>
                  <a:pt x="0" y="3085846"/>
                  <a:pt x="0" y="29841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CCB01663-EA8B-4AFF-ABB0-8442E48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2548576"/>
            <a:ext cx="3843483" cy="260677"/>
          </a:xfrm>
          <a:custGeom xmlns:a="http://schemas.openxmlformats.org/drawingml/2006/main">
            <a:rect l="l" t="t" r="r" b="b"/>
            <a:pathLst>
              <a:path w="5124644" h="347570">
                <a:moveTo>
                  <a:pt x="0" y="0"/>
                </a:moveTo>
                <a:lnTo>
                  <a:pt x="5124644" y="0"/>
                </a:lnTo>
                <a:lnTo>
                  <a:pt x="5124644" y="347570"/>
                </a:lnTo>
                <a:lnTo>
                  <a:pt x="0" y="34757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47797" r="0" b="-226784"/>
            </a:stretch>
          </a:blipFill>
        </p:spPr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6BB011CC-E2D3-4F93-A1BD-0E1A8068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2541433"/>
            <a:ext cx="3843480" cy="2678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57"/>
              </a:lnSpc>
              <a:spcBef>
                <a:spcPts val="0"/>
              </a:spcBef>
              <a:buNone/>
            </a:pPr>
            <a:r>
              <a:rPr sz="138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A</a:t>
            </a:r>
            <a:r>
              <a:rPr sz="138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I · DATA</a:t>
            </a:r>
          </a:p>
        </p:txBody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B30482F7-1E6B-4E54-96B1-E2581E22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3056468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08AE2DAA-6F5E-47E6-B7B4-6638BB13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3056468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3799F684-6F6F-47FD-A534-195D6925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2887828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A6E6F918-2638-4818-81EA-C9605A6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2887828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NumPy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· Pandas</a:t>
            </a:r>
          </a:p>
        </p:txBody>
      </p:sp>
      <p:sp>
        <p:nvSpPr>
          <p:cNvPr id="104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34A58FA1-717E-40AA-BBFA-6AF651C1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3550625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492FC916-49E3-47FB-9847-4963442D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3550625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107" name="Freeform 107">
            <a:extLst xmlns:a="http://schemas.openxmlformats.org/drawingml/2006/main">
              <a:ext uri="{FF2B5EF4-FFF2-40B4-BE49-F238E27FC236}">
                <a16:creationId xmlns:a16="http://schemas.microsoft.com/office/drawing/2014/main" id="{5D1B5314-02B7-4290-A129-2F97CFB4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4044791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DD28A450-4EF5-4374-BE27-B8C32836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4044791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110" name="Freeform 110">
            <a:extLst xmlns:a="http://schemas.openxmlformats.org/drawingml/2006/main">
              <a:ext uri="{FF2B5EF4-FFF2-40B4-BE49-F238E27FC236}">
                <a16:creationId xmlns:a16="http://schemas.microsoft.com/office/drawing/2014/main" id="{6C7C0DCD-0E83-4EA4-BF06-A91E023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3902963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48E4FC42-DF6F-449E-9BD8-74B0AD8B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3902963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Op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e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nCV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· 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Y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O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LOv8</a:t>
            </a:r>
          </a:p>
        </p:txBody>
      </p:sp>
      <p:sp>
        <p:nvSpPr>
          <p:cNvPr id="113" name="Freeform 113">
            <a:extLst xmlns:a="http://schemas.openxmlformats.org/drawingml/2006/main">
              <a:ext uri="{FF2B5EF4-FFF2-40B4-BE49-F238E27FC236}">
                <a16:creationId xmlns:a16="http://schemas.microsoft.com/office/drawing/2014/main" id="{D73B99ED-A240-4F52-9F4A-74CC3CF2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3395720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7865B922-6A50-4A93-85D3-3C915868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3395720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scikit-learn</a:t>
            </a:r>
          </a:p>
        </p:txBody>
      </p:sp>
      <p:sp>
        <p:nvSpPr>
          <p:cNvPr id="116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1E1571B9-DEE6-4216-96F3-11A002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6212" y="4773782"/>
            <a:ext cx="7633525" cy="1385140"/>
          </a:xfrm>
          <a:custGeom xmlns:a="http://schemas.openxmlformats.org/drawingml/2006/main">
            <a:rect l="l" t="t" r="r" b="b"/>
            <a:pathLst>
              <a:path w="10178034" h="1846853">
                <a:moveTo>
                  <a:pt x="0" y="107345"/>
                </a:moveTo>
                <a:cubicBezTo>
                  <a:pt x="0" y="48046"/>
                  <a:pt x="82423" y="0"/>
                  <a:pt x="184150" y="0"/>
                </a:cubicBezTo>
                <a:lnTo>
                  <a:pt x="9993884" y="0"/>
                </a:lnTo>
                <a:cubicBezTo>
                  <a:pt x="10095611" y="0"/>
                  <a:pt x="10178034" y="48046"/>
                  <a:pt x="10178034" y="107345"/>
                </a:cubicBezTo>
                <a:lnTo>
                  <a:pt x="10178034" y="1739508"/>
                </a:lnTo>
                <a:cubicBezTo>
                  <a:pt x="10178034" y="1798807"/>
                  <a:pt x="10095611" y="1846853"/>
                  <a:pt x="9993884" y="1846853"/>
                </a:cubicBezTo>
                <a:lnTo>
                  <a:pt x="184150" y="1846853"/>
                </a:lnTo>
                <a:cubicBezTo>
                  <a:pt x="82423" y="1846853"/>
                  <a:pt x="0" y="1798807"/>
                  <a:pt x="0" y="173950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118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FC6BF558-E6F8-4244-818C-38F99CF4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5191525"/>
            <a:ext cx="3843483" cy="260677"/>
          </a:xfrm>
          <a:custGeom xmlns:a="http://schemas.openxmlformats.org/drawingml/2006/main">
            <a:rect l="l" t="t" r="r" b="b"/>
            <a:pathLst>
              <a:path w="5124644" h="347570">
                <a:moveTo>
                  <a:pt x="0" y="0"/>
                </a:moveTo>
                <a:lnTo>
                  <a:pt x="5124644" y="0"/>
                </a:lnTo>
                <a:lnTo>
                  <a:pt x="5124644" y="347570"/>
                </a:lnTo>
                <a:lnTo>
                  <a:pt x="0" y="34757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47797" r="0" b="-226784"/>
            </a:stretch>
          </a:blipFill>
        </p:spPr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595E7BB4-CF1B-4AEF-94E9-F59FAF01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5184382"/>
            <a:ext cx="3843480" cy="2678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57"/>
              </a:lnSpc>
              <a:spcBef>
                <a:spcPts val="0"/>
              </a:spcBef>
              <a:buNone/>
            </a:pPr>
            <a:r>
              <a:rPr sz="138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DATA</a:t>
            </a:r>
            <a:r>
              <a:rPr sz="138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BASE</a:t>
            </a:r>
          </a:p>
        </p:txBody>
      </p:sp>
      <p:sp>
        <p:nvSpPr>
          <p:cNvPr id="121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5D07C9D3-BB5C-4030-AA4E-C7EDAB39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5699417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46C72BFB-FA11-4E99-AECB-AE8B819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8597" y="5699417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124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743C4AD6-ECBA-488C-B747-49A212E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5530777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CEB3E6AC-029D-4EC2-BDB1-28154C3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4308" y="5530777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MySQL</a:t>
            </a:r>
            <a:r>
              <a:rPr sz="186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· Oracle</a:t>
            </a:r>
          </a:p>
        </p:txBody>
      </p:sp>
      <p:sp>
        <p:nvSpPr>
          <p:cNvPr id="127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0AB12EA4-53A8-4151-B316-00C310A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8011231"/>
            <a:ext cx="219627" cy="192173"/>
          </a:xfrm>
          <a:custGeom xmlns:a="http://schemas.openxmlformats.org/drawingml/2006/main">
            <a:rect l="l" t="t" r="r" b="b"/>
            <a:pathLst>
              <a:path w="292837" h="256232">
                <a:moveTo>
                  <a:pt x="0" y="0"/>
                </a:moveTo>
                <a:lnTo>
                  <a:pt x="292837" y="0"/>
                </a:lnTo>
                <a:lnTo>
                  <a:pt x="292837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-62266" t="0" r="-62266" b="-1"/>
            </a:stretch>
          </a:blipFill>
        </p:spPr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FEBE7A44-1461-43CD-9140-217BE018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369" y="8011231"/>
            <a:ext cx="219627" cy="1921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</a:pPr>
            <a:r>
              <a:rPr sz="16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•</a:t>
            </a:r>
          </a:p>
        </p:txBody>
      </p:sp>
      <p:sp>
        <p:nvSpPr>
          <p:cNvPr id="130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C367BF6D-7CA0-49E8-A851-198E26F0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7869403"/>
            <a:ext cx="6039759" cy="507244"/>
          </a:xfrm>
          <a:custGeom xmlns:a="http://schemas.openxmlformats.org/drawingml/2006/main">
            <a:rect l="l" t="t" r="r" b="b"/>
            <a:pathLst>
              <a:path w="8053012" h="676326">
                <a:moveTo>
                  <a:pt x="0" y="0"/>
                </a:moveTo>
                <a:lnTo>
                  <a:pt x="8053012" y="0"/>
                </a:lnTo>
                <a:lnTo>
                  <a:pt x="8053012" y="676326"/>
                </a:lnTo>
                <a:lnTo>
                  <a:pt x="0" y="6763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b01474b51d54a33">
              <a:alphaModFix amt="0"/>
            </a:blip>
            <a:stretch>
              <a:fillRect l="0" t="-209006" r="0" b="-155010"/>
            </a:stretch>
          </a:blipFill>
        </p:spPr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B5A149AB-6CBE-4A3A-A029-39A1AC5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2079" y="7869403"/>
            <a:ext cx="6039755" cy="507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233"/>
              </a:lnSpc>
              <a:spcBef>
                <a:spcPts val="0"/>
              </a:spcBef>
              <a:buNone/>
            </a:pPr>
            <a:r>
              <a:rPr sz="186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WebRTC</a:t>
            </a:r>
          </a:p>
        </p:txBody>
      </p:sp>
      <p:sp>
        <p:nvSpPr>
          <p:cNvPr id="133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F6B43728-5882-491A-8511-352E090F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91" y="894907"/>
            <a:ext cx="16489617" cy="8497186"/>
          </a:xfrm>
          <a:custGeom xmlns:a="http://schemas.openxmlformats.org/drawingml/2006/main">
            <a:rect l="l" t="t" r="r" b="b"/>
            <a:pathLst>
              <a:path w="4342945" h="2237942">
                <a:moveTo>
                  <a:pt x="23945" y="0"/>
                </a:moveTo>
                <a:lnTo>
                  <a:pt x="4319000" y="0"/>
                </a:lnTo>
                <a:cubicBezTo>
                  <a:pt x="4325350" y="0"/>
                  <a:pt x="4331441" y="2523"/>
                  <a:pt x="4335931" y="7013"/>
                </a:cubicBezTo>
                <a:cubicBezTo>
                  <a:pt x="4340422" y="11504"/>
                  <a:pt x="4342945" y="17594"/>
                  <a:pt x="4342945" y="23945"/>
                </a:cubicBezTo>
                <a:lnTo>
                  <a:pt x="4342945" y="2213997"/>
                </a:lnTo>
                <a:cubicBezTo>
                  <a:pt x="4342945" y="2220348"/>
                  <a:pt x="4340422" y="2226438"/>
                  <a:pt x="4335931" y="2230929"/>
                </a:cubicBezTo>
                <a:cubicBezTo>
                  <a:pt x="4331441" y="2235419"/>
                  <a:pt x="4325350" y="2237942"/>
                  <a:pt x="4319000" y="2237942"/>
                </a:cubicBezTo>
                <a:lnTo>
                  <a:pt x="23945" y="2237942"/>
                </a:lnTo>
                <a:cubicBezTo>
                  <a:pt x="17594" y="2237942"/>
                  <a:pt x="11504" y="2235419"/>
                  <a:pt x="7013" y="2230929"/>
                </a:cubicBezTo>
                <a:cubicBezTo>
                  <a:pt x="2523" y="2226438"/>
                  <a:pt x="0" y="2220348"/>
                  <a:pt x="0" y="2213997"/>
                </a:cubicBezTo>
                <a:lnTo>
                  <a:pt x="0" y="23945"/>
                </a:lnTo>
                <a:cubicBezTo>
                  <a:pt x="0" y="17594"/>
                  <a:pt x="2523" y="11504"/>
                  <a:pt x="7013" y="7013"/>
                </a:cubicBezTo>
                <a:cubicBezTo>
                  <a:pt x="11504" y="2523"/>
                  <a:pt x="17594" y="0"/>
                  <a:pt x="23945" y="0"/>
                </a:cubicBezTo>
                <a:close/>
              </a:path>
            </a:pathLst>
          </a:custGeom>
          <a:solidFill xmlns:a="http://schemas.openxmlformats.org/drawingml/2006/main">
            <a:srgbClr val="1B1F27">
              <a:alpha val="0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134" name="TextBox 134">
            <a:extLst xmlns:a="http://schemas.openxmlformats.org/drawingml/2006/main">
              <a:ext uri="{FF2B5EF4-FFF2-40B4-BE49-F238E27FC236}">
                <a16:creationId xmlns:a16="http://schemas.microsoft.com/office/drawing/2014/main" id="{DA27550D-7430-4FFD-A224-AA04CE6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91" y="894907"/>
            <a:ext cx="16489617" cy="84971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981"/>
              </a:lnSpc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493814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187E906-243D-41A4-9A73-4738B54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C81D624-4293-4EBF-BEAE-A552337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8267990-AA3A-42F9-BE16-9FE6A4EE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5472BEC-6D9D-4045-AC22-0CB54773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DE86446-146F-4E95-A1FE-9358D9B5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0BF9BC-6C71-4EC7-956E-D6FF91C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C0DEBC-B090-49C3-8D45-54C8079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C61054-1E42-4763-89F7-34ABBDA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78216FE-D395-472A-AB8B-244348A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2E1C304-AD73-4CCE-992A-A7CAA0D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D09EE8E-93B4-437E-ABB5-7027BBE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1152E22-48D1-4413-B969-57E0E19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2563EB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F5C7102-0B37-4CDD-923C-9641931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88E98A-EA16-476A-8299-5C629842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4546788-6B96-4EFC-BF10-B631295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FE31A50-E765-427E-9144-4C24C98C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61F3A38-FCAA-41C8-A2A3-03A3C80D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004" y="306181"/>
            <a:ext cx="1048512" cy="540638"/>
          </a:xfrm>
          <a:custGeom xmlns:a="http://schemas.openxmlformats.org/drawingml/2006/main">
            <a:rect l="l" t="t" r="r" b="b"/>
            <a:pathLst>
              <a:path w="1398016" h="720852">
                <a:moveTo>
                  <a:pt x="0" y="113792"/>
                </a:moveTo>
                <a:cubicBezTo>
                  <a:pt x="0" y="50927"/>
                  <a:pt x="50927" y="0"/>
                  <a:pt x="113792" y="0"/>
                </a:cubicBezTo>
                <a:lnTo>
                  <a:pt x="1284224" y="0"/>
                </a:lnTo>
                <a:cubicBezTo>
                  <a:pt x="1347089" y="0"/>
                  <a:pt x="1398016" y="50927"/>
                  <a:pt x="1398016" y="113792"/>
                </a:cubicBezTo>
                <a:lnTo>
                  <a:pt x="1398016" y="607060"/>
                </a:lnTo>
                <a:cubicBezTo>
                  <a:pt x="1398016" y="669925"/>
                  <a:pt x="1347089" y="720852"/>
                  <a:pt x="1284224" y="720852"/>
                </a:cubicBezTo>
                <a:lnTo>
                  <a:pt x="113792" y="720852"/>
                </a:lnTo>
                <a:cubicBezTo>
                  <a:pt x="50927" y="720852"/>
                  <a:pt x="0" y="669925"/>
                  <a:pt x="0" y="607060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3F159B-C33D-4D79-8F3C-C3B7B6B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80BBBF4-EEF4-46ED-BF4A-BF25E3F4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8E9AF21-E5A5-423C-9077-F32BA25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9FD232A-A37C-4CFC-A58C-3063E865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4" cy="274534"/>
          </a:xfrm>
          <a:custGeom xmlns:a="http://schemas.openxmlformats.org/drawingml/2006/main">
            <a:rect l="l" t="t" r="r" b="b"/>
            <a:pathLst>
              <a:path w="4392552" h="366046">
                <a:moveTo>
                  <a:pt x="0" y="0"/>
                </a:moveTo>
                <a:lnTo>
                  <a:pt x="4392552" y="0"/>
                </a:lnTo>
                <a:lnTo>
                  <a:pt x="4392552" y="366046"/>
                </a:lnTo>
                <a:lnTo>
                  <a:pt x="0" y="36604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83819" r="0" b="-183821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8AFDCA1-3FC0-46D3-88A4-9435B204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2" cy="274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1"/>
              </a:lnSpc>
              <a:buNone/>
            </a:pPr>
            <a:r>
              <a:rPr sz="1501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01 / SERVICE · ARCHITECTURE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33B77C8-6F19-4BDF-AAD7-DF04C49E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4" cy="480434"/>
          </a:xfrm>
          <a:custGeom xmlns:a="http://schemas.openxmlformats.org/drawingml/2006/main">
            <a:rect l="l" t="t" r="r" b="b"/>
            <a:pathLst>
              <a:path w="6680339" h="640580">
                <a:moveTo>
                  <a:pt x="0" y="0"/>
                </a:moveTo>
                <a:lnTo>
                  <a:pt x="6680339" y="0"/>
                </a:lnTo>
                <a:lnTo>
                  <a:pt x="6680339" y="640580"/>
                </a:lnTo>
                <a:lnTo>
                  <a:pt x="0" y="6405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53201" r="0" b="-15320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B3BB472-0D2A-487F-A26D-A24E5B3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5" cy="4804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73"/>
              </a:lnSpc>
              <a:buNone/>
            </a:pPr>
            <a:r>
              <a:rPr sz="3227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Triple Skin · 01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53FC2B9-D4B3-48C4-972A-9768D5A2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F53286F-38BE-47CB-8DF7-6593C15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138f6e13f7426f"/>
            <a:stretch>
              <a:fillRect l="0" t="0" r="0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A16A188-056F-4942-84AA-D96CAE4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9927B62-10B9-413E-878D-A213513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044263D-1ECD-4D2C-9968-CA521FC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51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01  SERVICE DASHBOARD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F70EDEF-2B8E-42E2-9FC7-CBB3FB2A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1" cy="371477"/>
          </a:xfrm>
          <a:custGeom xmlns:a="http://schemas.openxmlformats.org/drawingml/2006/main">
            <a:rect l="l" t="t" r="r" b="b"/>
            <a:pathLst>
              <a:path w="7869989" h="495303">
                <a:moveTo>
                  <a:pt x="0" y="0"/>
                </a:moveTo>
                <a:lnTo>
                  <a:pt x="7869989" y="0"/>
                </a:lnTo>
                <a:lnTo>
                  <a:pt x="7869989" y="495303"/>
                </a:lnTo>
                <a:lnTo>
                  <a:pt x="0" y="4953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261565" r="0" b="-257638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766F2C4-F876-47B1-9C19-797344A5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운영·분석 대시보드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D262EDA-049B-4199-AAA9-9DF6B22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2EC9A579-1011-441C-BF92-BEBCE0F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80378"/>
            <a:ext cx="6726097" cy="51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피부 진단 결과·분석 이력·사용자 피드백을 한 흐름에서 확인하는 서비스 화면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D21D3CE-39B6-4269-A38F-A947E41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93" y="8514759"/>
            <a:ext cx="1350549" cy="458342"/>
          </a:xfrm>
          <a:custGeom xmlns:a="http://schemas.openxmlformats.org/drawingml/2006/main">
            <a:rect l="l" t="t" r="r" b="b"/>
            <a:pathLst>
              <a:path w="1800733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686179" y="0"/>
                </a:lnTo>
                <a:cubicBezTo>
                  <a:pt x="1749425" y="0"/>
                  <a:pt x="1800733" y="51308"/>
                  <a:pt x="1800733" y="114554"/>
                </a:cubicBezTo>
                <a:lnTo>
                  <a:pt x="1800733" y="496570"/>
                </a:lnTo>
                <a:cubicBezTo>
                  <a:pt x="1800733" y="559816"/>
                  <a:pt x="1749425" y="611124"/>
                  <a:pt x="1686179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81279F2-A6D7-4E93-83C3-8616CC14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4" cy="380992"/>
          </a:xfrm>
          <a:custGeom xmlns:a="http://schemas.openxmlformats.org/drawingml/2006/main">
            <a:rect l="l" t="t" r="r" b="b"/>
            <a:pathLst>
              <a:path w="1482486" h="507990">
                <a:moveTo>
                  <a:pt x="0" y="0"/>
                </a:moveTo>
                <a:lnTo>
                  <a:pt x="1482486" y="0"/>
                </a:lnTo>
                <a:lnTo>
                  <a:pt x="148248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33444" r="0" b="19716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A33F7479-3AE6-4728-A660-78E7CFC1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3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React 19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999BCEB-B3B3-420F-AF02-8C1D534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808" y="8514759"/>
            <a:ext cx="2242756" cy="458342"/>
          </a:xfrm>
          <a:custGeom xmlns:a="http://schemas.openxmlformats.org/drawingml/2006/main">
            <a:rect l="l" t="t" r="r" b="b"/>
            <a:pathLst>
              <a:path w="2990342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2875788" y="0"/>
                </a:lnTo>
                <a:cubicBezTo>
                  <a:pt x="2939034" y="0"/>
                  <a:pt x="2990342" y="51308"/>
                  <a:pt x="2990342" y="114554"/>
                </a:cubicBezTo>
                <a:lnTo>
                  <a:pt x="2990342" y="496570"/>
                </a:lnTo>
                <a:cubicBezTo>
                  <a:pt x="2990342" y="559816"/>
                  <a:pt x="2939034" y="611124"/>
                  <a:pt x="2875788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CAA798A9-6F0E-42EE-90BB-CADE362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101" cy="190496"/>
          </a:xfrm>
          <a:custGeom xmlns:a="http://schemas.openxmlformats.org/drawingml/2006/main">
            <a:rect l="l" t="t" r="r" b="b"/>
            <a:pathLst>
              <a:path w="2672136" h="253995">
                <a:moveTo>
                  <a:pt x="0" y="0"/>
                </a:moveTo>
                <a:lnTo>
                  <a:pt x="2672136" y="0"/>
                </a:lnTo>
                <a:lnTo>
                  <a:pt x="2672136" y="253995"/>
                </a:lnTo>
                <a:lnTo>
                  <a:pt x="0" y="2539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58152" r="0" b="-151828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0D6B87B2-97F6-4B07-BCC0-7ECE0AC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098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Recharts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F7A71550-9504-48F4-852D-F9B64E1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5259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48146C4C-751C-42DE-B82D-3943FC8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0" cy="571488"/>
          </a:xfrm>
          <a:custGeom xmlns:a="http://schemas.openxmlformats.org/drawingml/2006/main">
            <a:rect l="l" t="t" r="r" b="b"/>
            <a:pathLst>
              <a:path w="1006626" h="761985">
                <a:moveTo>
                  <a:pt x="0" y="0"/>
                </a:moveTo>
                <a:lnTo>
                  <a:pt x="1006626" y="0"/>
                </a:lnTo>
                <a:lnTo>
                  <a:pt x="1006626" y="761985"/>
                </a:lnTo>
                <a:lnTo>
                  <a:pt x="0" y="7619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0128" r="0" b="58646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6FEA83A9-F20B-46A7-BC51-CDB0F03D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1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Spring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2C56571-E25A-466B-9E56-C72DBAF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0019971C-5974-4B99-A55A-0D39C1D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902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DA230C74-BC1A-4298-BA20-0886A2D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8F8FCFA2-2C30-48D9-8818-AB43714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BA4B644-5463-4536-B698-7336461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0480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02  SYSTEM ARCHITECTURE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280FA340-B9FA-4D5E-A955-35A6894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759" y="6510661"/>
            <a:ext cx="1089755" cy="458342"/>
          </a:xfrm>
          <a:custGeom xmlns:a="http://schemas.openxmlformats.org/drawingml/2006/main">
            <a:rect l="l" t="t" r="r" b="b"/>
            <a:pathLst>
              <a:path w="1453007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338453" y="0"/>
                </a:lnTo>
                <a:cubicBezTo>
                  <a:pt x="1401699" y="0"/>
                  <a:pt x="1453007" y="51308"/>
                  <a:pt x="1453007" y="114554"/>
                </a:cubicBezTo>
                <a:lnTo>
                  <a:pt x="1453007" y="496570"/>
                </a:lnTo>
                <a:cubicBezTo>
                  <a:pt x="1453007" y="559816"/>
                  <a:pt x="1401699" y="611124"/>
                  <a:pt x="1338453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FF7ED"/>
          </a:solidFill>
          <a:ln xmlns:a="http://schemas.openxmlformats.org/drawingml/2006/main" w="19065">
            <a:solidFill>
              <a:srgbClr val="FFF7ED"/>
            </a:solidFill>
            <a:prstDash val="solid"/>
          </a:ln>
        </p:spPr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3F00BB77-A167-4D6A-A875-36773746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7" cy="380992"/>
          </a:xfrm>
          <a:custGeom xmlns:a="http://schemas.openxmlformats.org/drawingml/2006/main">
            <a:rect l="l" t="t" r="r" b="b"/>
            <a:pathLst>
              <a:path w="1134743" h="507990">
                <a:moveTo>
                  <a:pt x="0" y="0"/>
                </a:moveTo>
                <a:lnTo>
                  <a:pt x="1134743" y="0"/>
                </a:lnTo>
                <a:lnTo>
                  <a:pt x="1134743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20106" r="0" b="33055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2BBCFFFF-1F0D-47BC-A250-C7E8A2FF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9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F59E0B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6841C9B2-6B0D-4D19-AAC4-2C25ED6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041813"/>
            <a:ext cx="5902491" cy="1485902"/>
          </a:xfrm>
          <a:custGeom xmlns:a="http://schemas.openxmlformats.org/drawingml/2006/main">
            <a:rect l="l" t="t" r="r" b="b"/>
            <a:pathLst>
              <a:path w="7869989" h="1981203">
                <a:moveTo>
                  <a:pt x="0" y="0"/>
                </a:moveTo>
                <a:lnTo>
                  <a:pt x="7869989" y="0"/>
                </a:lnTo>
                <a:lnTo>
                  <a:pt x="7869989" y="1981203"/>
                </a:lnTo>
                <a:lnTo>
                  <a:pt x="0" y="1981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65391" r="0" b="10589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42979CD5-CC2F-42FD-A520-57BAA51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524250"/>
            <a:ext cx="6726079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React 19</a:t>
            </a:r>
          </a:p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→ Spring Boot</a:t>
            </a:r>
          </a:p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→ Flask AI</a:t>
            </a:r>
          </a:p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→ MySQL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45A8140B-935A-4CCF-BE2A-BE8735E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E8B7E35C-B5D8-4962-A7E3-0B38C5C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5095875"/>
            <a:ext cx="6726079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Vision: YOLOv8 · OpenCV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Chatbot: LangChain · Chroma · Ollama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Data: 분석 이력 저장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74C730F3-85A7-4968-B01A-4DCA24C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17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0D9F1B90-7585-4248-B78C-49A76A0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90D0B081-62A2-416C-9CB9-01AE062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76A44AAE-2C7D-45DE-90D5-5B825D6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3838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FDCE4A3-4D46-4ECD-B6A4-3BAF370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0" cy="380992"/>
          </a:xfrm>
          <a:custGeom xmlns:a="http://schemas.openxmlformats.org/drawingml/2006/main">
            <a:rect l="l" t="t" r="r" b="b"/>
            <a:pathLst>
              <a:path w="1006626" h="507990">
                <a:moveTo>
                  <a:pt x="0" y="0"/>
                </a:moveTo>
                <a:lnTo>
                  <a:pt x="1006626" y="0"/>
                </a:lnTo>
                <a:lnTo>
                  <a:pt x="100662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5192" r="0" b="37969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2D7E879D-0F32-43AF-84EA-BDA08594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1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Flask AI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9C0292E4-2CD3-4160-9F2B-E08B67B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315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8DA759FD-81B3-4517-8E90-D986B87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6BFA78CD-A901-4FD6-A21A-B263274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0DB5FA80-7667-44B5-AA38-B776664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e7fcca6d5483e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502E6EE1-9178-4F2A-8048-F2427EC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P01.1</a:t>
            </a:r>
          </a:p>
        </p:txBody>
      </p:sp>
    </p:spTree>
    <p:extLst>
      <p:ext uri="{BB962C8B-B14F-4D97-AF65-F5344CB8AC3E}">
        <p14:creationId xmlns:p14="http://schemas.microsoft.com/office/powerpoint/2010/main" val="384110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187E906-243D-41A4-9A73-4738B54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C81D624-4293-4EBF-BEAE-A552337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8267990-AA3A-42F9-BE16-9FE6A4EE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5472BEC-6D9D-4045-AC22-0CB54773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DE86446-146F-4E95-A1FE-9358D9B5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0BF9BC-6C71-4EC7-956E-D6FF91C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C0DEBC-B090-49C3-8D45-54C8079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C61054-1E42-4763-89F7-34ABBDA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78216FE-D395-472A-AB8B-244348A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2E1C304-AD73-4CCE-992A-A7CAA0D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D09EE8E-93B4-437E-ABB5-7027BBE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1152E22-48D1-4413-B969-57E0E19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2563EB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F5C7102-0B37-4CDD-923C-9641931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88E98A-EA16-476A-8299-5C629842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4546788-6B96-4EFC-BF10-B631295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FE31A50-E765-427E-9144-4C24C98C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61F3A38-FCAA-41C8-A2A3-03A3C80D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004" y="306181"/>
            <a:ext cx="1048512" cy="540638"/>
          </a:xfrm>
          <a:custGeom xmlns:a="http://schemas.openxmlformats.org/drawingml/2006/main">
            <a:rect l="l" t="t" r="r" b="b"/>
            <a:pathLst>
              <a:path w="1398016" h="720852">
                <a:moveTo>
                  <a:pt x="0" y="113792"/>
                </a:moveTo>
                <a:cubicBezTo>
                  <a:pt x="0" y="50927"/>
                  <a:pt x="50927" y="0"/>
                  <a:pt x="113792" y="0"/>
                </a:cubicBezTo>
                <a:lnTo>
                  <a:pt x="1284224" y="0"/>
                </a:lnTo>
                <a:cubicBezTo>
                  <a:pt x="1347089" y="0"/>
                  <a:pt x="1398016" y="50927"/>
                  <a:pt x="1398016" y="113792"/>
                </a:cubicBezTo>
                <a:lnTo>
                  <a:pt x="1398016" y="607060"/>
                </a:lnTo>
                <a:cubicBezTo>
                  <a:pt x="1398016" y="669925"/>
                  <a:pt x="1347089" y="720852"/>
                  <a:pt x="1284224" y="720852"/>
                </a:cubicBezTo>
                <a:lnTo>
                  <a:pt x="113792" y="720852"/>
                </a:lnTo>
                <a:cubicBezTo>
                  <a:pt x="50927" y="720852"/>
                  <a:pt x="0" y="669925"/>
                  <a:pt x="0" y="607060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3F159B-C33D-4D79-8F3C-C3B7B6B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80BBBF4-EEF4-46ED-BF4A-BF25E3F4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8E9AF21-E5A5-423C-9077-F32BA25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9FD232A-A37C-4CFC-A58C-3063E865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4" cy="274534"/>
          </a:xfrm>
          <a:custGeom xmlns:a="http://schemas.openxmlformats.org/drawingml/2006/main">
            <a:rect l="l" t="t" r="r" b="b"/>
            <a:pathLst>
              <a:path w="4392552" h="366046">
                <a:moveTo>
                  <a:pt x="0" y="0"/>
                </a:moveTo>
                <a:lnTo>
                  <a:pt x="4392552" y="0"/>
                </a:lnTo>
                <a:lnTo>
                  <a:pt x="4392552" y="366046"/>
                </a:lnTo>
                <a:lnTo>
                  <a:pt x="0" y="36604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83819" r="0" b="-183821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8AFDCA1-3FC0-46D3-88A4-9435B204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2" cy="274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1"/>
              </a:lnSpc>
              <a:buNone/>
            </a:pPr>
            <a:r>
              <a:rPr sz="1501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01 / ERD · MY ROLE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33B77C8-6F19-4BDF-AAD7-DF04C49E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4" cy="480434"/>
          </a:xfrm>
          <a:custGeom xmlns:a="http://schemas.openxmlformats.org/drawingml/2006/main">
            <a:rect l="l" t="t" r="r" b="b"/>
            <a:pathLst>
              <a:path w="6680339" h="640580">
                <a:moveTo>
                  <a:pt x="0" y="0"/>
                </a:moveTo>
                <a:lnTo>
                  <a:pt x="6680339" y="0"/>
                </a:lnTo>
                <a:lnTo>
                  <a:pt x="6680339" y="640580"/>
                </a:lnTo>
                <a:lnTo>
                  <a:pt x="0" y="6405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53201" r="0" b="-15320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B3BB472-0D2A-487F-A26D-A24E5B3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5" cy="4804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73"/>
              </a:lnSpc>
              <a:buNone/>
            </a:pPr>
            <a:r>
              <a:rPr sz="3227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Triple Skin · 02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53FC2B9-D4B3-48C4-972A-9768D5A2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F53286F-38BE-47CB-8DF7-6593C15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522875087b4a34"/>
            <a:stretch>
              <a:fillRect l="-80" t="0" r="-81" b="1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A16A188-056F-4942-84AA-D96CAE4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9927B62-10B9-413E-878D-A213513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044263D-1ECD-4D2C-9968-CA521FC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51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03  ERD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F70EDEF-2B8E-42E2-9FC7-CBB3FB2A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1" cy="371477"/>
          </a:xfrm>
          <a:custGeom xmlns:a="http://schemas.openxmlformats.org/drawingml/2006/main">
            <a:rect l="l" t="t" r="r" b="b"/>
            <a:pathLst>
              <a:path w="7869989" h="495303">
                <a:moveTo>
                  <a:pt x="0" y="0"/>
                </a:moveTo>
                <a:lnTo>
                  <a:pt x="7869989" y="0"/>
                </a:lnTo>
                <a:lnTo>
                  <a:pt x="7869989" y="495303"/>
                </a:lnTo>
                <a:lnTo>
                  <a:pt x="0" y="4953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261565" r="0" b="-257638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766F2C4-F876-47B1-9C19-797344A5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ERD 교체 영역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D262EDA-049B-4199-AAA9-9DF6B22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2EC9A579-1011-441C-BF92-BEBCE0F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80378"/>
            <a:ext cx="6726097" cy="51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실제 테이블명과 PK/FK가 확정되면 이 영역을 ERD 이미지로 교체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D21D3CE-39B6-4269-A38F-A947E41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93" y="8514759"/>
            <a:ext cx="1350549" cy="458342"/>
          </a:xfrm>
          <a:custGeom xmlns:a="http://schemas.openxmlformats.org/drawingml/2006/main">
            <a:rect l="l" t="t" r="r" b="b"/>
            <a:pathLst>
              <a:path w="1800733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686179" y="0"/>
                </a:lnTo>
                <a:cubicBezTo>
                  <a:pt x="1749425" y="0"/>
                  <a:pt x="1800733" y="51308"/>
                  <a:pt x="1800733" y="114554"/>
                </a:cubicBezTo>
                <a:lnTo>
                  <a:pt x="1800733" y="496570"/>
                </a:lnTo>
                <a:cubicBezTo>
                  <a:pt x="1800733" y="559816"/>
                  <a:pt x="1749425" y="611124"/>
                  <a:pt x="1686179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81279F2-A6D7-4E93-83C3-8616CC14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4" cy="380992"/>
          </a:xfrm>
          <a:custGeom xmlns:a="http://schemas.openxmlformats.org/drawingml/2006/main">
            <a:rect l="l" t="t" r="r" b="b"/>
            <a:pathLst>
              <a:path w="1482486" h="507990">
                <a:moveTo>
                  <a:pt x="0" y="0"/>
                </a:moveTo>
                <a:lnTo>
                  <a:pt x="1482486" y="0"/>
                </a:lnTo>
                <a:lnTo>
                  <a:pt x="148248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33444" r="0" b="19716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A33F7479-3AE6-4728-A660-78E7CFC1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3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PK / FK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999BCEB-B3B3-420F-AF02-8C1D534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808" y="8514759"/>
            <a:ext cx="2242756" cy="458342"/>
          </a:xfrm>
          <a:custGeom xmlns:a="http://schemas.openxmlformats.org/drawingml/2006/main">
            <a:rect l="l" t="t" r="r" b="b"/>
            <a:pathLst>
              <a:path w="2990342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2875788" y="0"/>
                </a:lnTo>
                <a:cubicBezTo>
                  <a:pt x="2939034" y="0"/>
                  <a:pt x="2990342" y="51308"/>
                  <a:pt x="2990342" y="114554"/>
                </a:cubicBezTo>
                <a:lnTo>
                  <a:pt x="2990342" y="496570"/>
                </a:lnTo>
                <a:cubicBezTo>
                  <a:pt x="2990342" y="559816"/>
                  <a:pt x="2939034" y="611124"/>
                  <a:pt x="2875788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CAA798A9-6F0E-42EE-90BB-CADE362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101" cy="190496"/>
          </a:xfrm>
          <a:custGeom xmlns:a="http://schemas.openxmlformats.org/drawingml/2006/main">
            <a:rect l="l" t="t" r="r" b="b"/>
            <a:pathLst>
              <a:path w="2672136" h="253995">
                <a:moveTo>
                  <a:pt x="0" y="0"/>
                </a:moveTo>
                <a:lnTo>
                  <a:pt x="2672136" y="0"/>
                </a:lnTo>
                <a:lnTo>
                  <a:pt x="2672136" y="253995"/>
                </a:lnTo>
                <a:lnTo>
                  <a:pt x="0" y="2539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58152" r="0" b="-151828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0D6B87B2-97F6-4B07-BCC0-7ECE0AC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098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RELATION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F7A71550-9504-48F4-852D-F9B64E1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5259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48146C4C-751C-42DE-B82D-3943FC8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0" cy="571488"/>
          </a:xfrm>
          <a:custGeom xmlns:a="http://schemas.openxmlformats.org/drawingml/2006/main">
            <a:rect l="l" t="t" r="r" b="b"/>
            <a:pathLst>
              <a:path w="1006626" h="761985">
                <a:moveTo>
                  <a:pt x="0" y="0"/>
                </a:moveTo>
                <a:lnTo>
                  <a:pt x="1006626" y="0"/>
                </a:lnTo>
                <a:lnTo>
                  <a:pt x="1006626" y="761985"/>
                </a:lnTo>
                <a:lnTo>
                  <a:pt x="0" y="7619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0128" r="0" b="58646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6FEA83A9-F20B-46A7-BC51-CDB0F03D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1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교체 예정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2C56571-E25A-466B-9E56-C72DBAF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0019971C-5974-4B99-A55A-0D39C1D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902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DA230C74-BC1A-4298-BA20-0886A2D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8F8FCFA2-2C30-48D9-8818-AB43714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BA4B644-5463-4536-B698-7336461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048000"/>
            <a:ext cx="3568922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04  MY ROLE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280FA340-B9FA-4D5E-A955-35A6894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759" y="6510661"/>
            <a:ext cx="1089755" cy="458342"/>
          </a:xfrm>
          <a:custGeom xmlns:a="http://schemas.openxmlformats.org/drawingml/2006/main">
            <a:rect l="l" t="t" r="r" b="b"/>
            <a:pathLst>
              <a:path w="1453007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338453" y="0"/>
                </a:lnTo>
                <a:cubicBezTo>
                  <a:pt x="1401699" y="0"/>
                  <a:pt x="1453007" y="51308"/>
                  <a:pt x="1453007" y="114554"/>
                </a:cubicBezTo>
                <a:lnTo>
                  <a:pt x="1453007" y="496570"/>
                </a:lnTo>
                <a:cubicBezTo>
                  <a:pt x="1453007" y="559816"/>
                  <a:pt x="1401699" y="611124"/>
                  <a:pt x="1338453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3F00BB77-A167-4D6A-A875-36773746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7" cy="380992"/>
          </a:xfrm>
          <a:custGeom xmlns:a="http://schemas.openxmlformats.org/drawingml/2006/main">
            <a:rect l="l" t="t" r="r" b="b"/>
            <a:pathLst>
              <a:path w="1134743" h="507990">
                <a:moveTo>
                  <a:pt x="0" y="0"/>
                </a:moveTo>
                <a:lnTo>
                  <a:pt x="1134743" y="0"/>
                </a:lnTo>
                <a:lnTo>
                  <a:pt x="1134743" y="507990"/>
                </a:lnTo>
                <a:lnTo>
                  <a:pt x="0" y="5079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2BBCFFFF-1F0D-47BC-A250-C7E8A2FF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9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F59E0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6841C9B2-6B0D-4D19-AAC4-2C25ED6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041813"/>
            <a:ext cx="5902491" cy="1485902"/>
          </a:xfrm>
          <a:custGeom xmlns:a="http://schemas.openxmlformats.org/drawingml/2006/main">
            <a:rect l="l" t="t" r="r" b="b"/>
            <a:pathLst>
              <a:path w="7869989" h="1981203">
                <a:moveTo>
                  <a:pt x="0" y="0"/>
                </a:moveTo>
                <a:lnTo>
                  <a:pt x="7869989" y="0"/>
                </a:lnTo>
                <a:lnTo>
                  <a:pt x="7869989" y="1981203"/>
                </a:lnTo>
                <a:lnTo>
                  <a:pt x="0" y="1981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65391" r="0" b="10589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42979CD5-CC2F-42FD-A520-57BAA51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524250"/>
            <a:ext cx="6726079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담당 역할 초안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45A8140B-935A-4CCF-BE2A-BE8735E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E8B7E35C-B5D8-4962-A7E3-0B38C5C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4286250"/>
            <a:ext cx="6726079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01 | 피부 진단 결과 화면과 이력 흐름 연결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02 | Spring Boot–Flask 추론 API 연동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03 | YOLOv8 결과·이미지·수치 데이터 처리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04 | MySQL 분석 이력과 사용자 기능 연계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74C730F3-85A7-4968-B01A-4DCA24C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17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0D9F1B90-7585-4248-B78C-49A76A0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90D0B081-62A2-416C-9CB9-01AE062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76A44AAE-2C7D-45DE-90D5-5B825D6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3838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FDCE4A3-4D46-4ECD-B6A4-3BAF370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0" cy="380992"/>
          </a:xfrm>
          <a:custGeom xmlns:a="http://schemas.openxmlformats.org/drawingml/2006/main">
            <a:rect l="l" t="t" r="r" b="b"/>
            <a:pathLst>
              <a:path w="1006626" h="507990">
                <a:moveTo>
                  <a:pt x="0" y="0"/>
                </a:moveTo>
                <a:lnTo>
                  <a:pt x="1006626" y="0"/>
                </a:lnTo>
                <a:lnTo>
                  <a:pt x="100662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5192" r="0" b="37969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2D7E879D-0F32-43AF-84EA-BDA08594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1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9C0292E4-2CD3-4160-9F2B-E08B67B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315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8DA759FD-81B3-4517-8E90-D986B87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6BFA78CD-A901-4FD6-A21A-B263274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AI · DB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0DB5FA80-7667-44B5-AA38-B776664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d554a36fd44247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502E6EE1-9178-4F2A-8048-F2427EC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P01.2</a:t>
            </a:r>
          </a:p>
        </p:txBody>
      </p:sp>
    </p:spTree>
    <p:extLst>
      <p:ext uri="{BB962C8B-B14F-4D97-AF65-F5344CB8AC3E}">
        <p14:creationId xmlns:p14="http://schemas.microsoft.com/office/powerpoint/2010/main" val="384110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187E906-243D-41A4-9A73-4738B54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C81D624-4293-4EBF-BEAE-A552337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8267990-AA3A-42F9-BE16-9FE6A4EE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5472BEC-6D9D-4045-AC22-0CB54773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DE86446-146F-4E95-A1FE-9358D9B5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0BF9BC-6C71-4EC7-956E-D6FF91C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C0DEBC-B090-49C3-8D45-54C8079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C61054-1E42-4763-89F7-34ABBDA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78216FE-D395-472A-AB8B-244348A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2E1C304-AD73-4CCE-992A-A7CAA0D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D09EE8E-93B4-437E-ABB5-7027BBE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1152E22-48D1-4413-B969-57E0E19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2563EB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F5C7102-0B37-4CDD-923C-9641931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88E98A-EA16-476A-8299-5C629842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4546788-6B96-4EFC-BF10-B631295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FE31A50-E765-427E-9144-4C24C98C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61F3A38-FCAA-41C8-A2A3-03A3C80D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004" y="306181"/>
            <a:ext cx="1048512" cy="540638"/>
          </a:xfrm>
          <a:custGeom xmlns:a="http://schemas.openxmlformats.org/drawingml/2006/main">
            <a:rect l="l" t="t" r="r" b="b"/>
            <a:pathLst>
              <a:path w="1398016" h="720852">
                <a:moveTo>
                  <a:pt x="0" y="113792"/>
                </a:moveTo>
                <a:cubicBezTo>
                  <a:pt x="0" y="50927"/>
                  <a:pt x="50927" y="0"/>
                  <a:pt x="113792" y="0"/>
                </a:cubicBezTo>
                <a:lnTo>
                  <a:pt x="1284224" y="0"/>
                </a:lnTo>
                <a:cubicBezTo>
                  <a:pt x="1347089" y="0"/>
                  <a:pt x="1398016" y="50927"/>
                  <a:pt x="1398016" y="113792"/>
                </a:cubicBezTo>
                <a:lnTo>
                  <a:pt x="1398016" y="607060"/>
                </a:lnTo>
                <a:cubicBezTo>
                  <a:pt x="1398016" y="669925"/>
                  <a:pt x="1347089" y="720852"/>
                  <a:pt x="1284224" y="720852"/>
                </a:cubicBezTo>
                <a:lnTo>
                  <a:pt x="113792" y="720852"/>
                </a:lnTo>
                <a:cubicBezTo>
                  <a:pt x="50927" y="720852"/>
                  <a:pt x="0" y="669925"/>
                  <a:pt x="0" y="607060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3F159B-C33D-4D79-8F3C-C3B7B6B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80BBBF4-EEF4-46ED-BF4A-BF25E3F4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8E9AF21-E5A5-423C-9077-F32BA25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9FD232A-A37C-4CFC-A58C-3063E865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4" cy="274534"/>
          </a:xfrm>
          <a:custGeom xmlns:a="http://schemas.openxmlformats.org/drawingml/2006/main">
            <a:rect l="l" t="t" r="r" b="b"/>
            <a:pathLst>
              <a:path w="4392552" h="366046">
                <a:moveTo>
                  <a:pt x="0" y="0"/>
                </a:moveTo>
                <a:lnTo>
                  <a:pt x="4392552" y="0"/>
                </a:lnTo>
                <a:lnTo>
                  <a:pt x="4392552" y="366046"/>
                </a:lnTo>
                <a:lnTo>
                  <a:pt x="0" y="36604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83819" r="0" b="-183821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8AFDCA1-3FC0-46D3-88A4-9435B204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2" cy="274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1"/>
              </a:lnSpc>
              <a:buNone/>
            </a:pPr>
            <a:r>
              <a:rPr sz="1501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02 / SERVICE · ARCHITECTURE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33B77C8-6F19-4BDF-AAD7-DF04C49E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4" cy="480434"/>
          </a:xfrm>
          <a:custGeom xmlns:a="http://schemas.openxmlformats.org/drawingml/2006/main">
            <a:rect l="l" t="t" r="r" b="b"/>
            <a:pathLst>
              <a:path w="6680339" h="640580">
                <a:moveTo>
                  <a:pt x="0" y="0"/>
                </a:moveTo>
                <a:lnTo>
                  <a:pt x="6680339" y="0"/>
                </a:lnTo>
                <a:lnTo>
                  <a:pt x="6680339" y="640580"/>
                </a:lnTo>
                <a:lnTo>
                  <a:pt x="0" y="6405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53201" r="0" b="-15320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B3BB472-0D2A-487F-A26D-A24E5B3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5" cy="4804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73"/>
              </a:lnSpc>
              <a:buNone/>
            </a:pPr>
            <a:r>
              <a:rPr sz="3227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Today Eating · 01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53FC2B9-D4B3-48C4-972A-9768D5A2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F53286F-38BE-47CB-8DF7-6593C15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f6705fb84a14884"/>
            <a:stretch>
              <a:fillRect l="-27038" t="0" r="-27038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A16A188-056F-4942-84AA-D96CAE4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9927B62-10B9-413E-878D-A213513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044263D-1ECD-4D2C-9968-CA521FC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51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01  SERVICE DASHBOARD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F70EDEF-2B8E-42E2-9FC7-CBB3FB2A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1" cy="371477"/>
          </a:xfrm>
          <a:custGeom xmlns:a="http://schemas.openxmlformats.org/drawingml/2006/main">
            <a:rect l="l" t="t" r="r" b="b"/>
            <a:pathLst>
              <a:path w="7869989" h="495303">
                <a:moveTo>
                  <a:pt x="0" y="0"/>
                </a:moveTo>
                <a:lnTo>
                  <a:pt x="7869989" y="0"/>
                </a:lnTo>
                <a:lnTo>
                  <a:pt x="7869989" y="495303"/>
                </a:lnTo>
                <a:lnTo>
                  <a:pt x="0" y="4953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261565" r="0" b="-257638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766F2C4-F876-47B1-9C19-797344A5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실시간 메뉴 선택 화면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D262EDA-049B-4199-AAA9-9DF6B22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2EC9A579-1011-441C-BF92-BEBCE0F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80378"/>
            <a:ext cx="6726097" cy="51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맛집 탐색부터 개인·그룹 메뉴 선택과 투표 상태까지 확인하는 핵심 화면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D21D3CE-39B6-4269-A38F-A947E41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93" y="8514759"/>
            <a:ext cx="1350549" cy="458342"/>
          </a:xfrm>
          <a:custGeom xmlns:a="http://schemas.openxmlformats.org/drawingml/2006/main">
            <a:rect l="l" t="t" r="r" b="b"/>
            <a:pathLst>
              <a:path w="1800733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686179" y="0"/>
                </a:lnTo>
                <a:cubicBezTo>
                  <a:pt x="1749425" y="0"/>
                  <a:pt x="1800733" y="51308"/>
                  <a:pt x="1800733" y="114554"/>
                </a:cubicBezTo>
                <a:lnTo>
                  <a:pt x="1800733" y="496570"/>
                </a:lnTo>
                <a:cubicBezTo>
                  <a:pt x="1800733" y="559816"/>
                  <a:pt x="1749425" y="611124"/>
                  <a:pt x="1686179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81279F2-A6D7-4E93-83C3-8616CC14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4" cy="380992"/>
          </a:xfrm>
          <a:custGeom xmlns:a="http://schemas.openxmlformats.org/drawingml/2006/main">
            <a:rect l="l" t="t" r="r" b="b"/>
            <a:pathLst>
              <a:path w="1482486" h="507990">
                <a:moveTo>
                  <a:pt x="0" y="0"/>
                </a:moveTo>
                <a:lnTo>
                  <a:pt x="1482486" y="0"/>
                </a:lnTo>
                <a:lnTo>
                  <a:pt x="148248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33444" r="0" b="19716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A33F7479-3AE6-4728-A660-78E7CFC1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3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999BCEB-B3B3-420F-AF02-8C1D534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808" y="8514759"/>
            <a:ext cx="2242756" cy="458342"/>
          </a:xfrm>
          <a:custGeom xmlns:a="http://schemas.openxmlformats.org/drawingml/2006/main">
            <a:rect l="l" t="t" r="r" b="b"/>
            <a:pathLst>
              <a:path w="2990342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2875788" y="0"/>
                </a:lnTo>
                <a:cubicBezTo>
                  <a:pt x="2939034" y="0"/>
                  <a:pt x="2990342" y="51308"/>
                  <a:pt x="2990342" y="114554"/>
                </a:cubicBezTo>
                <a:lnTo>
                  <a:pt x="2990342" y="496570"/>
                </a:lnTo>
                <a:cubicBezTo>
                  <a:pt x="2990342" y="559816"/>
                  <a:pt x="2939034" y="611124"/>
                  <a:pt x="2875788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CAA798A9-6F0E-42EE-90BB-CADE362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101" cy="190496"/>
          </a:xfrm>
          <a:custGeom xmlns:a="http://schemas.openxmlformats.org/drawingml/2006/main">
            <a:rect l="l" t="t" r="r" b="b"/>
            <a:pathLst>
              <a:path w="2672136" h="253995">
                <a:moveTo>
                  <a:pt x="0" y="0"/>
                </a:moveTo>
                <a:lnTo>
                  <a:pt x="2672136" y="0"/>
                </a:lnTo>
                <a:lnTo>
                  <a:pt x="2672136" y="253995"/>
                </a:lnTo>
                <a:lnTo>
                  <a:pt x="0" y="2539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58152" r="0" b="-151828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0D6B87B2-97F6-4B07-BCC0-7ECE0AC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098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Axios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F7A71550-9504-48F4-852D-F9B64E1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5259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48146C4C-751C-42DE-B82D-3943FC8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0" cy="571488"/>
          </a:xfrm>
          <a:custGeom xmlns:a="http://schemas.openxmlformats.org/drawingml/2006/main">
            <a:rect l="l" t="t" r="r" b="b"/>
            <a:pathLst>
              <a:path w="1006626" h="761985">
                <a:moveTo>
                  <a:pt x="0" y="0"/>
                </a:moveTo>
                <a:lnTo>
                  <a:pt x="1006626" y="0"/>
                </a:lnTo>
                <a:lnTo>
                  <a:pt x="1006626" y="761985"/>
                </a:lnTo>
                <a:lnTo>
                  <a:pt x="0" y="7619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0128" r="0" b="58646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6FEA83A9-F20B-46A7-BC51-CDB0F03D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1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UX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2C56571-E25A-466B-9E56-C72DBAF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0019971C-5974-4B99-A55A-0D39C1D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902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DA230C74-BC1A-4298-BA20-0886A2D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8F8FCFA2-2C30-48D9-8818-AB43714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BA4B644-5463-4536-B698-7336461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0480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02  SYSTEM ARCHITECTURE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280FA340-B9FA-4D5E-A955-35A6894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759" y="6510661"/>
            <a:ext cx="1089755" cy="458342"/>
          </a:xfrm>
          <a:custGeom xmlns:a="http://schemas.openxmlformats.org/drawingml/2006/main">
            <a:rect l="l" t="t" r="r" b="b"/>
            <a:pathLst>
              <a:path w="1453007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338453" y="0"/>
                </a:lnTo>
                <a:cubicBezTo>
                  <a:pt x="1401699" y="0"/>
                  <a:pt x="1453007" y="51308"/>
                  <a:pt x="1453007" y="114554"/>
                </a:cubicBezTo>
                <a:lnTo>
                  <a:pt x="1453007" y="496570"/>
                </a:lnTo>
                <a:cubicBezTo>
                  <a:pt x="1453007" y="559816"/>
                  <a:pt x="1401699" y="611124"/>
                  <a:pt x="1338453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FF7ED"/>
          </a:solidFill>
          <a:ln xmlns:a="http://schemas.openxmlformats.org/drawingml/2006/main" w="19065">
            <a:solidFill>
              <a:srgbClr val="FFF7ED"/>
            </a:solidFill>
            <a:prstDash val="solid"/>
          </a:ln>
        </p:spPr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3F00BB77-A167-4D6A-A875-36773746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7" cy="380992"/>
          </a:xfrm>
          <a:custGeom xmlns:a="http://schemas.openxmlformats.org/drawingml/2006/main">
            <a:rect l="l" t="t" r="r" b="b"/>
            <a:pathLst>
              <a:path w="1134743" h="507990">
                <a:moveTo>
                  <a:pt x="0" y="0"/>
                </a:moveTo>
                <a:lnTo>
                  <a:pt x="1134743" y="0"/>
                </a:lnTo>
                <a:lnTo>
                  <a:pt x="1134743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20106" r="0" b="33055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2BBCFFFF-1F0D-47BC-A250-C7E8A2FF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9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F59E0B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6841C9B2-6B0D-4D19-AAC4-2C25ED6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041813"/>
            <a:ext cx="5902491" cy="1485902"/>
          </a:xfrm>
          <a:custGeom xmlns:a="http://schemas.openxmlformats.org/drawingml/2006/main">
            <a:rect l="l" t="t" r="r" b="b"/>
            <a:pathLst>
              <a:path w="7869989" h="1981203">
                <a:moveTo>
                  <a:pt x="0" y="0"/>
                </a:moveTo>
                <a:lnTo>
                  <a:pt x="7869989" y="0"/>
                </a:lnTo>
                <a:lnTo>
                  <a:pt x="7869989" y="1981203"/>
                </a:lnTo>
                <a:lnTo>
                  <a:pt x="0" y="1981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65391" r="0" b="10589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42979CD5-CC2F-42FD-A520-57BAA51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524250"/>
            <a:ext cx="6726079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React + Axios</a:t>
            </a:r>
          </a:p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→ Spring Boot</a:t>
            </a:r>
          </a:p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→ STOMP · SockJS</a:t>
            </a:r>
          </a:p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→ Room State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45A8140B-935A-4CCF-BE2A-BE8735E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E8B7E35C-B5D8-4962-A7E3-0B38C5C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5095875"/>
            <a:ext cx="6726079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REST: 맛집·메뉴 데이터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Realtime: 채팅·준비·투표 이벤트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Sync: 참여자 상태 동기화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74C730F3-85A7-4968-B01A-4DCA24C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17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0D9F1B90-7585-4248-B78C-49A76A0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90D0B081-62A2-416C-9CB9-01AE062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76A44AAE-2C7D-45DE-90D5-5B825D6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3838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FDCE4A3-4D46-4ECD-B6A4-3BAF370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0" cy="380992"/>
          </a:xfrm>
          <a:custGeom xmlns:a="http://schemas.openxmlformats.org/drawingml/2006/main">
            <a:rect l="l" t="t" r="r" b="b"/>
            <a:pathLst>
              <a:path w="1006626" h="507990">
                <a:moveTo>
                  <a:pt x="0" y="0"/>
                </a:moveTo>
                <a:lnTo>
                  <a:pt x="1006626" y="0"/>
                </a:lnTo>
                <a:lnTo>
                  <a:pt x="100662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5192" r="0" b="37969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2D7E879D-0F32-43AF-84EA-BDA08594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1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STOMP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9C0292E4-2CD3-4160-9F2B-E08B67B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315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8DA759FD-81B3-4517-8E90-D986B87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6BFA78CD-A901-4FD6-A21A-B263274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SockJS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0DB5FA80-7667-44B5-AA38-B776664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a69d278608a459e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502E6EE1-9178-4F2A-8048-F2427EC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P02.1</a:t>
            </a:r>
          </a:p>
        </p:txBody>
      </p:sp>
    </p:spTree>
    <p:extLst>
      <p:ext uri="{BB962C8B-B14F-4D97-AF65-F5344CB8AC3E}">
        <p14:creationId xmlns:p14="http://schemas.microsoft.com/office/powerpoint/2010/main" val="384110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187E906-243D-41A4-9A73-4738B54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C81D624-4293-4EBF-BEAE-A552337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8267990-AA3A-42F9-BE16-9FE6A4EE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5472BEC-6D9D-4045-AC22-0CB54773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DE86446-146F-4E95-A1FE-9358D9B5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0BF9BC-6C71-4EC7-956E-D6FF91C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C0DEBC-B090-49C3-8D45-54C80798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C61054-1E42-4763-89F7-34ABBDAB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78216FE-D395-472A-AB8B-244348A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2E1C304-AD73-4CCE-992A-A7CAA0DA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D09EE8E-93B4-437E-ABB5-7027BBE9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1152E22-48D1-4413-B969-57E0E197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2563EB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F5C7102-0B37-4CDD-923C-9641931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988E98A-EA16-476A-8299-5C629842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4546788-6B96-4EFC-BF10-B631295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FE31A50-E765-427E-9144-4C24C98C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61F3A38-FCAA-41C8-A2A3-03A3C80D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004" y="306181"/>
            <a:ext cx="1048512" cy="540638"/>
          </a:xfrm>
          <a:custGeom xmlns:a="http://schemas.openxmlformats.org/drawingml/2006/main">
            <a:rect l="l" t="t" r="r" b="b"/>
            <a:pathLst>
              <a:path w="1398016" h="720852">
                <a:moveTo>
                  <a:pt x="0" y="113792"/>
                </a:moveTo>
                <a:cubicBezTo>
                  <a:pt x="0" y="50927"/>
                  <a:pt x="50927" y="0"/>
                  <a:pt x="113792" y="0"/>
                </a:cubicBezTo>
                <a:lnTo>
                  <a:pt x="1284224" y="0"/>
                </a:lnTo>
                <a:cubicBezTo>
                  <a:pt x="1347089" y="0"/>
                  <a:pt x="1398016" y="50927"/>
                  <a:pt x="1398016" y="113792"/>
                </a:cubicBezTo>
                <a:lnTo>
                  <a:pt x="1398016" y="607060"/>
                </a:lnTo>
                <a:cubicBezTo>
                  <a:pt x="1398016" y="669925"/>
                  <a:pt x="1347089" y="720852"/>
                  <a:pt x="1284224" y="720852"/>
                </a:cubicBezTo>
                <a:lnTo>
                  <a:pt x="113792" y="720852"/>
                </a:lnTo>
                <a:cubicBezTo>
                  <a:pt x="50927" y="720852"/>
                  <a:pt x="0" y="669925"/>
                  <a:pt x="0" y="607060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193F159B-C33D-4D79-8F3C-C3B7B6B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A80BBBF4-EEF4-46ED-BF4A-BF25E3F4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8E9AF21-E5A5-423C-9077-F32BA25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9FD232A-A37C-4CFC-A58C-3063E865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4" cy="274534"/>
          </a:xfrm>
          <a:custGeom xmlns:a="http://schemas.openxmlformats.org/drawingml/2006/main">
            <a:rect l="l" t="t" r="r" b="b"/>
            <a:pathLst>
              <a:path w="4392552" h="366046">
                <a:moveTo>
                  <a:pt x="0" y="0"/>
                </a:moveTo>
                <a:lnTo>
                  <a:pt x="4392552" y="0"/>
                </a:lnTo>
                <a:lnTo>
                  <a:pt x="4392552" y="366046"/>
                </a:lnTo>
                <a:lnTo>
                  <a:pt x="0" y="36604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83819" r="0" b="-183821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D8AFDCA1-3FC0-46D3-88A4-9435B204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2" cy="274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1"/>
              </a:lnSpc>
              <a:buNone/>
            </a:pPr>
            <a:r>
              <a:rPr sz="1501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02 / ERD · MY ROLE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33B77C8-6F19-4BDF-AAD7-DF04C49E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4" cy="480434"/>
          </a:xfrm>
          <a:custGeom xmlns:a="http://schemas.openxmlformats.org/drawingml/2006/main">
            <a:rect l="l" t="t" r="r" b="b"/>
            <a:pathLst>
              <a:path w="6680339" h="640580">
                <a:moveTo>
                  <a:pt x="0" y="0"/>
                </a:moveTo>
                <a:lnTo>
                  <a:pt x="6680339" y="0"/>
                </a:lnTo>
                <a:lnTo>
                  <a:pt x="6680339" y="640580"/>
                </a:lnTo>
                <a:lnTo>
                  <a:pt x="0" y="6405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53201" r="0" b="-15320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B3BB472-0D2A-487F-A26D-A24E5B3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5" cy="4804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73"/>
              </a:lnSpc>
              <a:buNone/>
            </a:pPr>
            <a:r>
              <a:rPr sz="3227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Today Eating · 02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53FC2B9-D4B3-48C4-972A-9768D5A2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7F53286F-38BE-47CB-8DF7-6593C153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d53c06e49041d5"/>
            <a:stretch>
              <a:fillRect l="-80" t="0" r="-81" b="1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4A16A188-056F-4942-84AA-D96CAE4D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D9927B62-10B9-413E-878D-A2135130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044263D-1ECD-4D2C-9968-CA521FC2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6630010"/>
            <a:ext cx="3568951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03  ERD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FF70EDEF-2B8E-42E2-9FC7-CBB3FB2A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1" cy="371477"/>
          </a:xfrm>
          <a:custGeom xmlns:a="http://schemas.openxmlformats.org/drawingml/2006/main">
            <a:rect l="l" t="t" r="r" b="b"/>
            <a:pathLst>
              <a:path w="7869989" h="495303">
                <a:moveTo>
                  <a:pt x="0" y="0"/>
                </a:moveTo>
                <a:lnTo>
                  <a:pt x="7869989" y="0"/>
                </a:lnTo>
                <a:lnTo>
                  <a:pt x="7869989" y="495303"/>
                </a:lnTo>
                <a:lnTo>
                  <a:pt x="0" y="4953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261565" r="0" b="-257638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766F2C4-F876-47B1-9C19-797344A5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041813"/>
            <a:ext cx="590249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ERD 교체 영역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0D262EDA-049B-4199-AAA9-9DF6B22B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2EC9A579-1011-441C-BF92-BEBCE0F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27" y="7680378"/>
            <a:ext cx="6726097" cy="51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사용자·방·메뉴·투표 테이블이 확정되면 실제 관계도로 교체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BD21D3CE-39B6-4269-A38F-A947E412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93" y="8514759"/>
            <a:ext cx="1350549" cy="458342"/>
          </a:xfrm>
          <a:custGeom xmlns:a="http://schemas.openxmlformats.org/drawingml/2006/main">
            <a:rect l="l" t="t" r="r" b="b"/>
            <a:pathLst>
              <a:path w="1800733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686179" y="0"/>
                </a:lnTo>
                <a:cubicBezTo>
                  <a:pt x="1749425" y="0"/>
                  <a:pt x="1800733" y="51308"/>
                  <a:pt x="1800733" y="114554"/>
                </a:cubicBezTo>
                <a:lnTo>
                  <a:pt x="1800733" y="496570"/>
                </a:lnTo>
                <a:cubicBezTo>
                  <a:pt x="1800733" y="559816"/>
                  <a:pt x="1749425" y="611124"/>
                  <a:pt x="1686179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481279F2-A6D7-4E93-83C3-8616CC14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4" cy="380992"/>
          </a:xfrm>
          <a:custGeom xmlns:a="http://schemas.openxmlformats.org/drawingml/2006/main">
            <a:rect l="l" t="t" r="r" b="b"/>
            <a:pathLst>
              <a:path w="1482486" h="507990">
                <a:moveTo>
                  <a:pt x="0" y="0"/>
                </a:moveTo>
                <a:lnTo>
                  <a:pt x="1482486" y="0"/>
                </a:lnTo>
                <a:lnTo>
                  <a:pt x="148248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33444" r="0" b="19716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A33F7479-3AE6-4728-A660-78E7CFC1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941" y="8634108"/>
            <a:ext cx="1111863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PK / FK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D999BCEB-B3B3-420F-AF02-8C1D534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808" y="8514759"/>
            <a:ext cx="2242756" cy="458342"/>
          </a:xfrm>
          <a:custGeom xmlns:a="http://schemas.openxmlformats.org/drawingml/2006/main">
            <a:rect l="l" t="t" r="r" b="b"/>
            <a:pathLst>
              <a:path w="2990342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2875788" y="0"/>
                </a:lnTo>
                <a:cubicBezTo>
                  <a:pt x="2939034" y="0"/>
                  <a:pt x="2990342" y="51308"/>
                  <a:pt x="2990342" y="114554"/>
                </a:cubicBezTo>
                <a:lnTo>
                  <a:pt x="2990342" y="496570"/>
                </a:lnTo>
                <a:cubicBezTo>
                  <a:pt x="2990342" y="559816"/>
                  <a:pt x="2939034" y="611124"/>
                  <a:pt x="2875788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CAA798A9-6F0E-42EE-90BB-CADE362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101" cy="190496"/>
          </a:xfrm>
          <a:custGeom xmlns:a="http://schemas.openxmlformats.org/drawingml/2006/main">
            <a:rect l="l" t="t" r="r" b="b"/>
            <a:pathLst>
              <a:path w="2672136" h="253995">
                <a:moveTo>
                  <a:pt x="0" y="0"/>
                </a:moveTo>
                <a:lnTo>
                  <a:pt x="2672136" y="0"/>
                </a:lnTo>
                <a:lnTo>
                  <a:pt x="2672136" y="253995"/>
                </a:lnTo>
                <a:lnTo>
                  <a:pt x="0" y="2539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58152" r="0" b="-151828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0D6B87B2-97F6-4B07-BCC0-7ECE0ACB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6157" y="8634108"/>
            <a:ext cx="2004098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RELATION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F7A71550-9504-48F4-852D-F9B64E14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5259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48146C4C-751C-42DE-B82D-3943FC89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0" cy="571488"/>
          </a:xfrm>
          <a:custGeom xmlns:a="http://schemas.openxmlformats.org/drawingml/2006/main">
            <a:rect l="l" t="t" r="r" b="b"/>
            <a:pathLst>
              <a:path w="1006626" h="761985">
                <a:moveTo>
                  <a:pt x="0" y="0"/>
                </a:moveTo>
                <a:lnTo>
                  <a:pt x="1006626" y="0"/>
                </a:lnTo>
                <a:lnTo>
                  <a:pt x="1006626" y="761985"/>
                </a:lnTo>
                <a:lnTo>
                  <a:pt x="0" y="7619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0128" r="0" b="58646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6FEA83A9-F20B-46A7-BC51-CDB0F03D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4598" y="8634108"/>
            <a:ext cx="754971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교체 예정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52C56571-E25A-466B-9E56-C72DBAFA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2806351"/>
            <a:ext cx="7633621" cy="6260973"/>
          </a:xfrm>
          <a:custGeom xmlns:a="http://schemas.openxmlformats.org/drawingml/2006/main">
            <a:rect l="l" t="t" r="r" b="b"/>
            <a:pathLst>
              <a:path w="10178161" h="8347964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9994646" y="0"/>
                </a:lnTo>
                <a:cubicBezTo>
                  <a:pt x="10095992" y="0"/>
                  <a:pt x="10178161" y="82169"/>
                  <a:pt x="10178161" y="183515"/>
                </a:cubicBezTo>
                <a:lnTo>
                  <a:pt x="10178161" y="8164449"/>
                </a:lnTo>
                <a:cubicBezTo>
                  <a:pt x="10178161" y="8265795"/>
                  <a:pt x="10095992" y="8347964"/>
                  <a:pt x="9994646" y="8347964"/>
                </a:cubicBezTo>
                <a:lnTo>
                  <a:pt x="183515" y="8347964"/>
                </a:lnTo>
                <a:cubicBezTo>
                  <a:pt x="82169" y="8347837"/>
                  <a:pt x="0" y="8265795"/>
                  <a:pt x="0" y="816444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0019971C-5974-4B99-A55A-0D39C1D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6902" y="2813980"/>
            <a:ext cx="7618285" cy="3363087"/>
          </a:xfrm>
          <a:custGeom xmlns:a="http://schemas.openxmlformats.org/drawingml/2006/main">
            <a:rect l="l" t="t" r="r" b="b"/>
            <a:pathLst>
              <a:path w="10157714" h="4484116">
                <a:moveTo>
                  <a:pt x="0" y="0"/>
                </a:moveTo>
                <a:lnTo>
                  <a:pt x="10157714" y="0"/>
                </a:lnTo>
                <a:lnTo>
                  <a:pt x="10157714" y="4484116"/>
                </a:lnTo>
                <a:lnTo>
                  <a:pt x="0" y="44841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DA230C74-BC1A-4298-BA20-0886A2D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9282" y="6169400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8F8FCFA2-2C30-48D9-8818-AB43714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6630010"/>
            <a:ext cx="3568948" cy="219628"/>
          </a:xfrm>
          <a:custGeom xmlns:a="http://schemas.openxmlformats.org/drawingml/2006/main">
            <a:rect l="l" t="t" r="r" b="b"/>
            <a:pathLst>
              <a:path w="4758598" h="292837">
                <a:moveTo>
                  <a:pt x="0" y="0"/>
                </a:moveTo>
                <a:lnTo>
                  <a:pt x="4758598" y="0"/>
                </a:lnTo>
                <a:lnTo>
                  <a:pt x="4758598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266631" r="0" b="-266631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6BA4B644-5463-4536-B698-7336461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048000"/>
            <a:ext cx="3568922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85"/>
              </a:lnSpc>
              <a:spcBef>
                <a:spcPts val="0"/>
              </a:spcBef>
              <a:buNone/>
            </a:pPr>
            <a:r>
              <a:rPr sz="132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04  MY ROLE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280FA340-B9FA-4D5E-A955-35A6894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6759" y="6510661"/>
            <a:ext cx="1089755" cy="458342"/>
          </a:xfrm>
          <a:custGeom xmlns:a="http://schemas.openxmlformats.org/drawingml/2006/main">
            <a:rect l="l" t="t" r="r" b="b"/>
            <a:pathLst>
              <a:path w="1453007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338453" y="0"/>
                </a:lnTo>
                <a:cubicBezTo>
                  <a:pt x="1401699" y="0"/>
                  <a:pt x="1453007" y="51308"/>
                  <a:pt x="1453007" y="114554"/>
                </a:cubicBezTo>
                <a:lnTo>
                  <a:pt x="1453007" y="496570"/>
                </a:lnTo>
                <a:cubicBezTo>
                  <a:pt x="1453007" y="559816"/>
                  <a:pt x="1401699" y="611124"/>
                  <a:pt x="1338453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3F00BB77-A167-4D6A-A875-36773746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7" cy="380992"/>
          </a:xfrm>
          <a:custGeom xmlns:a="http://schemas.openxmlformats.org/drawingml/2006/main">
            <a:rect l="l" t="t" r="r" b="b"/>
            <a:pathLst>
              <a:path w="1134743" h="507990">
                <a:moveTo>
                  <a:pt x="0" y="0"/>
                </a:moveTo>
                <a:lnTo>
                  <a:pt x="1134743" y="0"/>
                </a:lnTo>
                <a:lnTo>
                  <a:pt x="1134743" y="507990"/>
                </a:lnTo>
                <a:lnTo>
                  <a:pt x="0" y="5079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2BBCFFFF-1F0D-47BC-A250-C7E8A2FF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6098" y="6630010"/>
            <a:ext cx="851059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F59E0B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6841C9B2-6B0D-4D19-AAC4-2C25ED6C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041813"/>
            <a:ext cx="5902491" cy="1485902"/>
          </a:xfrm>
          <a:custGeom xmlns:a="http://schemas.openxmlformats.org/drawingml/2006/main">
            <a:rect l="l" t="t" r="r" b="b"/>
            <a:pathLst>
              <a:path w="7869989" h="1981203">
                <a:moveTo>
                  <a:pt x="0" y="0"/>
                </a:moveTo>
                <a:lnTo>
                  <a:pt x="7869989" y="0"/>
                </a:lnTo>
                <a:lnTo>
                  <a:pt x="7869989" y="1981203"/>
                </a:lnTo>
                <a:lnTo>
                  <a:pt x="0" y="1981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65391" r="0" b="10589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42979CD5-CC2F-42FD-A520-57BAA51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3524250"/>
            <a:ext cx="6726079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972"/>
              </a:lnSpc>
              <a:spcBef>
                <a:spcPts val="0"/>
              </a:spcBef>
              <a:buNone/>
            </a:pPr>
            <a:r>
              <a:rPr sz="2476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담당 역할 초안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45A8140B-935A-4CCF-BE2A-BE8735E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06" y="7673235"/>
            <a:ext cx="6726094" cy="521614"/>
          </a:xfrm>
          <a:custGeom xmlns:a="http://schemas.openxmlformats.org/drawingml/2006/main">
            <a:rect l="l" t="t" r="r" b="b"/>
            <a:pathLst>
              <a:path w="8968126" h="695485">
                <a:moveTo>
                  <a:pt x="0" y="0"/>
                </a:moveTo>
                <a:lnTo>
                  <a:pt x="8968126" y="0"/>
                </a:lnTo>
                <a:lnTo>
                  <a:pt x="8968126" y="695485"/>
                </a:lnTo>
                <a:lnTo>
                  <a:pt x="0" y="69548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201255" r="0" b="-201255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E8B7E35C-B5D8-4962-A7E3-0B38C5C0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8725" y="4286250"/>
            <a:ext cx="6726079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01 | 맛집 탐색·메뉴 선택 사용자 흐름 설계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02 | React·Axios와 REST API 연동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03 | STOMP·SockJS 실시간 이벤트 구현</a:t>
            </a:r>
          </a:p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04 | 채팅·준비·투표 상태 동기화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74C730F3-85A7-4968-B01A-4DCA24CB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17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0D9F1B90-7585-4248-B78C-49A76A02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90D0B081-62A2-416C-9CB9-01AE062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8519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76A44AAE-2C7D-45DE-90D5-5B825D64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73838" y="8514759"/>
            <a:ext cx="993648" cy="458342"/>
          </a:xfrm>
          <a:custGeom xmlns:a="http://schemas.openxmlformats.org/drawingml/2006/main">
            <a:rect l="l" t="t" r="r" b="b"/>
            <a:pathLst>
              <a:path w="132486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210310" y="0"/>
                </a:lnTo>
                <a:cubicBezTo>
                  <a:pt x="1273556" y="0"/>
                  <a:pt x="1324864" y="51308"/>
                  <a:pt x="1324864" y="114554"/>
                </a:cubicBezTo>
                <a:lnTo>
                  <a:pt x="1324864" y="496570"/>
                </a:lnTo>
                <a:cubicBezTo>
                  <a:pt x="1324864" y="559816"/>
                  <a:pt x="1273556" y="611124"/>
                  <a:pt x="121031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FDCE4A3-4D46-4ECD-B6A4-3BAF370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0" cy="380992"/>
          </a:xfrm>
          <a:custGeom xmlns:a="http://schemas.openxmlformats.org/drawingml/2006/main">
            <a:rect l="l" t="t" r="r" b="b"/>
            <a:pathLst>
              <a:path w="1006626" h="507990">
                <a:moveTo>
                  <a:pt x="0" y="0"/>
                </a:moveTo>
                <a:lnTo>
                  <a:pt x="1006626" y="0"/>
                </a:lnTo>
                <a:lnTo>
                  <a:pt x="100662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5192" r="0" b="37969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2D7E879D-0F32-43AF-84EA-BDA08594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93176" y="8634108"/>
            <a:ext cx="754971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Realtime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9C0292E4-2CD3-4160-9F2B-E08B67BE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13151" y="8514759"/>
            <a:ext cx="1528953" cy="458342"/>
          </a:xfrm>
          <a:custGeom xmlns:a="http://schemas.openxmlformats.org/drawingml/2006/main">
            <a:rect l="l" t="t" r="r" b="b"/>
            <a:pathLst>
              <a:path w="203860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924050" y="0"/>
                </a:lnTo>
                <a:cubicBezTo>
                  <a:pt x="1987296" y="0"/>
                  <a:pt x="2038604" y="51308"/>
                  <a:pt x="2038604" y="114554"/>
                </a:cubicBezTo>
                <a:lnTo>
                  <a:pt x="2038604" y="496570"/>
                </a:lnTo>
                <a:cubicBezTo>
                  <a:pt x="2038604" y="559816"/>
                  <a:pt x="1987296" y="611124"/>
                  <a:pt x="192405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8DA759FD-81B3-4517-8E90-D986B87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2" cy="380992"/>
          </a:xfrm>
          <a:custGeom xmlns:a="http://schemas.openxmlformats.org/drawingml/2006/main">
            <a:rect l="l" t="t" r="r" b="b"/>
            <a:pathLst>
              <a:path w="1720416" h="507990">
                <a:moveTo>
                  <a:pt x="0" y="0"/>
                </a:moveTo>
                <a:lnTo>
                  <a:pt x="1720416" y="0"/>
                </a:lnTo>
                <a:lnTo>
                  <a:pt x="1720416" y="507990"/>
                </a:lnTo>
                <a:lnTo>
                  <a:pt x="0" y="507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42571" r="0" b="10590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6BFA78CD-A901-4FD6-A21A-B263274C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2500" y="8634108"/>
            <a:ext cx="1290314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1549"/>
              </a:lnSpc>
              <a:spcBef>
                <a:spcPts val="0"/>
              </a:spcBef>
              <a:buNone/>
            </a:pPr>
            <a:r>
              <a:rPr sz="1291" u="none">
                <a:solidFill>
                  <a:srgbClr val="6B7280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0DB5FA80-7667-44B5-AA38-B776664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4f7160d90784c2b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502E6EE1-9178-4F2A-8048-F2427EC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P02.2</a:t>
            </a:r>
          </a:p>
        </p:txBody>
      </p:sp>
    </p:spTree>
    <p:extLst>
      <p:ext uri="{BB962C8B-B14F-4D97-AF65-F5344CB8AC3E}">
        <p14:creationId xmlns:p14="http://schemas.microsoft.com/office/powerpoint/2010/main" val="3841100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6D68B65-421B-45ED-B75B-DB32BD6A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844E49D-B83E-4570-BE4F-E8DC2E73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C030F55-3B58-4E72-AFE2-75C80034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4484A2C-2EDB-4464-A494-152BE60B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CF8E5D3-7D7E-4362-9D8A-F9D5F59D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5077EB-7C80-45D3-BE1C-A7FE319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601C1FD2-7EC7-4ABB-98C2-FD396771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21642FB-DE3A-4750-881A-5A0370B8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7FA9E3C-EC38-4A6C-B003-4963FA17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ABEA7FA-2DEF-429D-BC16-8D27764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E5D8A9EB-E6F4-4E48-A498-3EE9AE64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086F57B-D4BD-4F45-9DC7-8233771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2563EB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7912F81C-2DF1-4981-8D90-C0038A61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6936278-DF7A-4D64-B309-D5F38BB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95BC9CC5-77F1-4647-8403-00CB0ADB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C22EC6D-FB6D-436F-8A6B-F4B1E09F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FB9D1E8B-B086-4252-B56A-335DBA4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004" y="306181"/>
            <a:ext cx="1048512" cy="540638"/>
          </a:xfrm>
          <a:custGeom xmlns:a="http://schemas.openxmlformats.org/drawingml/2006/main">
            <a:rect l="l" t="t" r="r" b="b"/>
            <a:pathLst>
              <a:path w="1398016" h="720852">
                <a:moveTo>
                  <a:pt x="0" y="113792"/>
                </a:moveTo>
                <a:cubicBezTo>
                  <a:pt x="0" y="50927"/>
                  <a:pt x="50927" y="0"/>
                  <a:pt x="113792" y="0"/>
                </a:cubicBezTo>
                <a:lnTo>
                  <a:pt x="1284224" y="0"/>
                </a:lnTo>
                <a:cubicBezTo>
                  <a:pt x="1347089" y="0"/>
                  <a:pt x="1398016" y="50927"/>
                  <a:pt x="1398016" y="113792"/>
                </a:cubicBezTo>
                <a:lnTo>
                  <a:pt x="1398016" y="607060"/>
                </a:lnTo>
                <a:cubicBezTo>
                  <a:pt x="1398016" y="669925"/>
                  <a:pt x="1347089" y="720852"/>
                  <a:pt x="1284224" y="720852"/>
                </a:cubicBezTo>
                <a:lnTo>
                  <a:pt x="113792" y="720852"/>
                </a:lnTo>
                <a:cubicBezTo>
                  <a:pt x="50927" y="720852"/>
                  <a:pt x="0" y="669925"/>
                  <a:pt x="0" y="607060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FB64B191-484F-4280-BBEB-86A1D500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0240AE26-F3AA-48AB-8018-E54DA843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1779646-383B-4DD7-8857-7F19AC64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F73BCB4-8C54-4106-ADCF-F6FC8F77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1182024"/>
            <a:ext cx="5010254" cy="480434"/>
          </a:xfrm>
          <a:custGeom xmlns:a="http://schemas.openxmlformats.org/drawingml/2006/main">
            <a:rect l="l" t="t" r="r" b="b"/>
            <a:pathLst>
              <a:path w="6680339" h="640580">
                <a:moveTo>
                  <a:pt x="0" y="0"/>
                </a:moveTo>
                <a:lnTo>
                  <a:pt x="6680339" y="0"/>
                </a:lnTo>
                <a:lnTo>
                  <a:pt x="6680339" y="640580"/>
                </a:lnTo>
                <a:lnTo>
                  <a:pt x="0" y="6405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53201" r="0" b="-153200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5D666BF-C544-44A8-B437-8C3A8A18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1182024"/>
            <a:ext cx="5010255" cy="4804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873"/>
              </a:lnSpc>
              <a:buNone/>
            </a:pPr>
            <a:r>
              <a:rPr sz="3227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대표 프로젝트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BEAE2C11-3309-4160-9DC8-40FB17B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2806351"/>
            <a:ext cx="7768950" cy="2877712"/>
          </a:xfrm>
          <a:custGeom xmlns:a="http://schemas.openxmlformats.org/drawingml/2006/main">
            <a:rect l="l" t="t" r="r" b="b"/>
            <a:pathLst>
              <a:path w="10358601" h="3836951">
                <a:moveTo>
                  <a:pt x="0" y="84348"/>
                </a:moveTo>
                <a:cubicBezTo>
                  <a:pt x="0" y="37767"/>
                  <a:pt x="83626" y="0"/>
                  <a:pt x="186768" y="0"/>
                </a:cubicBezTo>
                <a:lnTo>
                  <a:pt x="10171833" y="0"/>
                </a:lnTo>
                <a:cubicBezTo>
                  <a:pt x="10274976" y="0"/>
                  <a:pt x="10358601" y="37767"/>
                  <a:pt x="10358601" y="84348"/>
                </a:cubicBezTo>
                <a:lnTo>
                  <a:pt x="10358601" y="3752562"/>
                </a:lnTo>
                <a:cubicBezTo>
                  <a:pt x="10358601" y="3799143"/>
                  <a:pt x="10274976" y="3836951"/>
                  <a:pt x="10171833" y="3836951"/>
                </a:cubicBezTo>
                <a:lnTo>
                  <a:pt x="186768" y="3836951"/>
                </a:lnTo>
                <a:cubicBezTo>
                  <a:pt x="83626" y="3836851"/>
                  <a:pt x="0" y="3799143"/>
                  <a:pt x="0" y="37525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14EBB8FF-D18F-4AA2-AE3E-941239EB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159" y="2924110"/>
            <a:ext cx="3912093" cy="2663452"/>
          </a:xfrm>
          <a:custGeom xmlns:a="http://schemas.openxmlformats.org/drawingml/2006/main">
            <a:rect l="l" t="t" r="r" b="b"/>
            <a:pathLst>
              <a:path w="6317304" h="4300982">
                <a:moveTo>
                  <a:pt x="0" y="0"/>
                </a:moveTo>
                <a:lnTo>
                  <a:pt x="6317304" y="0"/>
                </a:lnTo>
                <a:lnTo>
                  <a:pt x="6317304" y="4300982"/>
                </a:lnTo>
                <a:lnTo>
                  <a:pt x="0" y="43009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6caf353e51c4b2c"/>
            <a:stretch>
              <a:fillRect l="0" t="-8428" r="0" b="-8428"/>
            </a:stretch>
          </a:blipFill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82550375-51D2-40D1-9010-C9036CF4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6032135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BD99406-805E-4998-93BA-4AFE063A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3028639"/>
            <a:ext cx="3399936" cy="1459721"/>
          </a:xfrm>
          <a:custGeom xmlns:a="http://schemas.openxmlformats.org/drawingml/2006/main">
            <a:rect l="l" t="t" r="r" b="b"/>
            <a:pathLst>
              <a:path w="4533248" h="1946295">
                <a:moveTo>
                  <a:pt x="0" y="0"/>
                </a:moveTo>
                <a:lnTo>
                  <a:pt x="4533248" y="0"/>
                </a:lnTo>
                <a:lnTo>
                  <a:pt x="4533248" y="1946295"/>
                </a:lnTo>
                <a:lnTo>
                  <a:pt x="0" y="1946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59235" r="-57456" b="16315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4D04C09B-71A1-434C-8031-BF29CF8E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3035782"/>
            <a:ext cx="3399935" cy="1452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Triple Skin —</a:t>
            </a: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</a:t>
            </a:r>
          </a:p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AI</a:t>
            </a: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기반 피부 상태 분석 및 관리 플랫폼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61F9C4B-1710-4316-ABBC-3871E944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4374953"/>
            <a:ext cx="3399933" cy="1197394"/>
          </a:xfrm>
          <a:custGeom xmlns:a="http://schemas.openxmlformats.org/drawingml/2006/main">
            <a:rect l="l" t="t" r="r" b="b"/>
            <a:pathLst>
              <a:path w="4533244" h="1596526">
                <a:moveTo>
                  <a:pt x="0" y="0"/>
                </a:moveTo>
                <a:lnTo>
                  <a:pt x="4533244" y="0"/>
                </a:lnTo>
                <a:lnTo>
                  <a:pt x="4533244" y="1596526"/>
                </a:lnTo>
                <a:lnTo>
                  <a:pt x="0" y="15965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87671" r="-97830" b="-31234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613328DD-6E23-4F28-B629-7790B762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4382096"/>
            <a:ext cx="3399935" cy="11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YOLO 기반 피부 이미지 분석과 설문 기반 피부 타입 분석을 결합하고, 분석 이력·캘린더·커뮤니티까지 제공하는 개인화 피부 관리 플랫폼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FF59F6B-770C-4CD4-975F-D15E312B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F31D27AC-2F44-4831-AB40-6EFFF2E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03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E7BCD2DD-AC07-47B4-9C5F-D23A97AC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5826233"/>
            <a:ext cx="7768950" cy="2877712"/>
          </a:xfrm>
          <a:custGeom xmlns:a="http://schemas.openxmlformats.org/drawingml/2006/main">
            <a:rect l="l" t="t" r="r" b="b"/>
            <a:pathLst>
              <a:path w="10358601" h="3836951">
                <a:moveTo>
                  <a:pt x="0" y="84348"/>
                </a:moveTo>
                <a:cubicBezTo>
                  <a:pt x="0" y="37767"/>
                  <a:pt x="83626" y="0"/>
                  <a:pt x="186768" y="0"/>
                </a:cubicBezTo>
                <a:lnTo>
                  <a:pt x="10171833" y="0"/>
                </a:lnTo>
                <a:cubicBezTo>
                  <a:pt x="10274976" y="0"/>
                  <a:pt x="10358601" y="37767"/>
                  <a:pt x="10358601" y="84348"/>
                </a:cubicBezTo>
                <a:lnTo>
                  <a:pt x="10358601" y="3752562"/>
                </a:lnTo>
                <a:cubicBezTo>
                  <a:pt x="10358601" y="3799143"/>
                  <a:pt x="10274976" y="3836951"/>
                  <a:pt x="10171833" y="3836951"/>
                </a:cubicBezTo>
                <a:lnTo>
                  <a:pt x="186768" y="3836951"/>
                </a:lnTo>
                <a:cubicBezTo>
                  <a:pt x="83626" y="3836851"/>
                  <a:pt x="0" y="3799143"/>
                  <a:pt x="0" y="37525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975DEB14-E86B-48EE-B34B-4B020436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2159" y="5943992"/>
            <a:ext cx="3912093" cy="2663452"/>
          </a:xfrm>
          <a:custGeom xmlns:a="http://schemas.openxmlformats.org/drawingml/2006/main">
            <a:rect l="l" t="t" r="r" b="b"/>
            <a:pathLst>
              <a:path w="6317304" h="4300982">
                <a:moveTo>
                  <a:pt x="0" y="0"/>
                </a:moveTo>
                <a:lnTo>
                  <a:pt x="6317304" y="0"/>
                </a:lnTo>
                <a:lnTo>
                  <a:pt x="6317304" y="4300982"/>
                </a:lnTo>
                <a:lnTo>
                  <a:pt x="0" y="43009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5e89ec57da34ea4"/>
            <a:stretch>
              <a:fillRect l="0" t="-3983" r="0" b="-3983"/>
            </a:stretch>
          </a:blipFill>
        </p:spPr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5BB171B5-3D0D-4320-9356-58F69B61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9052017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3C35D8D3-F720-4619-B2B3-2CA53639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6048521"/>
            <a:ext cx="3399936" cy="1078721"/>
          </a:xfrm>
          <a:custGeom xmlns:a="http://schemas.openxmlformats.org/drawingml/2006/main">
            <a:rect l="l" t="t" r="r" b="b"/>
            <a:pathLst>
              <a:path w="4533248" h="1438295">
                <a:moveTo>
                  <a:pt x="0" y="0"/>
                </a:moveTo>
                <a:lnTo>
                  <a:pt x="4533248" y="0"/>
                </a:lnTo>
                <a:lnTo>
                  <a:pt x="4533248" y="1438295"/>
                </a:lnTo>
                <a:lnTo>
                  <a:pt x="0" y="1438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80156" r="-57456" b="-13241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F1E55752-32B5-4BFE-AA0D-4C5CA88A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6055664"/>
            <a:ext cx="3399935" cy="10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  <a:r>
              <a:rPr sz="25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PM2.5</a:t>
            </a: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</a:t>
            </a: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미세먼지 예측</a:t>
            </a: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및 시각화 대시보드</a:t>
            </a:r>
          </a:p>
        </p:txBody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0B60E1AB-8DD5-416D-9B56-16295C89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7209905"/>
            <a:ext cx="3399933" cy="1445043"/>
          </a:xfrm>
          <a:custGeom xmlns:a="http://schemas.openxmlformats.org/drawingml/2006/main">
            <a:rect l="l" t="t" r="r" b="b"/>
            <a:pathLst>
              <a:path w="4533244" h="1926724">
                <a:moveTo>
                  <a:pt x="0" y="0"/>
                </a:moveTo>
                <a:lnTo>
                  <a:pt x="4533244" y="0"/>
                </a:lnTo>
                <a:lnTo>
                  <a:pt x="4533244" y="1926724"/>
                </a:lnTo>
                <a:lnTo>
                  <a:pt x="0" y="19267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72646" r="-97830" b="-8743"/>
            </a:stretch>
          </a:blipFill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2F0C0D97-2692-460D-BCCC-79BEACC2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848" y="7217048"/>
            <a:ext cx="3399935" cy="14379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기상·대기오염·중국 산업가동률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데이터를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통합하여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지역별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P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M2.5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농도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를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예측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하고,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지도와 대시보드에서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결과를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확인할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수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있도록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구현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한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머신러닝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프로젝트</a:t>
            </a:r>
          </a:p>
        </p:txBody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A84CA5BA-C7EC-4381-BA4F-26AEE5B9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2791101"/>
            <a:ext cx="7768950" cy="2877712"/>
          </a:xfrm>
          <a:custGeom xmlns:a="http://schemas.openxmlformats.org/drawingml/2006/main">
            <a:rect l="l" t="t" r="r" b="b"/>
            <a:pathLst>
              <a:path w="10358601" h="3836951">
                <a:moveTo>
                  <a:pt x="0" y="84348"/>
                </a:moveTo>
                <a:cubicBezTo>
                  <a:pt x="0" y="37767"/>
                  <a:pt x="83626" y="0"/>
                  <a:pt x="186768" y="0"/>
                </a:cubicBezTo>
                <a:lnTo>
                  <a:pt x="10171833" y="0"/>
                </a:lnTo>
                <a:cubicBezTo>
                  <a:pt x="10274976" y="0"/>
                  <a:pt x="10358601" y="37767"/>
                  <a:pt x="10358601" y="84348"/>
                </a:cubicBezTo>
                <a:lnTo>
                  <a:pt x="10358601" y="3752562"/>
                </a:lnTo>
                <a:cubicBezTo>
                  <a:pt x="10358601" y="3799143"/>
                  <a:pt x="10274976" y="3836951"/>
                  <a:pt x="10171833" y="3836951"/>
                </a:cubicBezTo>
                <a:lnTo>
                  <a:pt x="186768" y="3836951"/>
                </a:lnTo>
                <a:cubicBezTo>
                  <a:pt x="83626" y="3836851"/>
                  <a:pt x="0" y="3799143"/>
                  <a:pt x="0" y="37525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4DA4F9B4-AF55-446E-9F19-AA23B148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2465" y="2908860"/>
            <a:ext cx="3912093" cy="2663452"/>
          </a:xfrm>
          <a:custGeom xmlns:a="http://schemas.openxmlformats.org/drawingml/2006/main">
            <a:rect l="l" t="t" r="r" b="b"/>
            <a:pathLst>
              <a:path w="6317304" h="4300982">
                <a:moveTo>
                  <a:pt x="0" y="0"/>
                </a:moveTo>
                <a:lnTo>
                  <a:pt x="6317304" y="0"/>
                </a:lnTo>
                <a:lnTo>
                  <a:pt x="6317304" y="4300982"/>
                </a:lnTo>
                <a:lnTo>
                  <a:pt x="0" y="43009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74c5063cc8348a2"/>
            <a:stretch>
              <a:fillRect l="-27038" t="0" r="-27038" b="0"/>
            </a:stretch>
          </a:blipFill>
        </p:spPr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AA5515FB-7681-4B37-9D3B-9BD0F8CC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6016885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0888905-C5E9-4689-8A05-C8BBBAF1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3013389"/>
            <a:ext cx="3399936" cy="1840721"/>
          </a:xfrm>
          <a:custGeom xmlns:a="http://schemas.openxmlformats.org/drawingml/2006/main">
            <a:rect l="l" t="t" r="r" b="b"/>
            <a:pathLst>
              <a:path w="4533248" h="2454295">
                <a:moveTo>
                  <a:pt x="0" y="0"/>
                </a:moveTo>
                <a:lnTo>
                  <a:pt x="4533248" y="0"/>
                </a:lnTo>
                <a:lnTo>
                  <a:pt x="4533248" y="2454295"/>
                </a:lnTo>
                <a:lnTo>
                  <a:pt x="0" y="2454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46974" r="-57456" b="33636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CBB54B62-CF14-4324-ABA5-D11FC14D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3020532"/>
            <a:ext cx="3399935" cy="1833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Today Eating</a:t>
            </a: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 — </a:t>
            </a:r>
          </a:p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실시간 식사 의사결정 </a:t>
            </a:r>
          </a:p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지원 서비스</a:t>
            </a:r>
          </a:p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346532F7-58A2-480A-BEAC-91F8A0F7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4314707"/>
            <a:ext cx="3399933" cy="1197394"/>
          </a:xfrm>
          <a:custGeom xmlns:a="http://schemas.openxmlformats.org/drawingml/2006/main">
            <a:rect l="l" t="t" r="r" b="b"/>
            <a:pathLst>
              <a:path w="4533244" h="1596526">
                <a:moveTo>
                  <a:pt x="0" y="0"/>
                </a:moveTo>
                <a:lnTo>
                  <a:pt x="4533244" y="0"/>
                </a:lnTo>
                <a:lnTo>
                  <a:pt x="4533244" y="1596526"/>
                </a:lnTo>
                <a:lnTo>
                  <a:pt x="0" y="15965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87671" r="-97830" b="-31234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6ADD22B4-7F4C-4EBA-A868-C5896725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4321850"/>
            <a:ext cx="3399935" cy="11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부산 지역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맛집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탐색과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실시간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메뉴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투표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를 결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합해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,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혼자 또는 여러 명이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함께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식사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메뉴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를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결정할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수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있도록 만든 식사 의사결정 지원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서비스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4DC0F119-698F-4294-99C4-09CB5CBA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5818608"/>
            <a:ext cx="7768950" cy="2877712"/>
          </a:xfrm>
          <a:custGeom xmlns:a="http://schemas.openxmlformats.org/drawingml/2006/main">
            <a:rect l="l" t="t" r="r" b="b"/>
            <a:pathLst>
              <a:path w="10358601" h="3836951">
                <a:moveTo>
                  <a:pt x="0" y="84348"/>
                </a:moveTo>
                <a:cubicBezTo>
                  <a:pt x="0" y="37767"/>
                  <a:pt x="83626" y="0"/>
                  <a:pt x="186768" y="0"/>
                </a:cubicBezTo>
                <a:lnTo>
                  <a:pt x="10171833" y="0"/>
                </a:lnTo>
                <a:cubicBezTo>
                  <a:pt x="10274976" y="0"/>
                  <a:pt x="10358601" y="37767"/>
                  <a:pt x="10358601" y="84348"/>
                </a:cubicBezTo>
                <a:lnTo>
                  <a:pt x="10358601" y="3752562"/>
                </a:lnTo>
                <a:cubicBezTo>
                  <a:pt x="10358601" y="3799143"/>
                  <a:pt x="10274976" y="3836951"/>
                  <a:pt x="10171833" y="3836951"/>
                </a:cubicBezTo>
                <a:lnTo>
                  <a:pt x="186768" y="3836951"/>
                </a:lnTo>
                <a:cubicBezTo>
                  <a:pt x="83626" y="3836851"/>
                  <a:pt x="0" y="3799143"/>
                  <a:pt x="0" y="37525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0BFCED8B-2CBC-421E-86A5-63887093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2465" y="5936367"/>
            <a:ext cx="3912093" cy="2663452"/>
          </a:xfrm>
          <a:custGeom xmlns:a="http://schemas.openxmlformats.org/drawingml/2006/main">
            <a:rect l="l" t="t" r="r" b="b"/>
            <a:pathLst>
              <a:path w="6317304" h="4300982">
                <a:moveTo>
                  <a:pt x="0" y="0"/>
                </a:moveTo>
                <a:lnTo>
                  <a:pt x="6317304" y="0"/>
                </a:lnTo>
                <a:lnTo>
                  <a:pt x="6317304" y="4300982"/>
                </a:lnTo>
                <a:lnTo>
                  <a:pt x="0" y="430098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f3bb56f9414ed2"/>
            <a:stretch>
              <a:fillRect l="0" t="-13922" r="0" b="-35516"/>
            </a:stretch>
          </a:blipFill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E02FF2A3-0B66-4E36-A244-9F91EA4A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9044392"/>
            <a:ext cx="7633621" cy="15240"/>
          </a:xfrm>
          <a:custGeom xmlns:a="http://schemas.openxmlformats.org/drawingml/2006/main">
            <a:rect l="l" t="t" r="r" b="b"/>
            <a:pathLst>
              <a:path w="10178161" h="20320">
                <a:moveTo>
                  <a:pt x="0" y="0"/>
                </a:moveTo>
                <a:lnTo>
                  <a:pt x="10178161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9709853" r="0" b="-9709916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665D2171-10AD-4AC2-BEB4-9A137B16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6040896"/>
            <a:ext cx="3399936" cy="1078721"/>
          </a:xfrm>
          <a:custGeom xmlns:a="http://schemas.openxmlformats.org/drawingml/2006/main">
            <a:rect l="l" t="t" r="r" b="b"/>
            <a:pathLst>
              <a:path w="4533248" h="1438295">
                <a:moveTo>
                  <a:pt x="0" y="0"/>
                </a:moveTo>
                <a:lnTo>
                  <a:pt x="4533248" y="0"/>
                </a:lnTo>
                <a:lnTo>
                  <a:pt x="4533248" y="1438295"/>
                </a:lnTo>
                <a:lnTo>
                  <a:pt x="0" y="1438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80156" r="-57456" b="-13241"/>
            </a:stretch>
          </a:blipFill>
        </p:spPr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7CE4F3B0-1DCF-4A13-9351-E0BBC354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6048039"/>
            <a:ext cx="3399935" cy="1071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62"/>
              </a:lnSpc>
              <a:spcBef>
                <a:spcPts val="0"/>
              </a:spcBef>
              <a:buNone/>
            </a:pP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다자간 </a:t>
            </a:r>
            <a:r>
              <a:rPr sz="25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실시간 영상 통신 프로젝트</a:t>
            </a:r>
          </a:p>
        </p:txBody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BC9D2421-B9CA-449D-83FE-CFF4228E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6962255"/>
            <a:ext cx="3399933" cy="1692692"/>
          </a:xfrm>
          <a:custGeom xmlns:a="http://schemas.openxmlformats.org/drawingml/2006/main">
            <a:rect l="l" t="t" r="r" b="b"/>
            <a:pathLst>
              <a:path w="4533244" h="2256923">
                <a:moveTo>
                  <a:pt x="0" y="0"/>
                </a:moveTo>
                <a:lnTo>
                  <a:pt x="4533244" y="0"/>
                </a:lnTo>
                <a:lnTo>
                  <a:pt x="4533244" y="2256923"/>
                </a:lnTo>
                <a:lnTo>
                  <a:pt x="0" y="225692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732297a2454ac1">
              <a:alphaModFix amt="0"/>
            </a:blip>
            <a:stretch>
              <a:fillRect l="0" t="-62018" r="-97830" b="7166"/>
            </a:stretch>
          </a:blipFill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E0650D06-054E-4F25-B554-762A6AFB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59154" y="6969398"/>
            <a:ext cx="3399935" cy="1685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99"/>
              </a:lnSpc>
              <a:spcBef>
                <a:spcPts val="0"/>
              </a:spcBef>
              <a:buNone/>
            </a:pPr>
            <a:r>
              <a:rPr sz="166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U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n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i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t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y 환경에서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Web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RT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C를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활용해 다자간 영상 통화와 실시간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데이터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동기화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기능을 개발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하고, P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ublisher·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ubs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riber 연결 및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사용자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입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·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퇴장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과정에서 발생하는 통신 오류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를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개선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한 </a:t>
            </a:r>
            <a:r>
              <a:rPr sz="166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프로젝트</a:t>
            </a:r>
          </a:p>
        </p:txBody>
      </p:sp>
    </p:spTree>
    <p:extLst>
      <p:ext uri="{BB962C8B-B14F-4D97-AF65-F5344CB8AC3E}">
        <p14:creationId xmlns:p14="http://schemas.microsoft.com/office/powerpoint/2010/main" val="2029450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E4F4F42-81AF-44DB-A65D-6958251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56F5C60-F7F1-425B-A086-5383965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DED6E8E-4F26-435C-9969-70DBBDAD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9BA02DC-98A8-4487-9345-A2FE9DB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807A3019-DCF6-4E17-B845-4314612D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1E90AE-263E-40AE-953C-CCAF7DDB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2E41AC2-334F-48D1-95C4-A8702B82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42624D1-2C77-49F6-8D06-202D60C7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B87B788-0F83-437F-9CDA-6475D4CC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90F5C79-BEBC-4055-9C86-9CFCAB87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588E1AB9-903F-4B92-BF76-C2C4319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AA9A16A-67CF-47E5-9BD8-7420376D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F6926CA-E6E9-4487-9621-8DC8F531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8E529EE-12E6-4445-A6DE-54EDFE47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2563EB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BD31827-EC2C-4157-BFC0-86CF4AE3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BA22D3B-3F67-4025-8AEB-5A5C728D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E369A1C-A01E-44D8-AACC-ABE61DF2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004" y="306181"/>
            <a:ext cx="1048512" cy="540638"/>
          </a:xfrm>
          <a:custGeom xmlns:a="http://schemas.openxmlformats.org/drawingml/2006/main">
            <a:rect l="l" t="t" r="r" b="b"/>
            <a:pathLst>
              <a:path w="1398016" h="720852">
                <a:moveTo>
                  <a:pt x="0" y="113792"/>
                </a:moveTo>
                <a:cubicBezTo>
                  <a:pt x="0" y="50927"/>
                  <a:pt x="50927" y="0"/>
                  <a:pt x="113792" y="0"/>
                </a:cubicBezTo>
                <a:lnTo>
                  <a:pt x="1284224" y="0"/>
                </a:lnTo>
                <a:cubicBezTo>
                  <a:pt x="1347089" y="0"/>
                  <a:pt x="1398016" y="50927"/>
                  <a:pt x="1398016" y="113792"/>
                </a:cubicBezTo>
                <a:lnTo>
                  <a:pt x="1398016" y="607060"/>
                </a:lnTo>
                <a:cubicBezTo>
                  <a:pt x="1398016" y="669925"/>
                  <a:pt x="1347089" y="720852"/>
                  <a:pt x="1284224" y="720852"/>
                </a:cubicBezTo>
                <a:lnTo>
                  <a:pt x="113792" y="720852"/>
                </a:lnTo>
                <a:cubicBezTo>
                  <a:pt x="50927" y="720852"/>
                  <a:pt x="0" y="669925"/>
                  <a:pt x="0" y="607060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57EF2EF2-F7D9-4B2E-9036-FF7B617E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C8EA7A-30EF-4829-9A0E-9A13C31E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5F98FE3-D578-4F5F-BFFD-632796A4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DF484CE2-6B65-4D4F-BC51-3CA4F2DD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4" cy="274534"/>
          </a:xfrm>
          <a:custGeom xmlns:a="http://schemas.openxmlformats.org/drawingml/2006/main">
            <a:rect l="l" t="t" r="r" b="b"/>
            <a:pathLst>
              <a:path w="4392552" h="366046">
                <a:moveTo>
                  <a:pt x="0" y="0"/>
                </a:moveTo>
                <a:lnTo>
                  <a:pt x="4392552" y="0"/>
                </a:lnTo>
                <a:lnTo>
                  <a:pt x="4392552" y="366046"/>
                </a:lnTo>
                <a:lnTo>
                  <a:pt x="0" y="36604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83819" r="0" b="-183821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8ADAB16-5EB4-4DDE-A33B-CC124EBA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2" cy="274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1"/>
              </a:lnSpc>
              <a:buNone/>
            </a:pPr>
            <a:r>
              <a:rPr sz="1501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04 / CAREER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514BAF3-80F6-4DD2-846F-AA4F32F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4" cy="485778"/>
          </a:xfrm>
          <a:custGeom xmlns:a="http://schemas.openxmlformats.org/drawingml/2006/main">
            <a:rect l="l" t="t" r="r" b="b"/>
            <a:pathLst>
              <a:path w="6680339" h="647705">
                <a:moveTo>
                  <a:pt x="0" y="0"/>
                </a:moveTo>
                <a:lnTo>
                  <a:pt x="6680339" y="0"/>
                </a:lnTo>
                <a:lnTo>
                  <a:pt x="6680339" y="647705"/>
                </a:lnTo>
                <a:lnTo>
                  <a:pt x="0" y="64770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51516" r="0" b="-150415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06811B3-88BD-42D5-8397-69CF684D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873"/>
              </a:lnSpc>
              <a:spcBef>
                <a:spcPts val="0"/>
              </a:spcBef>
              <a:buNone/>
            </a:pPr>
            <a:r>
              <a:rPr sz="3227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프로젝트 경험 흐름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290178FE-5684-4352-8B73-D06DAE01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3061059"/>
            <a:ext cx="3500314" cy="1647207"/>
          </a:xfrm>
          <a:custGeom xmlns:a="http://schemas.openxmlformats.org/drawingml/2006/main">
            <a:rect l="l" t="t" r="r" b="b"/>
            <a:pathLst>
              <a:path w="4667086" h="2196277">
                <a:moveTo>
                  <a:pt x="0" y="0"/>
                </a:moveTo>
                <a:lnTo>
                  <a:pt x="4667086" y="0"/>
                </a:lnTo>
                <a:lnTo>
                  <a:pt x="4667086" y="2196277"/>
                </a:lnTo>
                <a:lnTo>
                  <a:pt x="0" y="219627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-10378" t="0" r="-10378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58856ED-2459-4C80-B3FC-3A5FBB51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3018197"/>
            <a:ext cx="3500314" cy="16900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814"/>
              </a:lnSpc>
              <a:spcBef>
                <a:spcPts val="0"/>
              </a:spcBef>
              <a:buNone/>
            </a:pPr>
            <a:r>
              <a:rPr sz="187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데이터 분석·ML/DL 모델링·LLM API·웹서비스 통신을 연결해, 분석 결과가 실제 사용자 경험으로 이어지도록 구현한 경험입니다.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5C294F13-14E4-4DF4-ADF4-2DCB18A3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2279" y="3010348"/>
            <a:ext cx="19050" cy="5976461"/>
          </a:xfrm>
          <a:custGeom xmlns:a="http://schemas.openxmlformats.org/drawingml/2006/main">
            <a:rect l="l" t="t" r="r" b="b"/>
            <a:pathLst>
              <a:path w="25400" h="7968615">
                <a:moveTo>
                  <a:pt x="0" y="0"/>
                </a:moveTo>
                <a:lnTo>
                  <a:pt x="25400" y="7968615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-40201987" t="0" r="-40202087" b="0"/>
            </a:stretch>
          </a:blipFill>
          <a:ln xmlns:a="http://schemas.openxmlformats.org/drawingml/2006/main" w="19065">
            <a:solidFill>
              <a:srgbClr val="E5E7EB"/>
            </a:solidFill>
            <a:prstDash val="solid"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C825ECFB-3C44-4597-BEB0-80E78FA9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191" y="2886808"/>
            <a:ext cx="211264" cy="211264"/>
          </a:xfrm>
          <a:custGeom xmlns:a="http://schemas.openxmlformats.org/drawingml/2006/main">
            <a:rect l="l" t="t" r="r" b="b"/>
            <a:pathLst>
              <a:path w="281686" h="281686">
                <a:moveTo>
                  <a:pt x="0" y="140843"/>
                </a:moveTo>
                <a:cubicBezTo>
                  <a:pt x="0" y="62992"/>
                  <a:pt x="62992" y="0"/>
                  <a:pt x="140843" y="0"/>
                </a:cubicBezTo>
                <a:cubicBezTo>
                  <a:pt x="218694" y="0"/>
                  <a:pt x="281686" y="62992"/>
                  <a:pt x="281686" y="140843"/>
                </a:cubicBezTo>
                <a:cubicBezTo>
                  <a:pt x="281686" y="218694"/>
                  <a:pt x="218567" y="281686"/>
                  <a:pt x="140843" y="281686"/>
                </a:cubicBezTo>
                <a:cubicBezTo>
                  <a:pt x="63119" y="281686"/>
                  <a:pt x="0" y="218567"/>
                  <a:pt x="0" y="140843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0C608B9-3850-4CE6-B719-8EC79F55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2855157"/>
            <a:ext cx="2745344" cy="219628"/>
          </a:xfrm>
          <a:custGeom xmlns:a="http://schemas.openxmlformats.org/drawingml/2006/main">
            <a:rect l="l" t="t" r="r" b="b"/>
            <a:pathLst>
              <a:path w="3660460" h="292837">
                <a:moveTo>
                  <a:pt x="0" y="0"/>
                </a:moveTo>
                <a:lnTo>
                  <a:pt x="3660460" y="0"/>
                </a:lnTo>
                <a:lnTo>
                  <a:pt x="3660460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93562" r="0" b="-193562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4CB43418-9ACD-4721-A9DB-3B7E4ABE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2855157"/>
            <a:ext cx="2745343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FULL-STACK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81402807-C685-4186-BD04-822B7871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3239510"/>
            <a:ext cx="7137895" cy="343169"/>
          </a:xfrm>
          <a:custGeom xmlns:a="http://schemas.openxmlformats.org/drawingml/2006/main">
            <a:rect l="l" t="t" r="r" b="b"/>
            <a:pathLst>
              <a:path w="9517195" h="457559">
                <a:moveTo>
                  <a:pt x="0" y="0"/>
                </a:moveTo>
                <a:lnTo>
                  <a:pt x="9517195" y="0"/>
                </a:lnTo>
                <a:lnTo>
                  <a:pt x="9517195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55287" r="0" b="-355286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451B43-E69C-4954-8860-830A35F4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3239510"/>
            <a:ext cx="7137892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666"/>
              </a:lnSpc>
              <a:spcBef>
                <a:spcPts val="0"/>
              </a:spcBef>
              <a:buNone/>
            </a:pPr>
            <a:r>
              <a:rPr sz="222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실시간 협업형 맛집추천 웹 서비스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CE9E6EC6-2F39-4C7F-AF77-5B386A3C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3788578"/>
            <a:ext cx="10638210" cy="549069"/>
          </a:xfrm>
          <a:custGeom xmlns:a="http://schemas.openxmlformats.org/drawingml/2006/main">
            <a:rect l="l" t="t" r="r" b="b"/>
            <a:pathLst>
              <a:path w="14184281" h="732092">
                <a:moveTo>
                  <a:pt x="0" y="0"/>
                </a:moveTo>
                <a:lnTo>
                  <a:pt x="14184281" y="0"/>
                </a:lnTo>
                <a:lnTo>
                  <a:pt x="14184281" y="732092"/>
                </a:lnTo>
                <a:lnTo>
                  <a:pt x="0" y="7320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27522" r="0" b="-327522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F99793DE-2C2C-4B98-BC47-90ED8AE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3781435"/>
            <a:ext cx="10638215" cy="5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spcBef>
                <a:spcPts val="0"/>
              </a:spcBef>
              <a:buNone/>
            </a:pPr>
            <a:r>
              <a:rPr sz="1591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React/Axios와 Spring Boot REST API로 데이터를 연결하고, STOMP/SockJS를 통해 방별 채팅·준비·투표 이벤트를 실시간으로 동기화.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0AC9E1E1-0B1E-4583-83C5-C2B04BE9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191" y="4506563"/>
            <a:ext cx="211264" cy="211264"/>
          </a:xfrm>
          <a:custGeom xmlns:a="http://schemas.openxmlformats.org/drawingml/2006/main">
            <a:rect l="l" t="t" r="r" b="b"/>
            <a:pathLst>
              <a:path w="281686" h="281686">
                <a:moveTo>
                  <a:pt x="0" y="140843"/>
                </a:moveTo>
                <a:cubicBezTo>
                  <a:pt x="0" y="62992"/>
                  <a:pt x="62992" y="0"/>
                  <a:pt x="140843" y="0"/>
                </a:cubicBezTo>
                <a:cubicBezTo>
                  <a:pt x="218694" y="0"/>
                  <a:pt x="281686" y="62992"/>
                  <a:pt x="281686" y="140843"/>
                </a:cubicBezTo>
                <a:cubicBezTo>
                  <a:pt x="281686" y="218694"/>
                  <a:pt x="218567" y="281686"/>
                  <a:pt x="140843" y="281686"/>
                </a:cubicBezTo>
                <a:cubicBezTo>
                  <a:pt x="63119" y="281686"/>
                  <a:pt x="0" y="218567"/>
                  <a:pt x="0" y="1408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65">
            <a:solidFill>
              <a:srgbClr val="9CA3AF"/>
            </a:solidFill>
            <a:prstDash val="soli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D873CE40-EF00-4B57-8027-5019307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4474912"/>
            <a:ext cx="2745344" cy="219628"/>
          </a:xfrm>
          <a:custGeom xmlns:a="http://schemas.openxmlformats.org/drawingml/2006/main">
            <a:rect l="l" t="t" r="r" b="b"/>
            <a:pathLst>
              <a:path w="3660460" h="292837">
                <a:moveTo>
                  <a:pt x="0" y="0"/>
                </a:moveTo>
                <a:lnTo>
                  <a:pt x="3660460" y="0"/>
                </a:lnTo>
                <a:lnTo>
                  <a:pt x="3660460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93562" r="0" b="-193562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624BE615-EC3D-49DC-AD7C-7A9F5B2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4474912"/>
            <a:ext cx="2745343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DATA / ML</a:t>
            </a:r>
          </a:p>
        </p:txBody>
      </p:sp>
      <p:sp>
        <p:nvSpPr>
          <p:cNvPr id="62" name="Freeform 62">
            <a:extLst xmlns:a="http://schemas.openxmlformats.org/drawingml/2006/main">
              <a:ext uri="{FF2B5EF4-FFF2-40B4-BE49-F238E27FC236}">
                <a16:creationId xmlns:a16="http://schemas.microsoft.com/office/drawing/2014/main" id="{3F639454-2836-4218-A6B0-70F7BE8B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4859264"/>
            <a:ext cx="7137895" cy="343169"/>
          </a:xfrm>
          <a:custGeom xmlns:a="http://schemas.openxmlformats.org/drawingml/2006/main">
            <a:rect l="l" t="t" r="r" b="b"/>
            <a:pathLst>
              <a:path w="9517195" h="457559">
                <a:moveTo>
                  <a:pt x="0" y="0"/>
                </a:moveTo>
                <a:lnTo>
                  <a:pt x="9517195" y="0"/>
                </a:lnTo>
                <a:lnTo>
                  <a:pt x="9517195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55287" r="0" b="-355286"/>
            </a:stretch>
          </a:blipFill>
        </p:spPr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0339D6FE-1064-47A7-9BF1-EA00FF82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4859264"/>
            <a:ext cx="7137892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666"/>
              </a:lnSpc>
              <a:spcBef>
                <a:spcPts val="0"/>
              </a:spcBef>
              <a:buNone/>
            </a:pPr>
            <a:r>
              <a:rPr sz="222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PM2.5 예측 모델링 · 대시보드</a:t>
            </a:r>
          </a:p>
        </p:txBody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370C13E3-3D06-4026-8511-22B7CB62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5408333"/>
            <a:ext cx="10638210" cy="549069"/>
          </a:xfrm>
          <a:custGeom xmlns:a="http://schemas.openxmlformats.org/drawingml/2006/main">
            <a:rect l="l" t="t" r="r" b="b"/>
            <a:pathLst>
              <a:path w="14184281" h="732092">
                <a:moveTo>
                  <a:pt x="0" y="0"/>
                </a:moveTo>
                <a:lnTo>
                  <a:pt x="14184281" y="0"/>
                </a:lnTo>
                <a:lnTo>
                  <a:pt x="14184281" y="732092"/>
                </a:lnTo>
                <a:lnTo>
                  <a:pt x="0" y="7320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27522" r="0" b="-327522"/>
            </a:stretch>
          </a:blipFill>
        </p:spPr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9EF634FD-9C48-4A43-8A62-0909614E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5401190"/>
            <a:ext cx="10638215" cy="5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spcBef>
                <a:spcPts val="0"/>
              </a:spcBef>
              <a:buNone/>
            </a:pPr>
            <a:r>
              <a:rPr sz="1591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대기질·기상 데이터 전처리와 피처 엔지니어링 후 HGBR·RandomForest·XGBoost를 비교하고, MAE·MSE·R²로 검증해 예측 모델을 선택.</a:t>
            </a:r>
          </a:p>
        </p:txBody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4760D31C-A3B2-4C46-BA2A-9711A2D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191" y="6126309"/>
            <a:ext cx="211264" cy="211264"/>
          </a:xfrm>
          <a:custGeom xmlns:a="http://schemas.openxmlformats.org/drawingml/2006/main">
            <a:rect l="l" t="t" r="r" b="b"/>
            <a:pathLst>
              <a:path w="281686" h="281686">
                <a:moveTo>
                  <a:pt x="0" y="140843"/>
                </a:moveTo>
                <a:cubicBezTo>
                  <a:pt x="0" y="62992"/>
                  <a:pt x="62992" y="0"/>
                  <a:pt x="140843" y="0"/>
                </a:cubicBezTo>
                <a:cubicBezTo>
                  <a:pt x="218694" y="0"/>
                  <a:pt x="281686" y="62992"/>
                  <a:pt x="281686" y="140843"/>
                </a:cubicBezTo>
                <a:cubicBezTo>
                  <a:pt x="281686" y="218694"/>
                  <a:pt x="218567" y="281686"/>
                  <a:pt x="140843" y="281686"/>
                </a:cubicBezTo>
                <a:cubicBezTo>
                  <a:pt x="63119" y="281686"/>
                  <a:pt x="0" y="218567"/>
                  <a:pt x="0" y="1408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65">
            <a:solidFill>
              <a:srgbClr val="9CA3AF"/>
            </a:solidFill>
            <a:prstDash val="solid"/>
          </a:ln>
        </p:spPr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5A7B4E03-5AF6-412E-8027-728D13B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6094666"/>
            <a:ext cx="2745344" cy="219628"/>
          </a:xfrm>
          <a:custGeom xmlns:a="http://schemas.openxmlformats.org/drawingml/2006/main">
            <a:rect l="l" t="t" r="r" b="b"/>
            <a:pathLst>
              <a:path w="3660460" h="292837">
                <a:moveTo>
                  <a:pt x="0" y="0"/>
                </a:moveTo>
                <a:lnTo>
                  <a:pt x="3660460" y="0"/>
                </a:lnTo>
                <a:lnTo>
                  <a:pt x="3660460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93562" r="0" b="-193562"/>
            </a:stretch>
          </a:blipFill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1D3E9A24-85E2-4E27-9F10-3118D974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6094666"/>
            <a:ext cx="2745343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DEEP LEARNING</a:t>
            </a:r>
          </a:p>
        </p:txBody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3DBBEC7F-3694-4A7D-9266-2FE36774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6479010"/>
            <a:ext cx="7137895" cy="343169"/>
          </a:xfrm>
          <a:custGeom xmlns:a="http://schemas.openxmlformats.org/drawingml/2006/main">
            <a:rect l="l" t="t" r="r" b="b"/>
            <a:pathLst>
              <a:path w="9517195" h="457559">
                <a:moveTo>
                  <a:pt x="0" y="0"/>
                </a:moveTo>
                <a:lnTo>
                  <a:pt x="9517195" y="0"/>
                </a:lnTo>
                <a:lnTo>
                  <a:pt x="9517195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55287" r="0" b="-355286"/>
            </a:stretch>
          </a:blipFill>
        </p:spPr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FA4300CD-B7C6-4E12-A67F-DE540EC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6479010"/>
            <a:ext cx="7137892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666"/>
              </a:lnSpc>
              <a:spcBef>
                <a:spcPts val="0"/>
              </a:spcBef>
              <a:buNone/>
            </a:pPr>
            <a:r>
              <a:rPr sz="222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YOLOv8 기반 피부 이미지 진단</a:t>
            </a:r>
          </a:p>
        </p:txBody>
      </p:sp>
      <p:sp>
        <p:nvSpPr>
          <p:cNvPr id="76" name="Freeform 76">
            <a:extLst xmlns:a="http://schemas.openxmlformats.org/drawingml/2006/main">
              <a:ext uri="{FF2B5EF4-FFF2-40B4-BE49-F238E27FC236}">
                <a16:creationId xmlns:a16="http://schemas.microsoft.com/office/drawing/2014/main" id="{541DB337-0488-47B5-978D-85863F9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7028078"/>
            <a:ext cx="10638210" cy="549069"/>
          </a:xfrm>
          <a:custGeom xmlns:a="http://schemas.openxmlformats.org/drawingml/2006/main">
            <a:rect l="l" t="t" r="r" b="b"/>
            <a:pathLst>
              <a:path w="14184281" h="732092">
                <a:moveTo>
                  <a:pt x="0" y="0"/>
                </a:moveTo>
                <a:lnTo>
                  <a:pt x="14184281" y="0"/>
                </a:lnTo>
                <a:lnTo>
                  <a:pt x="14184281" y="732092"/>
                </a:lnTo>
                <a:lnTo>
                  <a:pt x="0" y="7320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27522" r="0" b="-327522"/>
            </a:stretch>
          </a:blipFill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04C88826-AEB2-4FAD-8956-081B50BF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7020935"/>
            <a:ext cx="10638215" cy="5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spcBef>
                <a:spcPts val="0"/>
              </a:spcBef>
              <a:buNone/>
            </a:pPr>
            <a:r>
              <a:rPr sz="1591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YOLOv8 Segmentation·OpenCV로 검출 결과와 주석 이미지를 생성하고 Flask 추론 API를 Spring Boot·MySQL 분석 이력과 연동.</a:t>
            </a:r>
          </a:p>
        </p:txBody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D5392E96-98D8-458A-85D9-72E3BFD6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191" y="7746063"/>
            <a:ext cx="211264" cy="211264"/>
          </a:xfrm>
          <a:custGeom xmlns:a="http://schemas.openxmlformats.org/drawingml/2006/main">
            <a:rect l="l" t="t" r="r" b="b"/>
            <a:pathLst>
              <a:path w="281686" h="281686">
                <a:moveTo>
                  <a:pt x="0" y="140843"/>
                </a:moveTo>
                <a:cubicBezTo>
                  <a:pt x="0" y="62992"/>
                  <a:pt x="62992" y="0"/>
                  <a:pt x="140843" y="0"/>
                </a:cubicBezTo>
                <a:cubicBezTo>
                  <a:pt x="218694" y="0"/>
                  <a:pt x="281686" y="62992"/>
                  <a:pt x="281686" y="140843"/>
                </a:cubicBezTo>
                <a:cubicBezTo>
                  <a:pt x="281686" y="218694"/>
                  <a:pt x="218567" y="281686"/>
                  <a:pt x="140843" y="281686"/>
                </a:cubicBezTo>
                <a:cubicBezTo>
                  <a:pt x="63119" y="281686"/>
                  <a:pt x="0" y="218567"/>
                  <a:pt x="0" y="1408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065">
            <a:solidFill>
              <a:srgbClr val="9CA3AF"/>
            </a:solidFill>
            <a:prstDash val="solid"/>
          </a:ln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0A67E024-59B0-437E-A2BC-52F56B58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7714421"/>
            <a:ext cx="2745344" cy="219628"/>
          </a:xfrm>
          <a:custGeom xmlns:a="http://schemas.openxmlformats.org/drawingml/2006/main">
            <a:rect l="l" t="t" r="r" b="b"/>
            <a:pathLst>
              <a:path w="3660460" h="292837">
                <a:moveTo>
                  <a:pt x="0" y="0"/>
                </a:moveTo>
                <a:lnTo>
                  <a:pt x="3660460" y="0"/>
                </a:lnTo>
                <a:lnTo>
                  <a:pt x="3660460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93562" r="0" b="-193562"/>
            </a:stretch>
          </a:blipFill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E852CFFC-BDC6-4298-87AD-AF3F6C0C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7714421"/>
            <a:ext cx="2745343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NLP · LLM API</a:t>
            </a:r>
          </a:p>
        </p:txBody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A75E7D00-3F06-4B90-B3F0-8BC8B0AD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8098765"/>
            <a:ext cx="7137895" cy="343169"/>
          </a:xfrm>
          <a:custGeom xmlns:a="http://schemas.openxmlformats.org/drawingml/2006/main">
            <a:rect l="l" t="t" r="r" b="b"/>
            <a:pathLst>
              <a:path w="9517195" h="457559">
                <a:moveTo>
                  <a:pt x="0" y="0"/>
                </a:moveTo>
                <a:lnTo>
                  <a:pt x="9517195" y="0"/>
                </a:lnTo>
                <a:lnTo>
                  <a:pt x="9517195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55287" r="0" b="-355286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396EF603-79F1-4EF0-A056-F6FDF2C2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8098765"/>
            <a:ext cx="7137892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2666"/>
              </a:lnSpc>
              <a:spcBef>
                <a:spcPts val="0"/>
              </a:spcBef>
              <a:buNone/>
            </a:pPr>
            <a:r>
              <a:rPr sz="222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자연어 추천 · 텍스트 생성 서비스</a:t>
            </a:r>
          </a:p>
        </p:txBody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A31A351D-79C1-4C0D-8FD7-551831AE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8647833"/>
            <a:ext cx="10638210" cy="549069"/>
          </a:xfrm>
          <a:custGeom xmlns:a="http://schemas.openxmlformats.org/drawingml/2006/main">
            <a:rect l="l" t="t" r="r" b="b"/>
            <a:pathLst>
              <a:path w="14184281" h="732092">
                <a:moveTo>
                  <a:pt x="0" y="0"/>
                </a:moveTo>
                <a:lnTo>
                  <a:pt x="14184281" y="0"/>
                </a:lnTo>
                <a:lnTo>
                  <a:pt x="14184281" y="732092"/>
                </a:lnTo>
                <a:lnTo>
                  <a:pt x="0" y="73209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327522" r="0" b="-327522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E556A831-DAEF-460D-B688-0F480403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059" y="8640690"/>
            <a:ext cx="10638215" cy="5562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09"/>
              </a:lnSpc>
              <a:spcBef>
                <a:spcPts val="0"/>
              </a:spcBef>
              <a:buNone/>
            </a:pPr>
            <a:r>
              <a:rPr sz="1591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SentenceTransformer와 코사인 유사도·규칙 가중치를 결합한 추천 API, Flask·ChatGPT API 기반 Letter AI 텍스트 생성 기능 구현.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A9EB0E06-A4D4-44B9-8367-E5B0DF39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700e3389b1845bd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697F4967-B7F8-4FD1-8D92-5240D599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05</a:t>
            </a:r>
          </a:p>
        </p:txBody>
      </p:sp>
    </p:spTree>
    <p:extLst>
      <p:ext uri="{BB962C8B-B14F-4D97-AF65-F5344CB8AC3E}">
        <p14:creationId xmlns:p14="http://schemas.microsoft.com/office/powerpoint/2010/main" val="1209073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AF7E163-B4F0-4F24-8C8A-0CFF6B95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8129" y="-38129"/>
            <a:ext cx="18378106" cy="76295"/>
          </a:xfrm>
          <a:custGeom xmlns:a="http://schemas.openxmlformats.org/drawingml/2006/main">
            <a:rect l="l" t="t" r="r" b="b"/>
            <a:pathLst>
              <a:path w="24504142" h="101727">
                <a:moveTo>
                  <a:pt x="0" y="0"/>
                </a:moveTo>
                <a:lnTo>
                  <a:pt x="24504142" y="10172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4643605" r="0" b="-4643555"/>
            </a:stretch>
          </a:blipFill>
          <a:ln xmlns:a="http://schemas.openxmlformats.org/drawingml/2006/main" w="76260">
            <a:solidFill>
              <a:srgbClr val="4B2E34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F56E2FD-46F6-4D2D-82FD-22B8E8A2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15" y="539534"/>
            <a:ext cx="156400" cy="156400"/>
          </a:xfrm>
          <a:custGeom xmlns:a="http://schemas.openxmlformats.org/drawingml/2006/main">
            <a:rect l="l" t="t" r="r" b="b"/>
            <a:pathLst>
              <a:path w="208534" h="208534">
                <a:moveTo>
                  <a:pt x="0" y="104267"/>
                </a:moveTo>
                <a:cubicBezTo>
                  <a:pt x="0" y="46609"/>
                  <a:pt x="46609" y="0"/>
                  <a:pt x="104267" y="0"/>
                </a:cubicBezTo>
                <a:cubicBezTo>
                  <a:pt x="161925" y="0"/>
                  <a:pt x="208534" y="46609"/>
                  <a:pt x="208534" y="104267"/>
                </a:cubicBezTo>
                <a:cubicBezTo>
                  <a:pt x="208534" y="161925"/>
                  <a:pt x="161925" y="208534"/>
                  <a:pt x="104267" y="208534"/>
                </a:cubicBezTo>
                <a:cubicBezTo>
                  <a:pt x="46609" y="208534"/>
                  <a:pt x="0" y="161798"/>
                  <a:pt x="0" y="104267"/>
                </a:cubicBezTo>
                <a:close/>
              </a:path>
            </a:pathLst>
          </a:custGeom>
          <a:solidFill xmlns:a="http://schemas.openxmlformats.org/drawingml/2006/main">
            <a:srgbClr val="2563EB"/>
          </a:solidFill>
          <a:ln xmlns:a="http://schemas.openxmlformats.org/drawingml/2006/main" w="19065">
            <a:solidFill>
              <a:srgbClr val="2563EB"/>
            </a:solidFill>
            <a:prstDash val="solid"/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0056195-077E-42A7-9DC9-2E49D48B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9255"/>
            <a:ext cx="933416" cy="343169"/>
          </a:xfrm>
          <a:custGeom xmlns:a="http://schemas.openxmlformats.org/drawingml/2006/main">
            <a:rect l="l" t="t" r="r" b="b"/>
            <a:pathLst>
              <a:path w="1244556" h="457559">
                <a:moveTo>
                  <a:pt x="0" y="0"/>
                </a:moveTo>
                <a:lnTo>
                  <a:pt x="1244556" y="0"/>
                </a:lnTo>
                <a:lnTo>
                  <a:pt x="124455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999" r="0" b="-29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67A955C-C627-4626-A58B-038E277F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314" y="432112"/>
            <a:ext cx="933421" cy="3503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</a:pPr>
            <a:r>
              <a:rPr sz="1951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김수빈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7434F53-9DCE-4E18-B05B-22BFDC2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5" cy="315715"/>
          </a:xfrm>
          <a:custGeom xmlns:a="http://schemas.openxmlformats.org/drawingml/2006/main">
            <a:rect l="l" t="t" r="r" b="b"/>
            <a:pathLst>
              <a:path w="1921741" h="420953">
                <a:moveTo>
                  <a:pt x="0" y="0"/>
                </a:moveTo>
                <a:lnTo>
                  <a:pt x="1921741" y="0"/>
                </a:lnTo>
                <a:lnTo>
                  <a:pt x="1921741" y="420953"/>
                </a:lnTo>
                <a:lnTo>
                  <a:pt x="0" y="42095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38953" r="0" b="-38953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104E2B5-63BF-471B-AD5B-37FE407A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3726" y="466706"/>
            <a:ext cx="1441304" cy="3157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</a:pPr>
            <a:r>
              <a:rPr sz="1576" b="1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· developer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A832CCA-8695-47F0-8E67-41C72FB3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880B5C8-933B-4602-9131-9B8CA2E1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000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About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EC9A062-EBBF-4838-8910-B9510B25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7B47B15-6810-4A5B-989D-4B5099A4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6411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Skills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203B74BB-6C02-4CD2-81B7-127CB1F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586008A-8798-4875-8EC4-84D3EEBE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1813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Projects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ED2D95C5-7B95-4DEB-BFBE-D22FF21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6E021932-A7CD-445E-8F5B-1E4F117C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7216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Career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7455E8D-6937-463F-8595-509D62BE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87"/>
          </a:xfrm>
          <a:custGeom xmlns:a="http://schemas.openxmlformats.org/drawingml/2006/main">
            <a:rect l="l" t="t" r="r" b="b"/>
            <a:pathLst>
              <a:path w="1317765" h="402651">
                <a:moveTo>
                  <a:pt x="0" y="0"/>
                </a:moveTo>
                <a:lnTo>
                  <a:pt x="1317765" y="0"/>
                </a:lnTo>
                <a:lnTo>
                  <a:pt x="1317765" y="402651"/>
                </a:lnTo>
                <a:lnTo>
                  <a:pt x="0" y="4026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3768" r="0" b="-137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26EE9D8-2D9C-4C24-BABA-093B038D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32627" y="480431"/>
            <a:ext cx="988324" cy="3019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91"/>
              </a:lnSpc>
              <a:buNone/>
            </a:pPr>
            <a:r>
              <a:rPr sz="1576">
                <a:solidFill>
                  <a:srgbClr val="2563EB"/>
                </a:solidFill>
                <a:latin typeface="Mandali"/>
                <a:ea typeface="Mandali"/>
                <a:cs typeface="Mandali"/>
              </a:rPr>
              <a:t>Contact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15D66701-2A85-4BC7-B587-AB649124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88004" y="306181"/>
            <a:ext cx="1048512" cy="540638"/>
          </a:xfrm>
          <a:custGeom xmlns:a="http://schemas.openxmlformats.org/drawingml/2006/main">
            <a:rect l="l" t="t" r="r" b="b"/>
            <a:pathLst>
              <a:path w="1398016" h="720852">
                <a:moveTo>
                  <a:pt x="0" y="113792"/>
                </a:moveTo>
                <a:cubicBezTo>
                  <a:pt x="0" y="50927"/>
                  <a:pt x="50927" y="0"/>
                  <a:pt x="113792" y="0"/>
                </a:cubicBezTo>
                <a:lnTo>
                  <a:pt x="1284224" y="0"/>
                </a:lnTo>
                <a:cubicBezTo>
                  <a:pt x="1347089" y="0"/>
                  <a:pt x="1398016" y="50927"/>
                  <a:pt x="1398016" y="113792"/>
                </a:cubicBezTo>
                <a:lnTo>
                  <a:pt x="1398016" y="607060"/>
                </a:lnTo>
                <a:cubicBezTo>
                  <a:pt x="1398016" y="669925"/>
                  <a:pt x="1347089" y="720852"/>
                  <a:pt x="1284224" y="720852"/>
                </a:cubicBezTo>
                <a:lnTo>
                  <a:pt x="113792" y="720852"/>
                </a:lnTo>
                <a:cubicBezTo>
                  <a:pt x="50927" y="720852"/>
                  <a:pt x="0" y="669925"/>
                  <a:pt x="0" y="607060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7620E6F-2F24-4E63-9E16-C9ABA6D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52980"/>
            <a:ext cx="494162" cy="192173"/>
          </a:xfrm>
          <a:custGeom xmlns:a="http://schemas.openxmlformats.org/drawingml/2006/main">
            <a:rect l="l" t="t" r="r" b="b"/>
            <a:pathLst>
              <a:path w="658883" h="256232">
                <a:moveTo>
                  <a:pt x="0" y="0"/>
                </a:moveTo>
                <a:lnTo>
                  <a:pt x="658883" y="0"/>
                </a:lnTo>
                <a:lnTo>
                  <a:pt x="658883" y="256232"/>
                </a:lnTo>
                <a:lnTo>
                  <a:pt x="0" y="256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04" r="0" b="-10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5F7AD96-5E98-4CC1-AD52-EF1ACDD5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58343" y="445837"/>
            <a:ext cx="494167" cy="199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11"/>
              </a:lnSpc>
              <a:buNone/>
            </a:pPr>
            <a:r>
              <a:rPr sz="1426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이력서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C5C1E9C5-8D58-469A-ABD8-AB30DDB4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715" y="1092422"/>
            <a:ext cx="18313240" cy="11430"/>
          </a:xfrm>
          <a:custGeom xmlns:a="http://schemas.openxmlformats.org/drawingml/2006/main">
            <a:rect l="l" t="t" r="r" b="b"/>
            <a:pathLst>
              <a:path w="24417655" h="15240">
                <a:moveTo>
                  <a:pt x="0" y="0"/>
                </a:moveTo>
                <a:lnTo>
                  <a:pt x="24417655" y="1524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31169112" r="0" b="-31169196"/>
            </a:stretch>
          </a:blipFill>
          <a:ln xmlns:a="http://schemas.openxmlformats.org/drawingml/2006/main" w="11439">
            <a:solidFill>
              <a:srgbClr val="E5E7EB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848A41A-CBA1-48D4-8CE3-0C57C76B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4" cy="274529"/>
          </a:xfrm>
          <a:custGeom xmlns:a="http://schemas.openxmlformats.org/drawingml/2006/main">
            <a:rect l="l" t="t" r="r" b="b"/>
            <a:pathLst>
              <a:path w="4392552" h="366040">
                <a:moveTo>
                  <a:pt x="0" y="0"/>
                </a:moveTo>
                <a:lnTo>
                  <a:pt x="4392552" y="0"/>
                </a:lnTo>
                <a:lnTo>
                  <a:pt x="4392552" y="366040"/>
                </a:lnTo>
                <a:lnTo>
                  <a:pt x="0" y="36604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83822" r="0" b="-183825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1AA8016-32FA-4D09-A23C-FF5C7759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537392"/>
            <a:ext cx="3294412" cy="2745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801"/>
              </a:lnSpc>
              <a:spcBef>
                <a:spcPts val="0"/>
              </a:spcBef>
              <a:buNone/>
            </a:pPr>
            <a:r>
              <a:rPr sz="150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05 / MORE PROJECTS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70E5BE1-391E-4EE2-9FF5-C5A1BEF8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4" cy="485778"/>
          </a:xfrm>
          <a:custGeom xmlns:a="http://schemas.openxmlformats.org/drawingml/2006/main">
            <a:rect l="l" t="t" r="r" b="b"/>
            <a:pathLst>
              <a:path w="6680339" h="647705">
                <a:moveTo>
                  <a:pt x="0" y="0"/>
                </a:moveTo>
                <a:lnTo>
                  <a:pt x="6680339" y="0"/>
                </a:lnTo>
                <a:lnTo>
                  <a:pt x="6680339" y="647705"/>
                </a:lnTo>
                <a:lnTo>
                  <a:pt x="0" y="64770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51516" r="0" b="-150415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CD2BCFAA-B3F7-4910-9670-0586BF44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949196"/>
            <a:ext cx="5010255" cy="485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873"/>
              </a:lnSpc>
              <a:spcBef>
                <a:spcPts val="0"/>
              </a:spcBef>
              <a:buNone/>
            </a:pPr>
            <a:r>
              <a:rPr sz="3227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추가 프로젝트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6F21CED-8112-4C84-B20D-96CC6FA7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2806351"/>
            <a:ext cx="10104405" cy="5807964"/>
          </a:xfrm>
          <a:custGeom xmlns:a="http://schemas.openxmlformats.org/drawingml/2006/main">
            <a:rect l="l" t="t" r="r" b="b"/>
            <a:pathLst>
              <a:path w="13472540" h="7743952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13289026" y="0"/>
                </a:lnTo>
                <a:cubicBezTo>
                  <a:pt x="13390372" y="0"/>
                  <a:pt x="13472540" y="82169"/>
                  <a:pt x="13472540" y="183515"/>
                </a:cubicBezTo>
                <a:lnTo>
                  <a:pt x="13472540" y="7560437"/>
                </a:lnTo>
                <a:cubicBezTo>
                  <a:pt x="13472540" y="7661783"/>
                  <a:pt x="13390372" y="7743952"/>
                  <a:pt x="13289026" y="7743952"/>
                </a:cubicBezTo>
                <a:lnTo>
                  <a:pt x="183515" y="7743952"/>
                </a:lnTo>
                <a:cubicBezTo>
                  <a:pt x="82169" y="7743952"/>
                  <a:pt x="0" y="7661783"/>
                  <a:pt x="0" y="756043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684E3578-E0FF-4F6D-8F69-53739B64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3253235"/>
            <a:ext cx="1372672" cy="219628"/>
          </a:xfrm>
          <a:custGeom xmlns:a="http://schemas.openxmlformats.org/drawingml/2006/main">
            <a:rect l="l" t="t" r="r" b="b"/>
            <a:pathLst>
              <a:path w="1830230" h="292837">
                <a:moveTo>
                  <a:pt x="0" y="0"/>
                </a:moveTo>
                <a:lnTo>
                  <a:pt x="1830230" y="0"/>
                </a:lnTo>
                <a:lnTo>
                  <a:pt x="1830230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71781" r="0" b="-71781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A8AE698A-7BF5-4F64-8609-AF212967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3253235"/>
            <a:ext cx="1372676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21"/>
              </a:lnSpc>
              <a:spcBef>
                <a:spcPts val="0"/>
              </a:spcBef>
              <a:buNone/>
            </a:pPr>
            <a:r>
              <a:rPr sz="1351" u="none">
                <a:solidFill>
                  <a:srgbClr val="9CA3AF"/>
                </a:solidFill>
                <a:latin typeface="Mandali"/>
                <a:ea typeface="Mandali"/>
                <a:cs typeface="Mandali"/>
              </a:rPr>
              <a:t>구분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E70E21F0-B0EF-4EFB-BB3B-8591AE6E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3253235"/>
            <a:ext cx="2882612" cy="219628"/>
          </a:xfrm>
          <a:custGeom xmlns:a="http://schemas.openxmlformats.org/drawingml/2006/main">
            <a:rect l="l" t="t" r="r" b="b"/>
            <a:pathLst>
              <a:path w="3843483" h="292837">
                <a:moveTo>
                  <a:pt x="0" y="0"/>
                </a:moveTo>
                <a:lnTo>
                  <a:pt x="3843483" y="0"/>
                </a:lnTo>
                <a:lnTo>
                  <a:pt x="3843483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05740" r="0" b="-205740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D22508B2-E3D2-4836-84A0-96F7023B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3253235"/>
            <a:ext cx="2882608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21"/>
              </a:lnSpc>
              <a:spcBef>
                <a:spcPts val="0"/>
              </a:spcBef>
              <a:buNone/>
            </a:pPr>
            <a:r>
              <a:rPr sz="1351" u="none">
                <a:solidFill>
                  <a:srgbClr val="9CA3AF"/>
                </a:solidFill>
                <a:latin typeface="Mandali"/>
                <a:ea typeface="Mandali"/>
                <a:cs typeface="Mandali"/>
              </a:rPr>
              <a:t>프로젝트명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F712AE63-92F6-4B58-9ACB-6DC68FBE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3253235"/>
            <a:ext cx="1647207" cy="219628"/>
          </a:xfrm>
          <a:custGeom xmlns:a="http://schemas.openxmlformats.org/drawingml/2006/main">
            <a:rect l="l" t="t" r="r" b="b"/>
            <a:pathLst>
              <a:path w="2196276" h="292837">
                <a:moveTo>
                  <a:pt x="0" y="0"/>
                </a:moveTo>
                <a:lnTo>
                  <a:pt x="2196276" y="0"/>
                </a:lnTo>
                <a:lnTo>
                  <a:pt x="2196276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96137" r="0" b="-96137"/>
            </a:stretch>
          </a:blip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5DE6B81B-258F-4CD3-8378-8EB1D0A9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3253235"/>
            <a:ext cx="1647206" cy="2196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21"/>
              </a:lnSpc>
              <a:spcBef>
                <a:spcPts val="0"/>
              </a:spcBef>
              <a:buNone/>
            </a:pPr>
            <a:r>
              <a:rPr sz="1351" u="none">
                <a:solidFill>
                  <a:srgbClr val="9CA3AF"/>
                </a:solidFill>
                <a:latin typeface="Mandali"/>
                <a:ea typeface="Mandali"/>
                <a:cs typeface="Mandali"/>
              </a:rPr>
              <a:t>기술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C830DDA4-FD45-4D19-823A-FAB7E46D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694" y="3726047"/>
            <a:ext cx="10104405" cy="15240"/>
          </a:xfrm>
          <a:custGeom xmlns:a="http://schemas.openxmlformats.org/drawingml/2006/main">
            <a:rect l="l" t="t" r="r" b="b"/>
            <a:pathLst>
              <a:path w="13472540" h="20320">
                <a:moveTo>
                  <a:pt x="0" y="0"/>
                </a:moveTo>
                <a:lnTo>
                  <a:pt x="13472540" y="2032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2868902" r="0" b="-12868964"/>
            </a:stretch>
          </a:blip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21F10F8F-BFDD-4A84-8122-0E6E27E8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4145471"/>
            <a:ext cx="1235404" cy="419101"/>
          </a:xfrm>
          <a:custGeom xmlns:a="http://schemas.openxmlformats.org/drawingml/2006/main">
            <a:rect l="l" t="t" r="r" b="b"/>
            <a:pathLst>
              <a:path w="1647207" h="558802">
                <a:moveTo>
                  <a:pt x="0" y="0"/>
                </a:moveTo>
                <a:lnTo>
                  <a:pt x="1647207" y="0"/>
                </a:lnTo>
                <a:lnTo>
                  <a:pt x="1647207" y="558802"/>
                </a:lnTo>
                <a:lnTo>
                  <a:pt x="0" y="558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9597" r="0" b="14723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C1B12EB4-5FDB-4CB9-8730-FCDF64EA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4145471"/>
            <a:ext cx="1235402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DATA ANALYSIS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5B88B1A-20A3-4261-BC6E-32452C17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4145471"/>
            <a:ext cx="3843483" cy="247652"/>
          </a:xfrm>
          <a:custGeom xmlns:a="http://schemas.openxmlformats.org/drawingml/2006/main">
            <a:rect l="l" t="t" r="r" b="b"/>
            <a:pathLst>
              <a:path w="5124644" h="330203">
                <a:moveTo>
                  <a:pt x="0" y="0"/>
                </a:moveTo>
                <a:lnTo>
                  <a:pt x="5124644" y="0"/>
                </a:lnTo>
                <a:lnTo>
                  <a:pt x="5124644" y="330203"/>
                </a:lnTo>
                <a:lnTo>
                  <a:pt x="0" y="330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52516" r="0" b="-252285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B39B7C9D-4774-41E0-AEE6-2F3A8087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4145471"/>
            <a:ext cx="384348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81"/>
              </a:lnSpc>
              <a:spcBef>
                <a:spcPts val="0"/>
              </a:spcBef>
              <a:buNone/>
            </a:pPr>
            <a:r>
              <a:rPr sz="16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전처리 · EDA · 피처 엔지니어링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45B308C7-2EE9-40A9-8CAE-D7348D36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4145471"/>
            <a:ext cx="2264909" cy="233355"/>
          </a:xfrm>
          <a:custGeom xmlns:a="http://schemas.openxmlformats.org/drawingml/2006/main">
            <a:rect l="l" t="t" r="r" b="b"/>
            <a:pathLst>
              <a:path w="3019879" h="311141">
                <a:moveTo>
                  <a:pt x="0" y="0"/>
                </a:moveTo>
                <a:lnTo>
                  <a:pt x="3019879" y="0"/>
                </a:lnTo>
                <a:lnTo>
                  <a:pt x="3019879" y="311141"/>
                </a:lnTo>
                <a:lnTo>
                  <a:pt x="0" y="3111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39119" r="0" b="-139118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E1D4F246-37D3-4353-9FA9-002119D8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4138328"/>
            <a:ext cx="2264912" cy="240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11"/>
              </a:lnSpc>
              <a:spcBef>
                <a:spcPts val="0"/>
              </a:spcBef>
              <a:buNone/>
            </a:pPr>
            <a:r>
              <a:rPr sz="142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pandas · NumPy · Jupyter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DA4474D3-F31B-41FC-893D-8DFE9D3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656" y="4770225"/>
            <a:ext cx="10102500" cy="13335"/>
          </a:xfrm>
          <a:custGeom xmlns:a="http://schemas.openxmlformats.org/drawingml/2006/main">
            <a:rect l="l" t="t" r="r" b="b"/>
            <a:pathLst>
              <a:path w="13470001" h="17780">
                <a:moveTo>
                  <a:pt x="0" y="0"/>
                </a:moveTo>
                <a:lnTo>
                  <a:pt x="13470001" y="1778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4711676" r="0" b="-14711747"/>
            </a:stretch>
          </a:blipFill>
          <a:ln xmlns:a="http://schemas.openxmlformats.org/drawingml/2006/main" w="13345">
            <a:solidFill>
              <a:srgbClr val="F0F1F3"/>
            </a:solidFill>
            <a:prstDash val="solid"/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1A09AD71-7642-4D0D-A9A8-9D94858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5133794"/>
            <a:ext cx="1235404" cy="419101"/>
          </a:xfrm>
          <a:custGeom xmlns:a="http://schemas.openxmlformats.org/drawingml/2006/main">
            <a:rect l="l" t="t" r="r" b="b"/>
            <a:pathLst>
              <a:path w="1647207" h="558802">
                <a:moveTo>
                  <a:pt x="0" y="0"/>
                </a:moveTo>
                <a:lnTo>
                  <a:pt x="1647207" y="0"/>
                </a:lnTo>
                <a:lnTo>
                  <a:pt x="1647207" y="558802"/>
                </a:lnTo>
                <a:lnTo>
                  <a:pt x="0" y="558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9597" r="0" b="14723"/>
            </a:stretch>
          </a:blipFill>
        </p:spPr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E4156413-F078-4822-B3EE-327DE4C2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5133794"/>
            <a:ext cx="1235402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MACHINE LEARNING</a:t>
            </a:r>
          </a:p>
        </p:txBody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B2308527-2264-402D-A097-455F6D8B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5133794"/>
            <a:ext cx="3843483" cy="247652"/>
          </a:xfrm>
          <a:custGeom xmlns:a="http://schemas.openxmlformats.org/drawingml/2006/main">
            <a:rect l="l" t="t" r="r" b="b"/>
            <a:pathLst>
              <a:path w="5124644" h="330203">
                <a:moveTo>
                  <a:pt x="0" y="0"/>
                </a:moveTo>
                <a:lnTo>
                  <a:pt x="5124644" y="0"/>
                </a:lnTo>
                <a:lnTo>
                  <a:pt x="5124644" y="330203"/>
                </a:lnTo>
                <a:lnTo>
                  <a:pt x="0" y="330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52516" r="0" b="-252285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D3724409-1994-44C8-BC74-7079F0D7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5133794"/>
            <a:ext cx="384348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81"/>
              </a:lnSpc>
              <a:spcBef>
                <a:spcPts val="0"/>
              </a:spcBef>
              <a:buNone/>
            </a:pPr>
            <a:r>
              <a:rPr sz="16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PM2.5 회귀 모델 비교·검증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B20E7607-DDCC-4991-9C16-C3D2224D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5133794"/>
            <a:ext cx="2264909" cy="419101"/>
          </a:xfrm>
          <a:custGeom xmlns:a="http://schemas.openxmlformats.org/drawingml/2006/main">
            <a:rect l="l" t="t" r="r" b="b"/>
            <a:pathLst>
              <a:path w="3019879" h="558802">
                <a:moveTo>
                  <a:pt x="0" y="0"/>
                </a:moveTo>
                <a:lnTo>
                  <a:pt x="3019879" y="0"/>
                </a:lnTo>
                <a:lnTo>
                  <a:pt x="3019879" y="558802"/>
                </a:lnTo>
                <a:lnTo>
                  <a:pt x="0" y="558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77461" r="0" b="-33140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DF569672-8208-426D-88D6-8BBB4339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5126651"/>
            <a:ext cx="2264912" cy="426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11"/>
              </a:lnSpc>
              <a:spcBef>
                <a:spcPts val="0"/>
              </a:spcBef>
              <a:buNone/>
            </a:pPr>
            <a:r>
              <a:rPr sz="142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HGBR · RandomForest · XGBoost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96862BCA-9216-490E-86EC-1A5CA7B4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656" y="5758548"/>
            <a:ext cx="10102500" cy="13335"/>
          </a:xfrm>
          <a:custGeom xmlns:a="http://schemas.openxmlformats.org/drawingml/2006/main">
            <a:rect l="l" t="t" r="r" b="b"/>
            <a:pathLst>
              <a:path w="13470001" h="17780">
                <a:moveTo>
                  <a:pt x="0" y="0"/>
                </a:moveTo>
                <a:lnTo>
                  <a:pt x="13470001" y="1778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4711676" r="0" b="-14711747"/>
            </a:stretch>
          </a:blipFill>
          <a:ln xmlns:a="http://schemas.openxmlformats.org/drawingml/2006/main" w="13345">
            <a:solidFill>
              <a:srgbClr val="F0F1F3"/>
            </a:solidFill>
            <a:prstDash val="solid"/>
          </a:ln>
        </p:spPr>
      </p:sp>
      <p:sp>
        <p:nvSpPr>
          <p:cNvPr id="76" name="Freeform 76">
            <a:extLst xmlns:a="http://schemas.openxmlformats.org/drawingml/2006/main">
              <a:ext uri="{FF2B5EF4-FFF2-40B4-BE49-F238E27FC236}">
                <a16:creationId xmlns:a16="http://schemas.microsoft.com/office/drawing/2014/main" id="{DF9A2267-E6AA-4364-9057-317B160D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6122118"/>
            <a:ext cx="1235404" cy="419101"/>
          </a:xfrm>
          <a:custGeom xmlns:a="http://schemas.openxmlformats.org/drawingml/2006/main">
            <a:rect l="l" t="t" r="r" b="b"/>
            <a:pathLst>
              <a:path w="1647207" h="558802">
                <a:moveTo>
                  <a:pt x="0" y="0"/>
                </a:moveTo>
                <a:lnTo>
                  <a:pt x="1647207" y="0"/>
                </a:lnTo>
                <a:lnTo>
                  <a:pt x="1647207" y="558802"/>
                </a:lnTo>
                <a:lnTo>
                  <a:pt x="0" y="558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9597" r="0" b="14723"/>
            </a:stretch>
          </a:blipFill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90E60AAA-8669-40A7-990C-C5D7BBE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6122118"/>
            <a:ext cx="1235402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DEEP LEARNING</a:t>
            </a:r>
          </a:p>
        </p:txBody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1207B5EB-AA36-4C44-A560-850D25E4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6122118"/>
            <a:ext cx="3843483" cy="247652"/>
          </a:xfrm>
          <a:custGeom xmlns:a="http://schemas.openxmlformats.org/drawingml/2006/main">
            <a:rect l="l" t="t" r="r" b="b"/>
            <a:pathLst>
              <a:path w="5124644" h="330203">
                <a:moveTo>
                  <a:pt x="0" y="0"/>
                </a:moveTo>
                <a:lnTo>
                  <a:pt x="5124644" y="0"/>
                </a:lnTo>
                <a:lnTo>
                  <a:pt x="5124644" y="330203"/>
                </a:lnTo>
                <a:lnTo>
                  <a:pt x="0" y="330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52516" r="0" b="-252285"/>
            </a:stretch>
          </a:blipFill>
        </p:spPr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DAEDC49A-58D4-4D02-B7FE-CFAD0297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6122118"/>
            <a:ext cx="384348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81"/>
              </a:lnSpc>
              <a:spcBef>
                <a:spcPts val="0"/>
              </a:spcBef>
              <a:buNone/>
            </a:pPr>
            <a:r>
              <a:rPr sz="16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피부 상태 이미지 세그멘테이션</a:t>
            </a:r>
          </a:p>
        </p:txBody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A270ABE9-FD91-4467-8464-14607FFC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6122118"/>
            <a:ext cx="2264909" cy="233355"/>
          </a:xfrm>
          <a:custGeom xmlns:a="http://schemas.openxmlformats.org/drawingml/2006/main">
            <a:rect l="l" t="t" r="r" b="b"/>
            <a:pathLst>
              <a:path w="3019879" h="311141">
                <a:moveTo>
                  <a:pt x="0" y="0"/>
                </a:moveTo>
                <a:lnTo>
                  <a:pt x="3019879" y="0"/>
                </a:lnTo>
                <a:lnTo>
                  <a:pt x="3019879" y="311141"/>
                </a:lnTo>
                <a:lnTo>
                  <a:pt x="0" y="3111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39119" r="0" b="-139118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33D380BC-4359-48B8-9BC5-06DE1ECA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6114975"/>
            <a:ext cx="2264912" cy="240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11"/>
              </a:lnSpc>
              <a:spcBef>
                <a:spcPts val="0"/>
              </a:spcBef>
              <a:buNone/>
            </a:pPr>
            <a:r>
              <a:rPr sz="142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YOLOv8 · Flask · OpenCV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FCF9E0BF-BE03-4A4B-A8B4-5B42DA94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656" y="6746872"/>
            <a:ext cx="10102500" cy="13335"/>
          </a:xfrm>
          <a:custGeom xmlns:a="http://schemas.openxmlformats.org/drawingml/2006/main">
            <a:rect l="l" t="t" r="r" b="b"/>
            <a:pathLst>
              <a:path w="13470001" h="17780">
                <a:moveTo>
                  <a:pt x="0" y="0"/>
                </a:moveTo>
                <a:lnTo>
                  <a:pt x="13470001" y="1778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4711676" r="0" b="-14711747"/>
            </a:stretch>
          </a:blipFill>
          <a:ln xmlns:a="http://schemas.openxmlformats.org/drawingml/2006/main" w="13345">
            <a:solidFill>
              <a:srgbClr val="F0F1F3"/>
            </a:solidFill>
            <a:prstDash val="solid"/>
          </a:ln>
        </p:spPr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6FD288EE-7A7C-4F21-980F-33736024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7110441"/>
            <a:ext cx="1235404" cy="233355"/>
          </a:xfrm>
          <a:custGeom xmlns:a="http://schemas.openxmlformats.org/drawingml/2006/main">
            <a:rect l="l" t="t" r="r" b="b"/>
            <a:pathLst>
              <a:path w="1647207" h="311141">
                <a:moveTo>
                  <a:pt x="0" y="0"/>
                </a:moveTo>
                <a:lnTo>
                  <a:pt x="1647207" y="0"/>
                </a:lnTo>
                <a:lnTo>
                  <a:pt x="1647207" y="311141"/>
                </a:lnTo>
                <a:lnTo>
                  <a:pt x="0" y="31114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53155" r="0" b="-53154"/>
            </a:stretch>
          </a:blipFill>
        </p:spPr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D343D788-F23B-4AB8-A8AC-737F687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7110441"/>
            <a:ext cx="1235402" cy="2333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NLP · LLM API</a:t>
            </a:r>
          </a:p>
        </p:txBody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01791889-DF2C-4383-BCDB-4BC1B4C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7110441"/>
            <a:ext cx="3843483" cy="247652"/>
          </a:xfrm>
          <a:custGeom xmlns:a="http://schemas.openxmlformats.org/drawingml/2006/main">
            <a:rect l="l" t="t" r="r" b="b"/>
            <a:pathLst>
              <a:path w="5124644" h="330203">
                <a:moveTo>
                  <a:pt x="0" y="0"/>
                </a:moveTo>
                <a:lnTo>
                  <a:pt x="5124644" y="0"/>
                </a:lnTo>
                <a:lnTo>
                  <a:pt x="5124644" y="330203"/>
                </a:lnTo>
                <a:lnTo>
                  <a:pt x="0" y="330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52516" r="0" b="-252285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3A80CD40-2116-4940-BB45-A2D2D08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7110441"/>
            <a:ext cx="384348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81"/>
              </a:lnSpc>
              <a:spcBef>
                <a:spcPts val="0"/>
              </a:spcBef>
              <a:buNone/>
            </a:pPr>
            <a:r>
              <a:rPr sz="16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자연어 추천 · Letter AI 텍스트 생성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D5502265-D372-443A-8309-4C93CE56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7110441"/>
            <a:ext cx="2264909" cy="419101"/>
          </a:xfrm>
          <a:custGeom xmlns:a="http://schemas.openxmlformats.org/drawingml/2006/main">
            <a:rect l="l" t="t" r="r" b="b"/>
            <a:pathLst>
              <a:path w="3019879" h="558802">
                <a:moveTo>
                  <a:pt x="0" y="0"/>
                </a:moveTo>
                <a:lnTo>
                  <a:pt x="3019879" y="0"/>
                </a:lnTo>
                <a:lnTo>
                  <a:pt x="3019879" y="558802"/>
                </a:lnTo>
                <a:lnTo>
                  <a:pt x="0" y="558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77461" r="0" b="-33140"/>
            </a:stretch>
          </a:blipFill>
        </p:spPr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E3C3D2CC-098E-46FE-8555-F0E6D9FB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7103298"/>
            <a:ext cx="2264912" cy="426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11"/>
              </a:lnSpc>
              <a:spcBef>
                <a:spcPts val="0"/>
              </a:spcBef>
              <a:buNone/>
            </a:pPr>
            <a:r>
              <a:rPr sz="142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SentenceTransformer · ChatGPT API</a:t>
            </a:r>
          </a:p>
        </p:txBody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67207CA1-E131-481C-9DC1-75B3A3F3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656" y="7735195"/>
            <a:ext cx="10102500" cy="13335"/>
          </a:xfrm>
          <a:custGeom xmlns:a="http://schemas.openxmlformats.org/drawingml/2006/main">
            <a:rect l="l" t="t" r="r" b="b"/>
            <a:pathLst>
              <a:path w="13470001" h="17780">
                <a:moveTo>
                  <a:pt x="0" y="0"/>
                </a:moveTo>
                <a:lnTo>
                  <a:pt x="13470001" y="1778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4711676" r="0" b="-14711747"/>
            </a:stretch>
          </a:blipFill>
          <a:ln xmlns:a="http://schemas.openxmlformats.org/drawingml/2006/main" w="13345">
            <a:solidFill>
              <a:srgbClr val="F0F1F3"/>
            </a:solidFill>
            <a:prstDash val="solid"/>
          </a:ln>
        </p:spPr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0A186E97-FEEB-4896-A4B0-B161A963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8098765"/>
            <a:ext cx="1235404" cy="628651"/>
          </a:xfrm>
          <a:custGeom xmlns:a="http://schemas.openxmlformats.org/drawingml/2006/main">
            <a:rect l="l" t="t" r="r" b="b"/>
            <a:pathLst>
              <a:path w="1647207" h="838202">
                <a:moveTo>
                  <a:pt x="0" y="0"/>
                </a:moveTo>
                <a:lnTo>
                  <a:pt x="1647207" y="0"/>
                </a:lnTo>
                <a:lnTo>
                  <a:pt x="1647207" y="838202"/>
                </a:lnTo>
                <a:lnTo>
                  <a:pt x="0" y="8382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9731" r="0" b="43148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D01D841E-1820-4A62-8477-0E8880E0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7578" y="8098765"/>
            <a:ext cx="1235402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693"/>
              </a:lnSpc>
              <a:spcBef>
                <a:spcPts val="0"/>
              </a:spcBef>
              <a:buNone/>
            </a:pPr>
            <a:r>
              <a:rPr sz="1411" b="1" u="none">
                <a:solidFill>
                  <a:srgbClr val="9CA3AF"/>
                </a:solidFill>
                <a:latin typeface="Aptos Bold"/>
                <a:ea typeface="Aptos Bold"/>
                <a:cs typeface="Aptos Bold"/>
              </a:rPr>
              <a:t>WEB COMMUNICATION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37962FE4-C8FF-47AF-859C-1C3B29C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8098765"/>
            <a:ext cx="3843483" cy="247652"/>
          </a:xfrm>
          <a:custGeom xmlns:a="http://schemas.openxmlformats.org/drawingml/2006/main">
            <a:rect l="l" t="t" r="r" b="b"/>
            <a:pathLst>
              <a:path w="5124644" h="330203">
                <a:moveTo>
                  <a:pt x="0" y="0"/>
                </a:moveTo>
                <a:lnTo>
                  <a:pt x="5124644" y="0"/>
                </a:lnTo>
                <a:lnTo>
                  <a:pt x="5124644" y="330203"/>
                </a:lnTo>
                <a:lnTo>
                  <a:pt x="0" y="3302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52516" r="0" b="-252285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D6C852C8-5EE6-49C5-A855-180AECCC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5784" y="8098765"/>
            <a:ext cx="384348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81"/>
              </a:lnSpc>
              <a:spcBef>
                <a:spcPts val="0"/>
              </a:spcBef>
              <a:buNone/>
            </a:pPr>
            <a:r>
              <a:rPr sz="1651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REST API · 실시간 이벤트 통신</a:t>
            </a:r>
          </a:p>
        </p:txBody>
      </p:sp>
      <p:sp>
        <p:nvSpPr>
          <p:cNvPr id="104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58D15858-F7A3-4067-AC7F-CDA28733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8098765"/>
            <a:ext cx="2264909" cy="419101"/>
          </a:xfrm>
          <a:custGeom xmlns:a="http://schemas.openxmlformats.org/drawingml/2006/main">
            <a:rect l="l" t="t" r="r" b="b"/>
            <a:pathLst>
              <a:path w="3019879" h="558802">
                <a:moveTo>
                  <a:pt x="0" y="0"/>
                </a:moveTo>
                <a:lnTo>
                  <a:pt x="3019879" y="0"/>
                </a:lnTo>
                <a:lnTo>
                  <a:pt x="3019879" y="558802"/>
                </a:lnTo>
                <a:lnTo>
                  <a:pt x="0" y="5588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77461" r="0" b="-33140"/>
            </a:stretch>
          </a:blipFill>
        </p:spPr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D2022F68-5AC4-441D-85A3-C0E7B5E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402" y="8091622"/>
            <a:ext cx="2264912" cy="4262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711"/>
              </a:lnSpc>
              <a:spcBef>
                <a:spcPts val="0"/>
              </a:spcBef>
              <a:buNone/>
            </a:pPr>
            <a:r>
              <a:rPr sz="1426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Axios · STOMP · SockJS · WebSocket</a:t>
            </a:r>
          </a:p>
        </p:txBody>
      </p:sp>
      <p:sp>
        <p:nvSpPr>
          <p:cNvPr id="107" name="Freeform 107">
            <a:extLst xmlns:a="http://schemas.openxmlformats.org/drawingml/2006/main">
              <a:ext uri="{FF2B5EF4-FFF2-40B4-BE49-F238E27FC236}">
                <a16:creationId xmlns:a16="http://schemas.microsoft.com/office/drawing/2014/main" id="{C24AAB7A-E378-47E8-BAAA-C41F3B9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5988" y="2806351"/>
            <a:ext cx="4929377" cy="5807868"/>
          </a:xfrm>
          <a:custGeom xmlns:a="http://schemas.openxmlformats.org/drawingml/2006/main">
            <a:rect l="l" t="t" r="r" b="b"/>
            <a:pathLst>
              <a:path w="6572504" h="7743825">
                <a:moveTo>
                  <a:pt x="0" y="183515"/>
                </a:moveTo>
                <a:cubicBezTo>
                  <a:pt x="0" y="82169"/>
                  <a:pt x="82169" y="0"/>
                  <a:pt x="183515" y="0"/>
                </a:cubicBezTo>
                <a:lnTo>
                  <a:pt x="6388989" y="0"/>
                </a:lnTo>
                <a:cubicBezTo>
                  <a:pt x="6490335" y="0"/>
                  <a:pt x="6572504" y="82169"/>
                  <a:pt x="6572504" y="183515"/>
                </a:cubicBezTo>
                <a:lnTo>
                  <a:pt x="6572504" y="7560310"/>
                </a:lnTo>
                <a:cubicBezTo>
                  <a:pt x="6572504" y="7661656"/>
                  <a:pt x="6490335" y="7743825"/>
                  <a:pt x="6388989" y="7743825"/>
                </a:cubicBezTo>
                <a:lnTo>
                  <a:pt x="183515" y="7743825"/>
                </a:lnTo>
                <a:cubicBezTo>
                  <a:pt x="82169" y="7743952"/>
                  <a:pt x="0" y="7661656"/>
                  <a:pt x="0" y="756031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5252">
            <a:solidFill>
              <a:srgbClr val="E5E7EB"/>
            </a:solidFill>
            <a:prstDash val="solid"/>
          </a:ln>
        </p:spPr>
      </p:sp>
      <p:sp>
        <p:nvSpPr>
          <p:cNvPr id="109" name="Freeform 109">
            <a:extLst xmlns:a="http://schemas.openxmlformats.org/drawingml/2006/main">
              <a:ext uri="{FF2B5EF4-FFF2-40B4-BE49-F238E27FC236}">
                <a16:creationId xmlns:a16="http://schemas.microsoft.com/office/drawing/2014/main" id="{2EDDF60B-9D24-4503-AB21-27EFB252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09" y="3459137"/>
            <a:ext cx="1921741" cy="219627"/>
          </a:xfrm>
          <a:custGeom xmlns:a="http://schemas.openxmlformats.org/drawingml/2006/main">
            <a:rect l="l" t="t" r="r" b="b"/>
            <a:pathLst>
              <a:path w="2562322" h="292837">
                <a:moveTo>
                  <a:pt x="0" y="0"/>
                </a:moveTo>
                <a:lnTo>
                  <a:pt x="2562322" y="0"/>
                </a:lnTo>
                <a:lnTo>
                  <a:pt x="2562322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20494" r="0" b="-120494"/>
            </a:stretch>
          </a:blipFill>
        </p:spPr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F1824E1D-246B-4D5C-AD9D-1353733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09" y="3459137"/>
            <a:ext cx="1921745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711"/>
              </a:lnSpc>
              <a:buNone/>
            </a:pPr>
            <a:r>
              <a:rPr sz="1426" b="1">
                <a:solidFill>
                  <a:srgbClr val="2563EB"/>
                </a:solidFill>
                <a:latin typeface="Aptos Bold"/>
                <a:ea typeface="Aptos Bold"/>
                <a:cs typeface="Aptos Bold"/>
              </a:rPr>
              <a:t>CONTACT</a:t>
            </a:r>
          </a:p>
        </p:txBody>
      </p:sp>
      <p:sp>
        <p:nvSpPr>
          <p:cNvPr id="112" name="Freeform 112">
            <a:extLst xmlns:a="http://schemas.openxmlformats.org/drawingml/2006/main">
              <a:ext uri="{FF2B5EF4-FFF2-40B4-BE49-F238E27FC236}">
                <a16:creationId xmlns:a16="http://schemas.microsoft.com/office/drawing/2014/main" id="{C82355BC-7A83-4D6F-A3C5-8D5EE1F1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09" y="4090568"/>
            <a:ext cx="3843483" cy="1314450"/>
          </a:xfrm>
          <a:custGeom xmlns:a="http://schemas.openxmlformats.org/drawingml/2006/main">
            <a:rect l="l" t="t" r="r" b="b"/>
            <a:pathLst>
              <a:path w="5124644" h="1752601">
                <a:moveTo>
                  <a:pt x="0" y="0"/>
                </a:moveTo>
                <a:lnTo>
                  <a:pt x="5124644" y="0"/>
                </a:lnTo>
                <a:lnTo>
                  <a:pt x="5124644" y="1752601"/>
                </a:lnTo>
                <a:lnTo>
                  <a:pt x="0" y="17526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7734" r="0" b="13785"/>
            </a:stretch>
          </a:blipFill>
        </p:spPr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B9AE4A57-26EB-4864-9E60-E46ECF1A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48" y="4000500"/>
            <a:ext cx="3843528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458"/>
              </a:lnSpc>
              <a:spcBef>
                <a:spcPts val="0"/>
              </a:spcBef>
              <a:buNone/>
            </a:pPr>
            <a:r>
              <a:rPr sz="2882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함께 성장하며</a:t>
            </a:r>
          </a:p>
          <a:p xmlns:a="http://schemas.openxmlformats.org/drawingml/2006/main">
            <a:pPr marL="0" indent="0" algn="l">
              <a:lnSpc>
                <a:spcPts val="3458"/>
              </a:lnSpc>
              <a:spcBef>
                <a:spcPts val="0"/>
              </a:spcBef>
              <a:buNone/>
            </a:pPr>
            <a:r>
              <a:rPr sz="2882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서비스를 구현할</a:t>
            </a:r>
          </a:p>
          <a:p xmlns:a="http://schemas.openxmlformats.org/drawingml/2006/main">
            <a:pPr marL="0" indent="0" algn="l">
              <a:lnSpc>
                <a:spcPts val="3458"/>
              </a:lnSpc>
              <a:spcBef>
                <a:spcPts val="0"/>
              </a:spcBef>
              <a:buNone/>
            </a:pPr>
            <a:r>
              <a:rPr sz="2882" u="none">
                <a:solidFill>
                  <a:srgbClr val="1B1F27"/>
                </a:solidFill>
                <a:latin typeface="Mandali"/>
                <a:ea typeface="Mandali"/>
                <a:cs typeface="Mandali"/>
              </a:rPr>
              <a:t>팀을 찾고 있습니다.</a:t>
            </a:r>
          </a:p>
        </p:txBody>
      </p:sp>
      <p:sp>
        <p:nvSpPr>
          <p:cNvPr id="115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91718CFB-9E6F-473C-8761-41073637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09" y="5188706"/>
            <a:ext cx="3843483" cy="960869"/>
          </a:xfrm>
          <a:custGeom xmlns:a="http://schemas.openxmlformats.org/drawingml/2006/main">
            <a:rect l="l" t="t" r="r" b="b"/>
            <a:pathLst>
              <a:path w="5124644" h="1281159">
                <a:moveTo>
                  <a:pt x="0" y="0"/>
                </a:moveTo>
                <a:lnTo>
                  <a:pt x="5124644" y="0"/>
                </a:lnTo>
                <a:lnTo>
                  <a:pt x="5124644" y="1281159"/>
                </a:lnTo>
                <a:lnTo>
                  <a:pt x="0" y="12811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27940" r="0" b="-27940"/>
            </a:stretch>
          </a:blipFill>
        </p:spPr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90B81467-6834-4760-9D3C-BA6AA9E9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48" y="5476875"/>
            <a:ext cx="3843528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981"/>
              </a:lnSpc>
              <a:spcBef>
                <a:spcPts val="0"/>
              </a:spcBef>
              <a:buNone/>
            </a:pPr>
            <a:r>
              <a:rPr sz="1651" u="none">
                <a:solidFill>
                  <a:srgbClr val="6B7280"/>
                </a:solidFill>
                <a:latin typeface="Mandali"/>
                <a:ea typeface="Mandali"/>
                <a:cs typeface="Mandali"/>
              </a:rPr>
              <a:t>데이터 분석 결과를 머신러닝·딥러닝 모델과 API 통신으로 연결해, 실제 사용자에게 전달되는 웹 서비스를 구현하겠습니다.</a:t>
            </a:r>
          </a:p>
        </p:txBody>
      </p:sp>
      <p:sp>
        <p:nvSpPr>
          <p:cNvPr id="118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15C608EB-9672-43E4-B2DE-B23F9C10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1975" y="6551838"/>
            <a:ext cx="1227010" cy="458342"/>
          </a:xfrm>
          <a:custGeom xmlns:a="http://schemas.openxmlformats.org/drawingml/2006/main">
            <a:rect l="l" t="t" r="r" b="b"/>
            <a:pathLst>
              <a:path w="1636014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521460" y="0"/>
                </a:lnTo>
                <a:cubicBezTo>
                  <a:pt x="1584706" y="0"/>
                  <a:pt x="1636014" y="51308"/>
                  <a:pt x="1636014" y="114554"/>
                </a:cubicBezTo>
                <a:lnTo>
                  <a:pt x="1636014" y="496570"/>
                </a:lnTo>
                <a:cubicBezTo>
                  <a:pt x="1636014" y="559816"/>
                  <a:pt x="1584706" y="611124"/>
                  <a:pt x="1521460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EEF4FF"/>
          </a:solidFill>
          <a:ln xmlns:a="http://schemas.openxmlformats.org/drawingml/2006/main" w="19065">
            <a:solidFill>
              <a:srgbClr val="EEF4FF"/>
            </a:solidFill>
            <a:prstDash val="solid"/>
          </a:ln>
        </p:spPr>
      </p:sp>
      <p:sp>
        <p:nvSpPr>
          <p:cNvPr id="120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54FB1735-A134-437B-A905-CEC63AE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1323" y="6671186"/>
            <a:ext cx="988324" cy="178447"/>
          </a:xfrm>
          <a:custGeom xmlns:a="http://schemas.openxmlformats.org/drawingml/2006/main">
            <a:rect l="l" t="t" r="r" b="b"/>
            <a:pathLst>
              <a:path w="1317765" h="237930">
                <a:moveTo>
                  <a:pt x="0" y="0"/>
                </a:moveTo>
                <a:lnTo>
                  <a:pt x="1317765" y="0"/>
                </a:lnTo>
                <a:lnTo>
                  <a:pt x="1317765" y="237930"/>
                </a:lnTo>
                <a:lnTo>
                  <a:pt x="0" y="2379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57916" r="0" b="-57918"/>
            </a:stretch>
          </a:blipFill>
        </p:spPr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CC993460-B409-402C-BC12-36A2A4C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1323" y="6671186"/>
            <a:ext cx="988324" cy="1784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49"/>
              </a:lnSpc>
              <a:buNone/>
            </a:pPr>
            <a:r>
              <a:rPr sz="1291">
                <a:solidFill>
                  <a:srgbClr val="2563EB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23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E744D3CB-E047-4DF8-9504-0DD537BF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5828" y="6551838"/>
            <a:ext cx="1089755" cy="458342"/>
          </a:xfrm>
          <a:custGeom xmlns:a="http://schemas.openxmlformats.org/drawingml/2006/main">
            <a:rect l="l" t="t" r="r" b="b"/>
            <a:pathLst>
              <a:path w="1453007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338453" y="0"/>
                </a:lnTo>
                <a:cubicBezTo>
                  <a:pt x="1401699" y="0"/>
                  <a:pt x="1453007" y="51308"/>
                  <a:pt x="1453007" y="114554"/>
                </a:cubicBezTo>
                <a:lnTo>
                  <a:pt x="1453007" y="496570"/>
                </a:lnTo>
                <a:cubicBezTo>
                  <a:pt x="1453007" y="559816"/>
                  <a:pt x="1401699" y="611124"/>
                  <a:pt x="1338453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125" name="Freeform 125">
            <a:extLst xmlns:a="http://schemas.openxmlformats.org/drawingml/2006/main">
              <a:ext uri="{FF2B5EF4-FFF2-40B4-BE49-F238E27FC236}">
                <a16:creationId xmlns:a16="http://schemas.microsoft.com/office/drawing/2014/main" id="{CD238E79-C270-4FC0-BB16-053ADAA9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176" y="6671186"/>
            <a:ext cx="851057" cy="178447"/>
          </a:xfrm>
          <a:custGeom xmlns:a="http://schemas.openxmlformats.org/drawingml/2006/main">
            <a:rect l="l" t="t" r="r" b="b"/>
            <a:pathLst>
              <a:path w="1134743" h="237930">
                <a:moveTo>
                  <a:pt x="0" y="0"/>
                </a:moveTo>
                <a:lnTo>
                  <a:pt x="1134743" y="0"/>
                </a:lnTo>
                <a:lnTo>
                  <a:pt x="1134743" y="237930"/>
                </a:lnTo>
                <a:lnTo>
                  <a:pt x="0" y="2379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42927" r="0" b="-42929"/>
            </a:stretch>
          </a:blipFill>
        </p:spPr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904ED1AA-AEB4-43C1-804F-4266C7AB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5176" y="6671186"/>
            <a:ext cx="851059" cy="1784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49"/>
              </a:lnSpc>
              <a:buNone/>
            </a:pPr>
            <a:r>
              <a:rPr sz="1291">
                <a:solidFill>
                  <a:srgbClr val="6B7280"/>
                </a:solidFill>
                <a:latin typeface="Aptos"/>
                <a:ea typeface="Aptos"/>
                <a:cs typeface="Aptos"/>
              </a:rPr>
              <a:t>Email</a:t>
            </a:r>
          </a:p>
        </p:txBody>
      </p:sp>
      <p:sp>
        <p:nvSpPr>
          <p:cNvPr id="128" name="Freeform 128">
            <a:extLst xmlns:a="http://schemas.openxmlformats.org/drawingml/2006/main">
              <a:ext uri="{FF2B5EF4-FFF2-40B4-BE49-F238E27FC236}">
                <a16:creationId xmlns:a16="http://schemas.microsoft.com/office/drawing/2014/main" id="{4825409E-F849-4A81-A1A7-3D7F390F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1230" y="6551838"/>
            <a:ext cx="1281874" cy="458342"/>
          </a:xfrm>
          <a:custGeom xmlns:a="http://schemas.openxmlformats.org/drawingml/2006/main">
            <a:rect l="l" t="t" r="r" b="b"/>
            <a:pathLst>
              <a:path w="1709166" h="611124">
                <a:moveTo>
                  <a:pt x="0" y="114554"/>
                </a:moveTo>
                <a:cubicBezTo>
                  <a:pt x="0" y="51308"/>
                  <a:pt x="51308" y="0"/>
                  <a:pt x="114554" y="0"/>
                </a:cubicBezTo>
                <a:lnTo>
                  <a:pt x="1594612" y="0"/>
                </a:lnTo>
                <a:cubicBezTo>
                  <a:pt x="1657858" y="0"/>
                  <a:pt x="1709166" y="51308"/>
                  <a:pt x="1709166" y="114554"/>
                </a:cubicBezTo>
                <a:lnTo>
                  <a:pt x="1709166" y="496570"/>
                </a:lnTo>
                <a:cubicBezTo>
                  <a:pt x="1709166" y="559816"/>
                  <a:pt x="1657858" y="611124"/>
                  <a:pt x="1594612" y="611124"/>
                </a:cubicBezTo>
                <a:lnTo>
                  <a:pt x="114554" y="611124"/>
                </a:lnTo>
                <a:cubicBezTo>
                  <a:pt x="51308" y="611124"/>
                  <a:pt x="0" y="559816"/>
                  <a:pt x="0" y="496570"/>
                </a:cubicBezTo>
                <a:close/>
              </a:path>
            </a:pathLst>
          </a:custGeom>
          <a:solidFill xmlns:a="http://schemas.openxmlformats.org/drawingml/2006/main">
            <a:srgbClr val="F5F6F8"/>
          </a:solidFill>
          <a:ln xmlns:a="http://schemas.openxmlformats.org/drawingml/2006/main" w="19065">
            <a:solidFill>
              <a:srgbClr val="F5F6F8"/>
            </a:solidFill>
            <a:prstDash val="solid"/>
          </a:ln>
        </p:spPr>
      </p:sp>
      <p:sp>
        <p:nvSpPr>
          <p:cNvPr id="130" name="Freeform 130">
            <a:extLst xmlns:a="http://schemas.openxmlformats.org/drawingml/2006/main">
              <a:ext uri="{FF2B5EF4-FFF2-40B4-BE49-F238E27FC236}">
                <a16:creationId xmlns:a16="http://schemas.microsoft.com/office/drawing/2014/main" id="{49BBB460-B5B5-4C0A-80A9-9FD5B10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0578" y="6671186"/>
            <a:ext cx="1043231" cy="178447"/>
          </a:xfrm>
          <a:custGeom xmlns:a="http://schemas.openxmlformats.org/drawingml/2006/main">
            <a:rect l="l" t="t" r="r" b="b"/>
            <a:pathLst>
              <a:path w="1390975" h="237930">
                <a:moveTo>
                  <a:pt x="0" y="0"/>
                </a:moveTo>
                <a:lnTo>
                  <a:pt x="1390975" y="0"/>
                </a:lnTo>
                <a:lnTo>
                  <a:pt x="1390975" y="237930"/>
                </a:lnTo>
                <a:lnTo>
                  <a:pt x="0" y="2379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63912" r="0" b="-63913"/>
            </a:stretch>
          </a:blipFill>
        </p:spPr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C6C0E398-AA6E-4941-B8B4-E40A8FAE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0578" y="6671186"/>
            <a:ext cx="1043235" cy="1784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49"/>
              </a:lnSpc>
              <a:buNone/>
            </a:pPr>
            <a:r>
              <a:rPr sz="1291">
                <a:solidFill>
                  <a:srgbClr val="6B7280"/>
                </a:solidFill>
                <a:latin typeface="Aptos"/>
                <a:ea typeface="Aptos"/>
                <a:cs typeface="Aptos"/>
              </a:rPr>
              <a:t>Resume</a:t>
            </a:r>
          </a:p>
        </p:txBody>
      </p:sp>
      <p:sp>
        <p:nvSpPr>
          <p:cNvPr id="133" name="Freeform 133">
            <a:extLst xmlns:a="http://schemas.openxmlformats.org/drawingml/2006/main">
              <a:ext uri="{FF2B5EF4-FFF2-40B4-BE49-F238E27FC236}">
                <a16:creationId xmlns:a16="http://schemas.microsoft.com/office/drawing/2014/main" id="{96483E67-5C0D-48B0-88CE-E1DCA36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1975" y="7512710"/>
            <a:ext cx="1830991" cy="595598"/>
          </a:xfrm>
          <a:custGeom xmlns:a="http://schemas.openxmlformats.org/drawingml/2006/main">
            <a:rect l="l" t="t" r="r" b="b"/>
            <a:pathLst>
              <a:path w="2441321" h="794131">
                <a:moveTo>
                  <a:pt x="0" y="151257"/>
                </a:moveTo>
                <a:cubicBezTo>
                  <a:pt x="0" y="67691"/>
                  <a:pt x="67691" y="0"/>
                  <a:pt x="151257" y="0"/>
                </a:cubicBezTo>
                <a:lnTo>
                  <a:pt x="2290064" y="0"/>
                </a:lnTo>
                <a:cubicBezTo>
                  <a:pt x="2373630" y="0"/>
                  <a:pt x="2441321" y="67691"/>
                  <a:pt x="2441321" y="151257"/>
                </a:cubicBezTo>
                <a:lnTo>
                  <a:pt x="2441321" y="642874"/>
                </a:lnTo>
                <a:cubicBezTo>
                  <a:pt x="2441321" y="726440"/>
                  <a:pt x="2373630" y="794131"/>
                  <a:pt x="2290064" y="794131"/>
                </a:cubicBezTo>
                <a:lnTo>
                  <a:pt x="151257" y="794131"/>
                </a:lnTo>
                <a:cubicBezTo>
                  <a:pt x="67691" y="794131"/>
                  <a:pt x="0" y="726440"/>
                  <a:pt x="0" y="642874"/>
                </a:cubicBezTo>
                <a:close/>
              </a:path>
            </a:pathLst>
          </a:custGeom>
          <a:solidFill xmlns:a="http://schemas.openxmlformats.org/drawingml/2006/main">
            <a:srgbClr val="151922"/>
          </a:solidFill>
          <a:ln xmlns:a="http://schemas.openxmlformats.org/drawingml/2006/main" w="19065">
            <a:solidFill>
              <a:srgbClr val="151922"/>
            </a:solidFill>
            <a:prstDash val="solid"/>
          </a:ln>
        </p:spPr>
      </p:sp>
      <p:sp>
        <p:nvSpPr>
          <p:cNvPr id="135" name="Freeform 135">
            <a:extLst xmlns:a="http://schemas.openxmlformats.org/drawingml/2006/main">
              <a:ext uri="{FF2B5EF4-FFF2-40B4-BE49-F238E27FC236}">
                <a16:creationId xmlns:a16="http://schemas.microsoft.com/office/drawing/2014/main" id="{43110B4D-AC2C-4D72-8A1F-911283E2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2127" y="7714421"/>
            <a:ext cx="1070683" cy="178447"/>
          </a:xfrm>
          <a:custGeom xmlns:a="http://schemas.openxmlformats.org/drawingml/2006/main">
            <a:rect l="l" t="t" r="r" b="b"/>
            <a:pathLst>
              <a:path w="1427579" h="237930">
                <a:moveTo>
                  <a:pt x="0" y="0"/>
                </a:moveTo>
                <a:lnTo>
                  <a:pt x="1427579" y="0"/>
                </a:lnTo>
                <a:lnTo>
                  <a:pt x="1427579" y="237930"/>
                </a:lnTo>
                <a:lnTo>
                  <a:pt x="0" y="2379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66909" r="0" b="-66911"/>
            </a:stretch>
          </a:blipFill>
        </p:spPr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E831610B-B2E0-4ED5-BAD8-655395CE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52127" y="7714421"/>
            <a:ext cx="1070686" cy="1784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765"/>
              </a:lnSpc>
              <a:buNone/>
            </a:pPr>
            <a:r>
              <a:rPr sz="1471">
                <a:solidFill>
                  <a:srgbClr val="FFFFFF"/>
                </a:solidFill>
                <a:latin typeface="Mandali"/>
                <a:ea typeface="Mandali"/>
                <a:cs typeface="Mandali"/>
              </a:rPr>
              <a:t>연락하기</a:t>
            </a:r>
          </a:p>
        </p:txBody>
      </p:sp>
      <p:sp>
        <p:nvSpPr>
          <p:cNvPr id="138" name="Freeform 138">
            <a:extLst xmlns:a="http://schemas.openxmlformats.org/drawingml/2006/main">
              <a:ext uri="{FF2B5EF4-FFF2-40B4-BE49-F238E27FC236}">
                <a16:creationId xmlns:a16="http://schemas.microsoft.com/office/drawing/2014/main" id="{E371503B-3668-4149-B13B-79ED485E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0" cy="219627"/>
          </a:xfrm>
          <a:custGeom xmlns:a="http://schemas.openxmlformats.org/drawingml/2006/main">
            <a:rect l="l" t="t" r="r" b="b"/>
            <a:pathLst>
              <a:path w="3294414" h="292837">
                <a:moveTo>
                  <a:pt x="0" y="0"/>
                </a:moveTo>
                <a:lnTo>
                  <a:pt x="3294414" y="0"/>
                </a:lnTo>
                <a:lnTo>
                  <a:pt x="3294414" y="292837"/>
                </a:lnTo>
                <a:lnTo>
                  <a:pt x="0" y="2928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d1f6a1ef554652">
              <a:alphaModFix amt="0"/>
            </a:blip>
            <a:stretch>
              <a:fillRect l="0" t="-169207" r="0" b="-169206"/>
            </a:stretch>
          </a:blipFill>
        </p:spPr>
      </p:sp>
      <p:sp>
        <p:nvSpPr>
          <p:cNvPr id="139" name="TextBox 139">
            <a:extLst xmlns:a="http://schemas.openxmlformats.org/drawingml/2006/main">
              <a:ext uri="{FF2B5EF4-FFF2-40B4-BE49-F238E27FC236}">
                <a16:creationId xmlns:a16="http://schemas.microsoft.com/office/drawing/2014/main" id="{0D20CD4E-613C-49F6-AE2D-CA30DC50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9718519"/>
            <a:ext cx="2470814" cy="219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1"/>
              </a:lnSpc>
              <a:buNone/>
            </a:pPr>
            <a:r>
              <a:rPr sz="1125">
                <a:solidFill>
                  <a:srgbClr val="9CA3AF"/>
                </a:solidFill>
                <a:latin typeface="Aptos"/>
                <a:ea typeface="Aptos"/>
                <a:cs typeface="Aptos"/>
              </a:rPr>
              <a:t>portfolio  /  06</a:t>
            </a:r>
          </a:p>
        </p:txBody>
      </p:sp>
    </p:spTree>
    <p:extLst>
      <p:ext uri="{BB962C8B-B14F-4D97-AF65-F5344CB8AC3E}">
        <p14:creationId xmlns:p14="http://schemas.microsoft.com/office/powerpoint/2010/main" val="12961170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2026-07-14T04:40:25.0470000Z</dcterms:created>
  <dcterms:modified xsi:type="dcterms:W3CDTF">2026-07-14T04:40:25.0470000Z</dcterms:modified>
</coreProperties>
</file>