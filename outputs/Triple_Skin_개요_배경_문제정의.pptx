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27819a085e47e0" /><Relationship Type="http://schemas.openxmlformats.org/officeDocument/2006/relationships/extended-properties" Target="/docProps/app.xml" Id="R7a5956101a724dd2" /><Relationship Type="http://schemas.openxmlformats.org/officeDocument/2006/relationships/officeDocument" Target="/ppt/presentation.xml" Id="R27a0e25575cb43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39dd3ba88e4250"/>
  </p:sldMasterIdLst>
  <p:notesMasterIdLst>
    <p:notesMasterId xmlns:r="http://schemas.openxmlformats.org/officeDocument/2006/relationships" r:id="R66698b6f862c4d43"/>
  </p:notesMasterIdLst>
  <p:sldIdLst>
    <p:sldId xmlns:r="http://schemas.openxmlformats.org/officeDocument/2006/relationships" id="256" r:id="Rf35d70e5d1fe4c76"/>
    <p:sldId xmlns:r="http://schemas.openxmlformats.org/officeDocument/2006/relationships" id="257" r:id="Rc5021c964844416b"/>
    <p:sldId xmlns:r="http://schemas.openxmlformats.org/officeDocument/2006/relationships" id="258" r:id="R7f993bfca183492d"/>
    <p:sldId xmlns:r="http://schemas.openxmlformats.org/officeDocument/2006/relationships" id="259" r:id="R3da7290ec892482e"/>
    <p:sldId xmlns:r="http://schemas.openxmlformats.org/officeDocument/2006/relationships" id="260" r:id="R43846d1158ba4bbc"/>
    <p:sldId xmlns:r="http://schemas.openxmlformats.org/officeDocument/2006/relationships" id="261" r:id="R829bb192917345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1f52dbc7fc490c" /><Relationship Type="http://schemas.openxmlformats.org/officeDocument/2006/relationships/slideMaster" Target="/ppt/slideMasters/slideMaster1.xml" Id="Ra839dd3ba88e4250" /><Relationship Type="http://schemas.openxmlformats.org/officeDocument/2006/relationships/notesMaster" Target="/ppt/notesMasters/notesMaster1.xml" Id="R66698b6f862c4d43" /><Relationship Type="http://schemas.openxmlformats.org/officeDocument/2006/relationships/presProps" Target="/ppt/presProps.xml" Id="R507e8d2c4ca44947" /><Relationship Type="http://schemas.openxmlformats.org/officeDocument/2006/relationships/tableStyles" Target="/ppt/tableStyles.xml" Id="R68640e252bf1412d" /><Relationship Type="http://schemas.openxmlformats.org/officeDocument/2006/relationships/slide" Target="/ppt/slides/slide1.xml" Id="Rf35d70e5d1fe4c76" /><Relationship Type="http://schemas.openxmlformats.org/officeDocument/2006/relationships/slide" Target="/ppt/slides/slide2.xml" Id="Rc5021c964844416b" /><Relationship Type="http://schemas.openxmlformats.org/officeDocument/2006/relationships/slide" Target="/ppt/slides/slide3.xml" Id="R7f993bfca183492d" /><Relationship Type="http://schemas.openxmlformats.org/officeDocument/2006/relationships/slide" Target="/ppt/slides/slide4.xml" Id="R3da7290ec892482e" /><Relationship Type="http://schemas.openxmlformats.org/officeDocument/2006/relationships/slide" Target="/ppt/slides/slide5.xml" Id="R43846d1158ba4bbc" /><Relationship Type="http://schemas.openxmlformats.org/officeDocument/2006/relationships/slide" Target="/ppt/slides/slide6.xml" Id="R829bb192917345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1e3c3c8cbb40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38b260b8534eb8" /><Relationship Type="http://schemas.openxmlformats.org/officeDocument/2006/relationships/notesMaster" Target="/ppt/notesMasters/notesMaster1.xml" Id="R58ef306a200e43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efe531bf9743a1" /><Relationship Type="http://schemas.openxmlformats.org/officeDocument/2006/relationships/notesMaster" Target="/ppt/notesMasters/notesMaster1.xml" Id="Rf8a4dd67feee46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7530c79f964fea" /><Relationship Type="http://schemas.openxmlformats.org/officeDocument/2006/relationships/notesMaster" Target="/ppt/notesMasters/notesMaster1.xml" Id="R0f272b899e7947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20e571d2249c4" /><Relationship Type="http://schemas.openxmlformats.org/officeDocument/2006/relationships/notesMaster" Target="/ppt/notesMasters/notesMaster1.xml" Id="R23156743dcf140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8bd8c936954ab5" /><Relationship Type="http://schemas.openxmlformats.org/officeDocument/2006/relationships/notesMaster" Target="/ppt/notesMasters/notesMaster1.xml" Id="R3f8f7e146f5b4f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40723546d04dcd" /><Relationship Type="http://schemas.openxmlformats.org/officeDocument/2006/relationships/notesMaster" Target="/ppt/notesMasters/notesMaster1.xml" Id="R4aed64f81d4943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14a94898c49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795c1b96874930" /><Relationship Type="http://schemas.openxmlformats.org/officeDocument/2006/relationships/slideLayout" Target="/ppt/slideLayouts/slideLayout1.xml" Id="R18cab978cd1a41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cab978cd1a41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fbee6adc84281" /><Relationship Type="http://schemas.openxmlformats.org/officeDocument/2006/relationships/image" Target="/ppt/media/image.jpeg" Id="R6e19449c7e504a81" /><Relationship Type="http://schemas.openxmlformats.org/officeDocument/2006/relationships/notesSlide" Target="/ppt/notesSlides/notesSlide1.xml" Id="R7dcc0a701c574d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4bfa435994d96" /><Relationship Type="http://schemas.openxmlformats.org/officeDocument/2006/relationships/notesSlide" Target="/ppt/notesSlides/notesSlide2.xml" Id="Rd1507aee380347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cf7852fa2454f" /><Relationship Type="http://schemas.openxmlformats.org/officeDocument/2006/relationships/image" Target="/ppt/media/image.png" Id="Rb8d65cba64904d3a" /><Relationship Type="http://schemas.openxmlformats.org/officeDocument/2006/relationships/notesSlide" Target="/ppt/notesSlides/notesSlide3.xml" Id="R5b0ab010d6cd4b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0281dd529461a" /><Relationship Type="http://schemas.openxmlformats.org/officeDocument/2006/relationships/notesSlide" Target="/ppt/notesSlides/notesSlide4.xml" Id="R0babe41dbe3846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e67cf59e14243" /><Relationship Type="http://schemas.openxmlformats.org/officeDocument/2006/relationships/notesSlide" Target="/ppt/notesSlides/notesSlide5.xml" Id="R97b1f1440a1641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772adf3584ab6" /><Relationship Type="http://schemas.openxmlformats.org/officeDocument/2006/relationships/notesSlide" Target="/ppt/notesSlides/notesSlide6.xml" Id="R47339182494c42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right-field">
            <a:extLst xmlns:a="http://schemas.openxmlformats.org/drawingml/2006/main">
              <a:ext uri="{FF2B5EF4-FFF2-40B4-BE49-F238E27FC236}">
                <a16:creationId xmlns:a16="http://schemas.microsoft.com/office/drawing/2014/main" id="{47E8E171-FAE2-42FE-B00F-46D576BA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0"/>
            <a:ext cx="3790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right-ring">
            <a:extLst xmlns:a="http://schemas.openxmlformats.org/drawingml/2006/main">
              <a:ext uri="{FF2B5EF4-FFF2-40B4-BE49-F238E27FC236}">
                <a16:creationId xmlns:a16="http://schemas.microsoft.com/office/drawing/2014/main" id="{B961093A-A2B1-463F-9EE5-4EF050A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52550"/>
            <a:ext cx="2590800" cy="259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A993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9449c7e504a81"/>
          <a:stretch xmlns:a="http://schemas.openxmlformats.org/drawingml/2006/main"/>
        </p:blipFill>
        <p:spPr>
          <a:xfrm xmlns:a="http://schemas.openxmlformats.org/drawingml/2006/main">
            <a:off x="9361086" y="1571625"/>
            <a:ext cx="1889929" cy="2095500"/>
          </a:xfrm>
          <a:prstGeom xmlns:a="http://schemas.openxmlformats.org/drawingml/2006/main" prst="ellipse">
            <a:avLst/>
          </a:prstGeom>
        </p:spPr>
      </p:pic>
      <p:sp>
        <p:nvSpPr>
          <p:cNvPr id="4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5FB9227F-D5AE-45A6-99F8-A72CDD3E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AI SKIN CARE PLATFORM</a:t>
            </a:r>
          </a:p>
        </p:txBody>
      </p:sp>
      <p:sp>
        <p:nvSpPr>
          <p:cNvPr id="5" name="title-main">
            <a:extLst xmlns:a="http://schemas.openxmlformats.org/drawingml/2006/main">
              <a:ext uri="{FF2B5EF4-FFF2-40B4-BE49-F238E27FC236}">
                <a16:creationId xmlns:a16="http://schemas.microsoft.com/office/drawing/2014/main" id="{50BA40C9-E8D1-4141-B5C3-1EC382B0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Triple Skin</a:t>
            </a:r>
          </a:p>
        </p:txBody>
      </p:sp>
      <p:sp>
        <p:nvSpPr>
          <p:cNvPr id="6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AEE965B7-9C98-4259-BB83-43771592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714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피부 상태를 보고, 이해하고,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꾸준히 관리하는 하나의 플랫폼</a:t>
            </a:r>
          </a:p>
        </p:txBody>
      </p:sp>
      <p:sp>
        <p:nvSpPr>
          <p:cNvPr id="7" name="title-accent-rule">
            <a:extLst xmlns:a="http://schemas.openxmlformats.org/drawingml/2006/main">
              <a:ext uri="{FF2B5EF4-FFF2-40B4-BE49-F238E27FC236}">
                <a16:creationId xmlns:a16="http://schemas.microsoft.com/office/drawing/2014/main" id="{36DA7D1B-A104-43DA-AE3F-B43C1929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-feature-line">
            <a:extLst xmlns:a="http://schemas.openxmlformats.org/drawingml/2006/main">
              <a:ext uri="{FF2B5EF4-FFF2-40B4-BE49-F238E27FC236}">
                <a16:creationId xmlns:a16="http://schemas.microsoft.com/office/drawing/2014/main" id="{71F79855-CBC3-437B-94E5-DC6F1FB6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0537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AI 이미지 분석  ·  피부 유형 설문  ·  RAG 상담  ·  기록</a:t>
            </a:r>
          </a:p>
        </p:txBody>
      </p:sp>
      <p:sp>
        <p:nvSpPr>
          <p:cNvPr id="9" name="title-section">
            <a:extLst xmlns:a="http://schemas.openxmlformats.org/drawingml/2006/main">
              <a:ext uri="{FF2B5EF4-FFF2-40B4-BE49-F238E27FC236}">
                <a16:creationId xmlns:a16="http://schemas.microsoft.com/office/drawing/2014/main" id="{D250F7D5-C945-42DD-9EB0-344650AA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01  개요  /  02  배경 및 문제정의</a:t>
            </a:r>
          </a:p>
        </p:txBody>
      </p:sp>
    </p:spTree>
    <p:extLst>
      <p:ext uri="{BB962C8B-B14F-4D97-AF65-F5344CB8AC3E}">
        <p14:creationId xmlns:p14="http://schemas.microsoft.com/office/powerpoint/2010/main" val="1877206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2">
            <a:extLst xmlns:a="http://schemas.openxmlformats.org/drawingml/2006/main">
              <a:ext uri="{FF2B5EF4-FFF2-40B4-BE49-F238E27FC236}">
                <a16:creationId xmlns:a16="http://schemas.microsoft.com/office/drawing/2014/main" id="{62AA848A-0563-4F16-BBF7-1E49CC8A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PROJECT OVERVIEW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DB97B9B2-0157-4ACE-83FD-387654FD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overview-title">
            <a:extLst xmlns:a="http://schemas.openxmlformats.org/drawingml/2006/main">
              <a:ext uri="{FF2B5EF4-FFF2-40B4-BE49-F238E27FC236}">
                <a16:creationId xmlns:a16="http://schemas.microsoft.com/office/drawing/2014/main" id="{3C5179C9-6967-4972-AB89-51D7DB25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5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분석부터 기록까지, 하나의 피부 관리 흐름으로 연결했습니다</a:t>
            </a:r>
          </a:p>
        </p:txBody>
      </p:sp>
      <p:sp>
        <p:nvSpPr>
          <p:cNvPr id="4" name="overview-subtitle">
            <a:extLst xmlns:a="http://schemas.openxmlformats.org/drawingml/2006/main">
              <a:ext uri="{FF2B5EF4-FFF2-40B4-BE49-F238E27FC236}">
                <a16:creationId xmlns:a16="http://schemas.microsoft.com/office/drawing/2014/main" id="{0874DC14-7341-45F0-9C1B-CBC84B46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일상적인 관리 방향과 피부 변화를 함께 확인하려는 사용자를 위한 통합 플랫폼</a:t>
            </a:r>
          </a:p>
        </p:txBody>
      </p:sp>
      <p:sp>
        <p:nvSpPr>
          <p:cNvPr id="5" name="overview-rule">
            <a:extLst xmlns:a="http://schemas.openxmlformats.org/drawingml/2006/main">
              <a:ext uri="{FF2B5EF4-FFF2-40B4-BE49-F238E27FC236}">
                <a16:creationId xmlns:a16="http://schemas.microsoft.com/office/drawing/2014/main" id="{188967D0-20C0-4D62-B90E-391714EC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verview-hub-halo">
            <a:extLst xmlns:a="http://schemas.openxmlformats.org/drawingml/2006/main">
              <a:ext uri="{FF2B5EF4-FFF2-40B4-BE49-F238E27FC236}">
                <a16:creationId xmlns:a16="http://schemas.microsoft.com/office/drawing/2014/main" id="{CE406F02-68E5-4980-B590-B5EEF667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766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verview-hub">
            <a:extLst xmlns:a="http://schemas.openxmlformats.org/drawingml/2006/main">
              <a:ext uri="{FF2B5EF4-FFF2-40B4-BE49-F238E27FC236}">
                <a16:creationId xmlns:a16="http://schemas.microsoft.com/office/drawing/2014/main" id="{803E9EDD-D2BB-4BCD-BD27-22A9A41B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95575"/>
            <a:ext cx="266700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9A993"/>
            </a:solidFill>
            <a:prstDash val="solid"/>
          </a:ln>
        </p:spPr>
      </p:sp>
      <p:sp>
        <p:nvSpPr>
          <p:cNvPr id="8" name="overview-hub-title">
            <a:extLst xmlns:a="http://schemas.openxmlformats.org/drawingml/2006/main">
              <a:ext uri="{FF2B5EF4-FFF2-40B4-BE49-F238E27FC236}">
                <a16:creationId xmlns:a16="http://schemas.microsoft.com/office/drawing/2014/main" id="{2D9F7BC9-EEBB-43A7-B82F-BF87D866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Triple Skin</a:t>
            </a:r>
          </a:p>
        </p:txBody>
      </p:sp>
      <p:sp>
        <p:nvSpPr>
          <p:cNvPr id="9" name="overview-hub-body">
            <a:extLst xmlns:a="http://schemas.openxmlformats.org/drawingml/2006/main">
              <a:ext uri="{FF2B5EF4-FFF2-40B4-BE49-F238E27FC236}">
                <a16:creationId xmlns:a16="http://schemas.microsoft.com/office/drawing/2014/main" id="{19664863-2285-4F78-9DC6-4DDC36A2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분석 → 이해 → 실천 → 기록</a:t>
            </a:r>
          </a:p>
        </p:txBody>
      </p:sp>
      <p:sp>
        <p:nvSpPr>
          <p:cNvPr id="10" name="feature-1-panel">
            <a:extLst xmlns:a="http://schemas.openxmlformats.org/drawingml/2006/main">
              <a:ext uri="{FF2B5EF4-FFF2-40B4-BE49-F238E27FC236}">
                <a16:creationId xmlns:a16="http://schemas.microsoft.com/office/drawing/2014/main" id="{8D407656-947A-4674-8796-021D63FE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C"/>
            </a:solidFill>
            <a:prstDash val="solid"/>
          </a:ln>
        </p:spPr>
      </p:sp>
      <p:sp>
        <p:nvSpPr>
          <p:cNvPr id="11" name="feature-1-accent">
            <a:extLst xmlns:a="http://schemas.openxmlformats.org/drawingml/2006/main">
              <a:ext uri="{FF2B5EF4-FFF2-40B4-BE49-F238E27FC236}">
                <a16:creationId xmlns:a16="http://schemas.microsoft.com/office/drawing/2014/main" id="{2DF82B4F-60A0-4331-A108-A3390B39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eature-1-number-bg">
            <a:extLst xmlns:a="http://schemas.openxmlformats.org/drawingml/2006/main">
              <a:ext uri="{FF2B5EF4-FFF2-40B4-BE49-F238E27FC236}">
                <a16:creationId xmlns:a16="http://schemas.microsoft.com/office/drawing/2014/main" id="{B8BBB11D-9724-49B8-BA5C-442F725F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eature-1-number">
            <a:extLst xmlns:a="http://schemas.openxmlformats.org/drawingml/2006/main">
              <a:ext uri="{FF2B5EF4-FFF2-40B4-BE49-F238E27FC236}">
                <a16:creationId xmlns:a16="http://schemas.microsoft.com/office/drawing/2014/main" id="{720279CF-8627-4953-B70A-6CCE3093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DE1CE6C7-AAFD-440A-8BF4-AEA5F393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52675"/>
            <a:ext cx="2495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AI 이미지 분석</a:t>
            </a:r>
          </a:p>
        </p:txBody>
      </p:sp>
      <p:sp>
        <p:nvSpPr>
          <p:cNvPr id="15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4C2A322E-0124-493C-99F3-610D417E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9557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YOLOv8로 위치·개수 시각화</a:t>
            </a:r>
          </a:p>
        </p:txBody>
      </p:sp>
      <p:sp>
        <p:nvSpPr>
          <p:cNvPr id="16" name="feature-2-panel">
            <a:extLst xmlns:a="http://schemas.openxmlformats.org/drawingml/2006/main">
              <a:ext uri="{FF2B5EF4-FFF2-40B4-BE49-F238E27FC236}">
                <a16:creationId xmlns:a16="http://schemas.microsoft.com/office/drawing/2014/main" id="{54D0365D-5E1F-4177-91BC-2E0AF97D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C"/>
            </a:solidFill>
            <a:prstDash val="solid"/>
          </a:ln>
        </p:spPr>
      </p:sp>
      <p:sp>
        <p:nvSpPr>
          <p:cNvPr id="17" name="feature-2-accent">
            <a:extLst xmlns:a="http://schemas.openxmlformats.org/drawingml/2006/main">
              <a:ext uri="{FF2B5EF4-FFF2-40B4-BE49-F238E27FC236}">
                <a16:creationId xmlns:a16="http://schemas.microsoft.com/office/drawing/2014/main" id="{9B2C2730-2101-4220-9D15-1DA2251C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eature-2-number-bg">
            <a:extLst xmlns:a="http://schemas.openxmlformats.org/drawingml/2006/main">
              <a:ext uri="{FF2B5EF4-FFF2-40B4-BE49-F238E27FC236}">
                <a16:creationId xmlns:a16="http://schemas.microsoft.com/office/drawing/2014/main" id="{FAD5A28D-D3AC-4A42-A901-3C13A697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eature-2-number">
            <a:extLst xmlns:a="http://schemas.openxmlformats.org/drawingml/2006/main">
              <a:ext uri="{FF2B5EF4-FFF2-40B4-BE49-F238E27FC236}">
                <a16:creationId xmlns:a16="http://schemas.microsoft.com/office/drawing/2014/main" id="{FED7E5AF-C7C3-4210-A99D-53E4CFF1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0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284E1EBF-E34A-4EBE-B4B5-EC595988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9625"/>
            <a:ext cx="2495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피부 유형 설문</a:t>
            </a:r>
          </a:p>
        </p:txBody>
      </p:sp>
      <p:sp>
        <p:nvSpPr>
          <p:cNvPr id="21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97D314CB-CC62-445B-8F94-6B19EA86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6252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T존·U존을 고려한 20문항</a:t>
            </a:r>
          </a:p>
        </p:txBody>
      </p:sp>
      <p:sp>
        <p:nvSpPr>
          <p:cNvPr id="22" name="feature-3-panel">
            <a:extLst xmlns:a="http://schemas.openxmlformats.org/drawingml/2006/main">
              <a:ext uri="{FF2B5EF4-FFF2-40B4-BE49-F238E27FC236}">
                <a16:creationId xmlns:a16="http://schemas.microsoft.com/office/drawing/2014/main" id="{8095FC24-1E2F-4FE1-8E54-E1761705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C"/>
            </a:solidFill>
            <a:prstDash val="solid"/>
          </a:ln>
        </p:spPr>
      </p:sp>
      <p:sp>
        <p:nvSpPr>
          <p:cNvPr id="23" name="feature-3-accent">
            <a:extLst xmlns:a="http://schemas.openxmlformats.org/drawingml/2006/main">
              <a:ext uri="{FF2B5EF4-FFF2-40B4-BE49-F238E27FC236}">
                <a16:creationId xmlns:a16="http://schemas.microsoft.com/office/drawing/2014/main" id="{A713B2AE-B9B9-4C5B-87AF-E91049BE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eature-3-number-bg">
            <a:extLst xmlns:a="http://schemas.openxmlformats.org/drawingml/2006/main">
              <a:ext uri="{FF2B5EF4-FFF2-40B4-BE49-F238E27FC236}">
                <a16:creationId xmlns:a16="http://schemas.microsoft.com/office/drawing/2014/main" id="{F971D856-5897-4274-886A-B315E7A3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eature-3-number">
            <a:extLst xmlns:a="http://schemas.openxmlformats.org/drawingml/2006/main">
              <a:ext uri="{FF2B5EF4-FFF2-40B4-BE49-F238E27FC236}">
                <a16:creationId xmlns:a16="http://schemas.microsoft.com/office/drawing/2014/main" id="{19A0E550-7C1E-47B1-B020-84F7C17E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479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25782CAE-9031-4A90-8D6A-4239E98C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52675"/>
            <a:ext cx="2495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RAG 챗봇</a:t>
            </a:r>
          </a:p>
        </p:txBody>
      </p:sp>
      <p:sp>
        <p:nvSpPr>
          <p:cNvPr id="2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13133CB0-F6E2-4180-9DC8-B80B797B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9557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피부 연구 자료 기반 상담</a:t>
            </a:r>
          </a:p>
        </p:txBody>
      </p:sp>
      <p:sp>
        <p:nvSpPr>
          <p:cNvPr id="28" name="feature-4-panel">
            <a:extLst xmlns:a="http://schemas.openxmlformats.org/drawingml/2006/main">
              <a:ext uri="{FF2B5EF4-FFF2-40B4-BE49-F238E27FC236}">
                <a16:creationId xmlns:a16="http://schemas.microsoft.com/office/drawing/2014/main" id="{92B59D3A-4F3E-41B9-9928-F42A39D7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C"/>
            </a:solidFill>
            <a:prstDash val="solid"/>
          </a:ln>
        </p:spPr>
      </p:sp>
      <p:sp>
        <p:nvSpPr>
          <p:cNvPr id="29" name="feature-4-accent">
            <a:extLst xmlns:a="http://schemas.openxmlformats.org/drawingml/2006/main">
              <a:ext uri="{FF2B5EF4-FFF2-40B4-BE49-F238E27FC236}">
                <a16:creationId xmlns:a16="http://schemas.microsoft.com/office/drawing/2014/main" id="{40AFEBC2-061B-4C8D-9223-795C3011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6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eature-4-number-bg">
            <a:extLst xmlns:a="http://schemas.openxmlformats.org/drawingml/2006/main">
              <a:ext uri="{FF2B5EF4-FFF2-40B4-BE49-F238E27FC236}">
                <a16:creationId xmlns:a16="http://schemas.microsoft.com/office/drawing/2014/main" id="{53BF69D6-F1A8-478A-90CA-B91AB89F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48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eature-4-number">
            <a:extLst xmlns:a="http://schemas.openxmlformats.org/drawingml/2006/main">
              <a:ext uri="{FF2B5EF4-FFF2-40B4-BE49-F238E27FC236}">
                <a16:creationId xmlns:a16="http://schemas.microsoft.com/office/drawing/2014/main" id="{0BB2654C-F7D1-49A3-BD9D-71282656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148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2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105AA804-74FF-458D-AEF4-CBC2E575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495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기록·캘린더</a:t>
            </a:r>
          </a:p>
        </p:txBody>
      </p:sp>
      <p:sp>
        <p:nvSpPr>
          <p:cNvPr id="33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4E267CEA-B1D9-4EF7-9CF8-82DCC9EC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6252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날짜별 변화와 관리 일정</a:t>
            </a:r>
          </a:p>
        </p:txBody>
      </p:sp>
      <p:sp>
        <p:nvSpPr>
          <p:cNvPr id="34" name="overview-community-bg">
            <a:extLst xmlns:a="http://schemas.openxmlformats.org/drawingml/2006/main">
              <a:ext uri="{FF2B5EF4-FFF2-40B4-BE49-F238E27FC236}">
                <a16:creationId xmlns:a16="http://schemas.microsoft.com/office/drawing/2014/main" id="{0AE04050-A299-42D2-9937-491806FF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2476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overview-community-text">
            <a:extLst xmlns:a="http://schemas.openxmlformats.org/drawingml/2006/main">
              <a:ext uri="{FF2B5EF4-FFF2-40B4-BE49-F238E27FC236}">
                <a16:creationId xmlns:a16="http://schemas.microsoft.com/office/drawing/2014/main" id="{10D8E20D-3E0D-4B6E-9D15-8A4E750F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291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커뮤니티 · 댓글 · 알림</a:t>
            </a:r>
          </a:p>
        </p:txBody>
      </p:sp>
      <p:sp>
        <p:nvSpPr>
          <p:cNvPr id="36" name="overview-takeaway">
            <a:extLst xmlns:a="http://schemas.openxmlformats.org/drawingml/2006/main">
              <a:ext uri="{FF2B5EF4-FFF2-40B4-BE49-F238E27FC236}">
                <a16:creationId xmlns:a16="http://schemas.microsoft.com/office/drawing/2014/main" id="{4D7ED228-BA0C-4460-9D1F-743CE5CE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810250"/>
            <a:ext cx="605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한 번의 결과가 아니라, 다시 관리하게 만드는 경험을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38437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3">
            <a:extLst xmlns:a="http://schemas.openxmlformats.org/drawingml/2006/main">
              <a:ext uri="{FF2B5EF4-FFF2-40B4-BE49-F238E27FC236}">
                <a16:creationId xmlns:a16="http://schemas.microsoft.com/office/drawing/2014/main" id="{0E73C87F-C90C-4192-B986-D3456123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BACKGROUND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B534D085-D290-4520-A0A3-26F693E4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background-title">
            <a:extLst xmlns:a="http://schemas.openxmlformats.org/drawingml/2006/main">
              <a:ext uri="{FF2B5EF4-FFF2-40B4-BE49-F238E27FC236}">
                <a16:creationId xmlns:a16="http://schemas.microsoft.com/office/drawing/2014/main" id="{DF028D66-89A1-4F6D-B920-F6251E5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피부는 계속 변하지만, 판단은 한 순간에 머뭅니다</a:t>
            </a:r>
          </a:p>
        </p:txBody>
      </p:sp>
      <p:sp>
        <p:nvSpPr>
          <p:cNvPr id="4" name="background-subtitle">
            <a:extLst xmlns:a="http://schemas.openxmlformats.org/drawingml/2006/main">
              <a:ext uri="{FF2B5EF4-FFF2-40B4-BE49-F238E27FC236}">
                <a16:creationId xmlns:a16="http://schemas.microsoft.com/office/drawing/2014/main" id="{01844E9B-BD36-4451-A1F1-24C5CA92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피부 상태는 촬영 환경과 일상 요인의 영향을 함께 받습니다</a:t>
            </a:r>
          </a:p>
        </p:txBody>
      </p:sp>
      <p:sp>
        <p:nvSpPr>
          <p:cNvPr id="5" name="background-rule">
            <a:extLst xmlns:a="http://schemas.openxmlformats.org/drawingml/2006/main">
              <a:ext uri="{FF2B5EF4-FFF2-40B4-BE49-F238E27FC236}">
                <a16:creationId xmlns:a16="http://schemas.microsoft.com/office/drawing/2014/main" id="{7B34520E-B746-469C-83F9-A9987078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ckground-lead">
            <a:extLst xmlns:a="http://schemas.openxmlformats.org/drawingml/2006/main">
              <a:ext uri="{FF2B5EF4-FFF2-40B4-BE49-F238E27FC236}">
                <a16:creationId xmlns:a16="http://schemas.microsoft.com/office/drawing/2014/main" id="{DD89BC18-FBB3-4D95-9CA0-E787B956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거울과 검색만으로는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변화를 객관적으로 이어 보기 어렵습니다.</a:t>
            </a:r>
          </a:p>
        </p:txBody>
      </p:sp>
      <p:sp>
        <p:nvSpPr>
          <p:cNvPr id="7" name="background-lead-rule">
            <a:extLst xmlns:a="http://schemas.openxmlformats.org/drawingml/2006/main">
              <a:ext uri="{FF2B5EF4-FFF2-40B4-BE49-F238E27FC236}">
                <a16:creationId xmlns:a16="http://schemas.microsoft.com/office/drawing/2014/main" id="{9054CBCB-3B43-4E84-88AE-D6174E1C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861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ckground-bullet-num-0">
            <a:extLst xmlns:a="http://schemas.openxmlformats.org/drawingml/2006/main">
              <a:ext uri="{FF2B5EF4-FFF2-40B4-BE49-F238E27FC236}">
                <a16:creationId xmlns:a16="http://schemas.microsoft.com/office/drawing/2014/main" id="{FE41F076-FAD7-4CD9-9244-D8AF4068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background-bullet-0">
            <a:extLst xmlns:a="http://schemas.openxmlformats.org/drawingml/2006/main">
              <a:ext uri="{FF2B5EF4-FFF2-40B4-BE49-F238E27FC236}">
                <a16:creationId xmlns:a16="http://schemas.microsoft.com/office/drawing/2014/main" id="{44CB156E-E0C9-42A2-94EF-F3081E9E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위치와 변화를 기억에 의존합니다.</a:t>
            </a:r>
          </a:p>
        </p:txBody>
      </p:sp>
      <p:sp>
        <p:nvSpPr>
          <p:cNvPr id="10" name="background-bullet-num-1">
            <a:extLst xmlns:a="http://schemas.openxmlformats.org/drawingml/2006/main">
              <a:ext uri="{FF2B5EF4-FFF2-40B4-BE49-F238E27FC236}">
                <a16:creationId xmlns:a16="http://schemas.microsoft.com/office/drawing/2014/main" id="{311533BE-F361-4493-82C4-D538CFD3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background-bullet-1">
            <a:extLst xmlns:a="http://schemas.openxmlformats.org/drawingml/2006/main">
              <a:ext uri="{FF2B5EF4-FFF2-40B4-BE49-F238E27FC236}">
                <a16:creationId xmlns:a16="http://schemas.microsoft.com/office/drawing/2014/main" id="{CFCEB960-12D6-41DF-B404-C95F45A4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7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검색 결과마다 관리 방법이 달라 혼란스럽습니다.</a:t>
            </a:r>
          </a:p>
        </p:txBody>
      </p:sp>
      <p:sp>
        <p:nvSpPr>
          <p:cNvPr id="12" name="background-bullet-num-2">
            <a:extLst xmlns:a="http://schemas.openxmlformats.org/drawingml/2006/main">
              <a:ext uri="{FF2B5EF4-FFF2-40B4-BE49-F238E27FC236}">
                <a16:creationId xmlns:a16="http://schemas.microsoft.com/office/drawing/2014/main" id="{55A0B444-B45B-47D9-B1A3-B60A8A77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background-bullet-2">
            <a:extLst xmlns:a="http://schemas.openxmlformats.org/drawingml/2006/main">
              <a:ext uri="{FF2B5EF4-FFF2-40B4-BE49-F238E27FC236}">
                <a16:creationId xmlns:a16="http://schemas.microsoft.com/office/drawing/2014/main" id="{3888CB29-CDD1-422E-8174-4D33CB8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분석 결과가 다음 행동과 기록으로 연결되지 않습니다.</a:t>
            </a:r>
          </a:p>
        </p:txBody>
      </p:sp>
      <p:sp>
        <p:nvSpPr>
          <p:cNvPr id="14" name="background-image-field">
            <a:extLst xmlns:a="http://schemas.openxmlformats.org/drawingml/2006/main">
              <a:ext uri="{FF2B5EF4-FFF2-40B4-BE49-F238E27FC236}">
                <a16:creationId xmlns:a16="http://schemas.microsoft.com/office/drawing/2014/main" id="{A1CEF5A3-8B2A-4DC0-971F-B2059A68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5054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7D0CC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65cba64904d3a"/>
          <a:stretch xmlns:a="http://schemas.openxmlformats.org/drawingml/2006/main"/>
        </p:blipFill>
        <p:spPr>
          <a:xfrm xmlns:a="http://schemas.openxmlformats.org/drawingml/2006/main">
            <a:off x="7524750" y="2524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16" name="factor-light-bg">
            <a:extLst xmlns:a="http://schemas.openxmlformats.org/drawingml/2006/main">
              <a:ext uri="{FF2B5EF4-FFF2-40B4-BE49-F238E27FC236}">
                <a16:creationId xmlns:a16="http://schemas.microsoft.com/office/drawing/2014/main" id="{3B2A3DC6-0A54-42AF-B3DE-03BE78DC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895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actor-light-text">
            <a:extLst xmlns:a="http://schemas.openxmlformats.org/drawingml/2006/main">
              <a:ext uri="{FF2B5EF4-FFF2-40B4-BE49-F238E27FC236}">
                <a16:creationId xmlns:a16="http://schemas.microsoft.com/office/drawing/2014/main" id="{4EBBC28B-3372-47CB-A7C8-952F89B3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28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rPr>
              <a:t>조명</a:t>
            </a:r>
          </a:p>
        </p:txBody>
      </p:sp>
      <p:sp>
        <p:nvSpPr>
          <p:cNvPr id="18" name="factor-life-bg">
            <a:extLst xmlns:a="http://schemas.openxmlformats.org/drawingml/2006/main">
              <a:ext uri="{FF2B5EF4-FFF2-40B4-BE49-F238E27FC236}">
                <a16:creationId xmlns:a16="http://schemas.microsoft.com/office/drawing/2014/main" id="{DB710F23-5F20-4487-911A-12033829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62200"/>
            <a:ext cx="1066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actor-life-text">
            <a:extLst xmlns:a="http://schemas.openxmlformats.org/drawingml/2006/main">
              <a:ext uri="{FF2B5EF4-FFF2-40B4-BE49-F238E27FC236}">
                <a16:creationId xmlns:a16="http://schemas.microsoft.com/office/drawing/2014/main" id="{EF6BA26D-E642-426E-AA13-DD9ACD3E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288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rPr>
              <a:t>생활 습관</a:t>
            </a:r>
          </a:p>
        </p:txBody>
      </p:sp>
      <p:sp>
        <p:nvSpPr>
          <p:cNvPr id="20" name="factor-stress-bg">
            <a:extLst xmlns:a="http://schemas.openxmlformats.org/drawingml/2006/main">
              <a:ext uri="{FF2B5EF4-FFF2-40B4-BE49-F238E27FC236}">
                <a16:creationId xmlns:a16="http://schemas.microsoft.com/office/drawing/2014/main" id="{CEEA0C77-731F-41D6-A52E-8DFDAFF8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1066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actor-stress-text">
            <a:extLst xmlns:a="http://schemas.openxmlformats.org/drawingml/2006/main">
              <a:ext uri="{FF2B5EF4-FFF2-40B4-BE49-F238E27FC236}">
                <a16:creationId xmlns:a16="http://schemas.microsoft.com/office/drawing/2014/main" id="{166A3F31-DCEC-4028-A3AA-85980ED3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86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스트레스</a:t>
            </a:r>
          </a:p>
        </p:txBody>
      </p:sp>
      <p:sp>
        <p:nvSpPr>
          <p:cNvPr id="22" name="factor-season-bg">
            <a:extLst xmlns:a="http://schemas.openxmlformats.org/drawingml/2006/main">
              <a:ext uri="{FF2B5EF4-FFF2-40B4-BE49-F238E27FC236}">
                <a16:creationId xmlns:a16="http://schemas.microsoft.com/office/drawing/2014/main" id="{4251983D-0244-4271-8B65-25AD39B8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19700"/>
            <a:ext cx="895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ctor-season-text">
            <a:extLst xmlns:a="http://schemas.openxmlformats.org/drawingml/2006/main">
              <a:ext uri="{FF2B5EF4-FFF2-40B4-BE49-F238E27FC236}">
                <a16:creationId xmlns:a16="http://schemas.microsoft.com/office/drawing/2014/main" id="{A9E9B512-0BE4-4B61-B420-356D54EA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6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rPr>
              <a:t>계절</a:t>
            </a:r>
          </a:p>
        </p:txBody>
      </p:sp>
      <p:sp>
        <p:nvSpPr>
          <p:cNvPr id="24" name="background-callout">
            <a:extLst xmlns:a="http://schemas.openxmlformats.org/drawingml/2006/main">
              <a:ext uri="{FF2B5EF4-FFF2-40B4-BE49-F238E27FC236}">
                <a16:creationId xmlns:a16="http://schemas.microsoft.com/office/drawing/2014/main" id="{86B0E17F-17A7-4464-B7AD-8A451161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550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문제는 정보의 부족보다, 판단과 행동의 단절입니다.</a:t>
            </a:r>
          </a:p>
        </p:txBody>
      </p:sp>
    </p:spTree>
    <p:extLst>
      <p:ext uri="{BB962C8B-B14F-4D97-AF65-F5344CB8AC3E}">
        <p14:creationId xmlns:p14="http://schemas.microsoft.com/office/powerpoint/2010/main" val="1831554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4">
            <a:extLst xmlns:a="http://schemas.openxmlformats.org/drawingml/2006/main">
              <a:ext uri="{FF2B5EF4-FFF2-40B4-BE49-F238E27FC236}">
                <a16:creationId xmlns:a16="http://schemas.microsoft.com/office/drawing/2014/main" id="{173C8E3E-8140-44C7-98BD-167FB1D1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PROBLEM DEFINITION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AE6A38EC-3C8D-4021-8BF8-1EEFA5D0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problems-title">
            <a:extLst xmlns:a="http://schemas.openxmlformats.org/drawingml/2006/main">
              <a:ext uri="{FF2B5EF4-FFF2-40B4-BE49-F238E27FC236}">
                <a16:creationId xmlns:a16="http://schemas.microsoft.com/office/drawing/2014/main" id="{0D1E7DD4-31F2-4DC1-BC9C-8F44C0B3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피부 관리에는 네 가지 단절이 있습니다</a:t>
            </a:r>
          </a:p>
        </p:txBody>
      </p:sp>
      <p:sp>
        <p:nvSpPr>
          <p:cNvPr id="4" name="problems-subtitle">
            <a:extLst xmlns:a="http://schemas.openxmlformats.org/drawingml/2006/main">
              <a:ext uri="{FF2B5EF4-FFF2-40B4-BE49-F238E27FC236}">
                <a16:creationId xmlns:a16="http://schemas.microsoft.com/office/drawing/2014/main" id="{72BC7A12-66AE-4402-987E-8F5ACA6F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판단 · 정보 · 기록 · 보호가 서로 이어지지 않는 것이 핵심 문제입니다</a:t>
            </a:r>
          </a:p>
        </p:txBody>
      </p:sp>
      <p:sp>
        <p:nvSpPr>
          <p:cNvPr id="5" name="problems-rule">
            <a:extLst xmlns:a="http://schemas.openxmlformats.org/drawingml/2006/main">
              <a:ext uri="{FF2B5EF4-FFF2-40B4-BE49-F238E27FC236}">
                <a16:creationId xmlns:a16="http://schemas.microsoft.com/office/drawing/2014/main" id="{5F0A3D71-B6CF-497B-B9AA-647A71F1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1-panel">
            <a:extLst xmlns:a="http://schemas.openxmlformats.org/drawingml/2006/main">
              <a:ext uri="{FF2B5EF4-FFF2-40B4-BE49-F238E27FC236}">
                <a16:creationId xmlns:a16="http://schemas.microsoft.com/office/drawing/2014/main" id="{6D76F87E-965E-4B1B-B0B8-7701DC3D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5334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1-marker">
            <a:extLst xmlns:a="http://schemas.openxmlformats.org/drawingml/2006/main">
              <a:ext uri="{FF2B5EF4-FFF2-40B4-BE49-F238E27FC236}">
                <a16:creationId xmlns:a16="http://schemas.microsoft.com/office/drawing/2014/main" id="{8F1D25C4-A77F-4808-8919-BE01D51B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95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1-number">
            <a:extLst xmlns:a="http://schemas.openxmlformats.org/drawingml/2006/main">
              <a:ext uri="{FF2B5EF4-FFF2-40B4-BE49-F238E27FC236}">
                <a16:creationId xmlns:a16="http://schemas.microsoft.com/office/drawing/2014/main" id="{BEF5DB00-6D5E-4988-BCE4-E94A7FE7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problem-1-title">
            <a:extLst xmlns:a="http://schemas.openxmlformats.org/drawingml/2006/main">
              <a:ext uri="{FF2B5EF4-FFF2-40B4-BE49-F238E27FC236}">
                <a16:creationId xmlns:a16="http://schemas.microsoft.com/office/drawing/2014/main" id="{27B2C28C-BB1C-443D-B92B-542E04D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피부 판단의 주관성</a:t>
            </a:r>
          </a:p>
        </p:txBody>
      </p:sp>
      <p:sp>
        <p:nvSpPr>
          <p:cNvPr id="10" name="problem-1-rule">
            <a:extLst xmlns:a="http://schemas.openxmlformats.org/drawingml/2006/main">
              <a:ext uri="{FF2B5EF4-FFF2-40B4-BE49-F238E27FC236}">
                <a16:creationId xmlns:a16="http://schemas.microsoft.com/office/drawing/2014/main" id="{7AE79EFF-629C-4226-B19D-E09C823A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1-body">
            <a:extLst xmlns:a="http://schemas.openxmlformats.org/drawingml/2006/main">
              <a:ext uri="{FF2B5EF4-FFF2-40B4-BE49-F238E27FC236}">
                <a16:creationId xmlns:a16="http://schemas.microsoft.com/office/drawing/2014/main" id="{E8C4BDE6-DE22-40EA-874D-910D0722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어디가 얼마나 달라졌는지 객관적으로 비교하기 어렵습니다.</a:t>
            </a:r>
          </a:p>
        </p:txBody>
      </p:sp>
      <p:sp>
        <p:nvSpPr>
          <p:cNvPr id="12" name="problem-1-dot">
            <a:extLst xmlns:a="http://schemas.openxmlformats.org/drawingml/2006/main">
              <a:ext uri="{FF2B5EF4-FFF2-40B4-BE49-F238E27FC236}">
                <a16:creationId xmlns:a16="http://schemas.microsoft.com/office/drawing/2014/main" id="{20F8F35F-3B48-4D5B-B5FF-BB72B13F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blem-2-panel">
            <a:extLst xmlns:a="http://schemas.openxmlformats.org/drawingml/2006/main">
              <a:ext uri="{FF2B5EF4-FFF2-40B4-BE49-F238E27FC236}">
                <a16:creationId xmlns:a16="http://schemas.microsoft.com/office/drawing/2014/main" id="{D74A1378-D252-459A-B04B-08ACE7FE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334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blem-2-marker">
            <a:extLst xmlns:a="http://schemas.openxmlformats.org/drawingml/2006/main">
              <a:ext uri="{FF2B5EF4-FFF2-40B4-BE49-F238E27FC236}">
                <a16:creationId xmlns:a16="http://schemas.microsoft.com/office/drawing/2014/main" id="{A5F71A8C-A2D9-4B55-9C0C-043CE7D1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95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2-number">
            <a:extLst xmlns:a="http://schemas.openxmlformats.org/drawingml/2006/main">
              <a:ext uri="{FF2B5EF4-FFF2-40B4-BE49-F238E27FC236}">
                <a16:creationId xmlns:a16="http://schemas.microsoft.com/office/drawing/2014/main" id="{AF52B0DB-311A-4A59-9442-41F5C577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problem-2-title">
            <a:extLst xmlns:a="http://schemas.openxmlformats.org/drawingml/2006/main">
              <a:ext uri="{FF2B5EF4-FFF2-40B4-BE49-F238E27FC236}">
                <a16:creationId xmlns:a16="http://schemas.microsoft.com/office/drawing/2014/main" id="{F4C28E4F-7786-465C-85D8-94A3AE6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관리 정보의 파편화</a:t>
            </a:r>
          </a:p>
        </p:txBody>
      </p:sp>
      <p:sp>
        <p:nvSpPr>
          <p:cNvPr id="17" name="problem-2-rule">
            <a:extLst xmlns:a="http://schemas.openxmlformats.org/drawingml/2006/main">
              <a:ext uri="{FF2B5EF4-FFF2-40B4-BE49-F238E27FC236}">
                <a16:creationId xmlns:a16="http://schemas.microsoft.com/office/drawing/2014/main" id="{3E5628B7-A72F-4071-910C-6A86C7D1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336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2-body">
            <a:extLst xmlns:a="http://schemas.openxmlformats.org/drawingml/2006/main">
              <a:ext uri="{FF2B5EF4-FFF2-40B4-BE49-F238E27FC236}">
                <a16:creationId xmlns:a16="http://schemas.microsoft.com/office/drawing/2014/main" id="{13E42934-24CE-4C51-AC76-62119D98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분석·성분·생활 관리법을 서로 다른 서비스에서 찾아야 합니다.</a:t>
            </a:r>
          </a:p>
        </p:txBody>
      </p:sp>
      <p:sp>
        <p:nvSpPr>
          <p:cNvPr id="19" name="problem-2-dot">
            <a:extLst xmlns:a="http://schemas.openxmlformats.org/drawingml/2006/main">
              <a:ext uri="{FF2B5EF4-FFF2-40B4-BE49-F238E27FC236}">
                <a16:creationId xmlns:a16="http://schemas.microsoft.com/office/drawing/2014/main" id="{15A51269-BA4D-4457-835F-0ABB6EFF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blem-3-panel">
            <a:extLst xmlns:a="http://schemas.openxmlformats.org/drawingml/2006/main">
              <a:ext uri="{FF2B5EF4-FFF2-40B4-BE49-F238E27FC236}">
                <a16:creationId xmlns:a16="http://schemas.microsoft.com/office/drawing/2014/main" id="{F10D9117-32A5-4CAF-8089-2E59163C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5334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oblem-3-marker">
            <a:extLst xmlns:a="http://schemas.openxmlformats.org/drawingml/2006/main">
              <a:ext uri="{FF2B5EF4-FFF2-40B4-BE49-F238E27FC236}">
                <a16:creationId xmlns:a16="http://schemas.microsoft.com/office/drawing/2014/main" id="{857CD9EE-5949-4F37-BB4D-A9A34220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95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oblem-3-number">
            <a:extLst xmlns:a="http://schemas.openxmlformats.org/drawingml/2006/main">
              <a:ext uri="{FF2B5EF4-FFF2-40B4-BE49-F238E27FC236}">
                <a16:creationId xmlns:a16="http://schemas.microsoft.com/office/drawing/2014/main" id="{4C3B1126-20E4-4DAE-99F4-2337B09F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problem-3-title">
            <a:extLst xmlns:a="http://schemas.openxmlformats.org/drawingml/2006/main">
              <a:ext uri="{FF2B5EF4-FFF2-40B4-BE49-F238E27FC236}">
                <a16:creationId xmlns:a16="http://schemas.microsoft.com/office/drawing/2014/main" id="{5D113808-E4ED-4A7F-88E6-BA821CA9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일회성 분석</a:t>
            </a:r>
          </a:p>
        </p:txBody>
      </p:sp>
      <p:sp>
        <p:nvSpPr>
          <p:cNvPr id="24" name="problem-3-rule">
            <a:extLst xmlns:a="http://schemas.openxmlformats.org/drawingml/2006/main">
              <a:ext uri="{FF2B5EF4-FFF2-40B4-BE49-F238E27FC236}">
                <a16:creationId xmlns:a16="http://schemas.microsoft.com/office/drawing/2014/main" id="{AA51A5AE-1F26-4902-8C94-578E57F7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blem-3-body">
            <a:extLst xmlns:a="http://schemas.openxmlformats.org/drawingml/2006/main">
              <a:ext uri="{FF2B5EF4-FFF2-40B4-BE49-F238E27FC236}">
                <a16:creationId xmlns:a16="http://schemas.microsoft.com/office/drawing/2014/main" id="{510AB11B-766E-445C-AAD0-B58EC9D9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오늘의 결과만으로 개선 여부와 다음 행동을 판단하기 어렵습니다.</a:t>
            </a:r>
          </a:p>
        </p:txBody>
      </p:sp>
      <p:sp>
        <p:nvSpPr>
          <p:cNvPr id="26" name="problem-3-dot">
            <a:extLst xmlns:a="http://schemas.openxmlformats.org/drawingml/2006/main">
              <a:ext uri="{FF2B5EF4-FFF2-40B4-BE49-F238E27FC236}">
                <a16:creationId xmlns:a16="http://schemas.microsoft.com/office/drawing/2014/main" id="{26CC5977-2059-4D59-8721-F37735CA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oblem-4-panel">
            <a:extLst xmlns:a="http://schemas.openxmlformats.org/drawingml/2006/main">
              <a:ext uri="{FF2B5EF4-FFF2-40B4-BE49-F238E27FC236}">
                <a16:creationId xmlns:a16="http://schemas.microsoft.com/office/drawing/2014/main" id="{11F5636B-D5C0-4ABE-924C-81812163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334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oblem-4-marker">
            <a:extLst xmlns:a="http://schemas.openxmlformats.org/drawingml/2006/main">
              <a:ext uri="{FF2B5EF4-FFF2-40B4-BE49-F238E27FC236}">
                <a16:creationId xmlns:a16="http://schemas.microsoft.com/office/drawing/2014/main" id="{8D944128-6F70-41F3-808F-6CB08530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95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6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roblem-4-number">
            <a:extLst xmlns:a="http://schemas.openxmlformats.org/drawingml/2006/main">
              <a:ext uri="{FF2B5EF4-FFF2-40B4-BE49-F238E27FC236}">
                <a16:creationId xmlns:a16="http://schemas.microsoft.com/office/drawing/2014/main" id="{6A08E66D-9D2B-423D-81B6-DB0B3202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0" name="problem-4-title">
            <a:extLst xmlns:a="http://schemas.openxmlformats.org/drawingml/2006/main">
              <a:ext uri="{FF2B5EF4-FFF2-40B4-BE49-F238E27FC236}">
                <a16:creationId xmlns:a16="http://schemas.microsoft.com/office/drawing/2014/main" id="{C7280EFE-8F09-427E-99D8-A1DA780E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민감한 사용자 정보</a:t>
            </a:r>
          </a:p>
        </p:txBody>
      </p:sp>
      <p:sp>
        <p:nvSpPr>
          <p:cNvPr id="31" name="problem-4-rule">
            <a:extLst xmlns:a="http://schemas.openxmlformats.org/drawingml/2006/main">
              <a:ext uri="{FF2B5EF4-FFF2-40B4-BE49-F238E27FC236}">
                <a16:creationId xmlns:a16="http://schemas.microsoft.com/office/drawing/2014/main" id="{F3D40AA3-4E40-49D8-AE84-580FE90A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339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blem-4-body">
            <a:extLst xmlns:a="http://schemas.openxmlformats.org/drawingml/2006/main">
              <a:ext uri="{FF2B5EF4-FFF2-40B4-BE49-F238E27FC236}">
                <a16:creationId xmlns:a16="http://schemas.microsoft.com/office/drawing/2014/main" id="{1DBEEF36-E86F-45E7-89D7-999749FE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958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얼굴 이미지와 활동 기록에는 인증·권한·소유권 보호가 필요합니다.</a:t>
            </a:r>
          </a:p>
        </p:txBody>
      </p:sp>
      <p:sp>
        <p:nvSpPr>
          <p:cNvPr id="33" name="problem-4-dot">
            <a:extLst xmlns:a="http://schemas.openxmlformats.org/drawingml/2006/main">
              <a:ext uri="{FF2B5EF4-FFF2-40B4-BE49-F238E27FC236}">
                <a16:creationId xmlns:a16="http://schemas.microsoft.com/office/drawing/2014/main" id="{45805E3B-A8AF-438D-B098-4E2334C5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2792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ection-5">
            <a:extLst xmlns:a="http://schemas.openxmlformats.org/drawingml/2006/main">
              <a:ext uri="{FF2B5EF4-FFF2-40B4-BE49-F238E27FC236}">
                <a16:creationId xmlns:a16="http://schemas.microsoft.com/office/drawing/2014/main" id="{338C8F69-DF3D-4061-B2B9-7A8728FF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PROBLEM → SOLUTION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EC522CC2-04E9-4913-BED4-8D99BDC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solution-map-title">
            <a:extLst xmlns:a="http://schemas.openxmlformats.org/drawingml/2006/main">
              <a:ext uri="{FF2B5EF4-FFF2-40B4-BE49-F238E27FC236}">
                <a16:creationId xmlns:a16="http://schemas.microsoft.com/office/drawing/2014/main" id="{15054B92-88C9-442E-8A51-B19546AA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Triple Skin은 네 단절을 하나의 관리 흐름으로 바꿉니다</a:t>
            </a:r>
          </a:p>
        </p:txBody>
      </p:sp>
      <p:sp>
        <p:nvSpPr>
          <p:cNvPr id="4" name="solution-map-subtitle">
            <a:extLst xmlns:a="http://schemas.openxmlformats.org/drawingml/2006/main">
              <a:ext uri="{FF2B5EF4-FFF2-40B4-BE49-F238E27FC236}">
                <a16:creationId xmlns:a16="http://schemas.microsoft.com/office/drawing/2014/main" id="{70AEADE9-77E1-4A8B-9C11-2CF78F97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각 문제를 개별 기능이 아니라 연결된 사용자 경험으로 해결했습니다</a:t>
            </a:r>
          </a:p>
        </p:txBody>
      </p:sp>
      <p:sp>
        <p:nvSpPr>
          <p:cNvPr id="5" name="solution-map-rule">
            <a:extLst xmlns:a="http://schemas.openxmlformats.org/drawingml/2006/main">
              <a:ext uri="{FF2B5EF4-FFF2-40B4-BE49-F238E27FC236}">
                <a16:creationId xmlns:a16="http://schemas.microsoft.com/office/drawing/2014/main" id="{43CF760B-039F-4166-A244-91FEAEF9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p-1-num">
            <a:extLst xmlns:a="http://schemas.openxmlformats.org/drawingml/2006/main">
              <a:ext uri="{FF2B5EF4-FFF2-40B4-BE49-F238E27FC236}">
                <a16:creationId xmlns:a16="http://schemas.microsoft.com/office/drawing/2014/main" id="{5C9A4DAA-4816-499E-97A9-F8471470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map-1-problem-bg">
            <a:extLst xmlns:a="http://schemas.openxmlformats.org/drawingml/2006/main">
              <a:ext uri="{FF2B5EF4-FFF2-40B4-BE49-F238E27FC236}">
                <a16:creationId xmlns:a16="http://schemas.microsoft.com/office/drawing/2014/main" id="{AB4664BE-02D2-4142-98C1-F81FF236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57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p-1-problem">
            <a:extLst xmlns:a="http://schemas.openxmlformats.org/drawingml/2006/main">
              <a:ext uri="{FF2B5EF4-FFF2-40B4-BE49-F238E27FC236}">
                <a16:creationId xmlns:a16="http://schemas.microsoft.com/office/drawing/2014/main" id="{E880AE42-3E2B-4DED-B75F-3AE1CF87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주관적 판단</a:t>
            </a:r>
          </a:p>
        </p:txBody>
      </p:sp>
      <p:sp>
        <p:nvSpPr>
          <p:cNvPr id="9" name="map-1-arrow">
            <a:extLst xmlns:a="http://schemas.openxmlformats.org/drawingml/2006/main">
              <a:ext uri="{FF2B5EF4-FFF2-40B4-BE49-F238E27FC236}">
                <a16:creationId xmlns:a16="http://schemas.microsoft.com/office/drawing/2014/main" id="{137F269D-A4AD-4A6A-874E-F55F68EF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0" name="map-1-solution-bg">
            <a:extLst xmlns:a="http://schemas.openxmlformats.org/drawingml/2006/main">
              <a:ext uri="{FF2B5EF4-FFF2-40B4-BE49-F238E27FC236}">
                <a16:creationId xmlns:a16="http://schemas.microsoft.com/office/drawing/2014/main" id="{E16065C9-1B26-417D-B4E4-8A6C8300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2571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644D"/>
            </a:solidFill>
            <a:prstDash val="solid"/>
          </a:ln>
        </p:spPr>
      </p:sp>
      <p:sp>
        <p:nvSpPr>
          <p:cNvPr id="11" name="map-1-solution-accent">
            <a:extLst xmlns:a="http://schemas.openxmlformats.org/drawingml/2006/main">
              <a:ext uri="{FF2B5EF4-FFF2-40B4-BE49-F238E27FC236}">
                <a16:creationId xmlns:a16="http://schemas.microsoft.com/office/drawing/2014/main" id="{49734C57-20B0-473A-A90B-4B483793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p-1-solution">
            <a:extLst xmlns:a="http://schemas.openxmlformats.org/drawingml/2006/main">
              <a:ext uri="{FF2B5EF4-FFF2-40B4-BE49-F238E27FC236}">
                <a16:creationId xmlns:a16="http://schemas.microsoft.com/office/drawing/2014/main" id="{72D3ED0B-419F-45B7-83D9-FCF80873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22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객관적 시각화</a:t>
            </a:r>
          </a:p>
        </p:txBody>
      </p:sp>
      <p:sp>
        <p:nvSpPr>
          <p:cNvPr id="13" name="map-1-detail">
            <a:extLst xmlns:a="http://schemas.openxmlformats.org/drawingml/2006/main">
              <a:ext uri="{FF2B5EF4-FFF2-40B4-BE49-F238E27FC236}">
                <a16:creationId xmlns:a16="http://schemas.microsoft.com/office/drawing/2014/main" id="{A282053B-42E0-4782-945F-5B5BF3FB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222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YOLO 위치·개수 + 피부 유형 설문</a:t>
            </a:r>
          </a:p>
        </p:txBody>
      </p:sp>
      <p:sp>
        <p:nvSpPr>
          <p:cNvPr id="14" name="map-1-badge">
            <a:extLst xmlns:a="http://schemas.openxmlformats.org/drawingml/2006/main">
              <a:ext uri="{FF2B5EF4-FFF2-40B4-BE49-F238E27FC236}">
                <a16:creationId xmlns:a16="http://schemas.microsoft.com/office/drawing/2014/main" id="{BEAC0E8A-45E2-409F-A22C-20DC6CF0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21970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p-2-num">
            <a:extLst xmlns:a="http://schemas.openxmlformats.org/drawingml/2006/main">
              <a:ext uri="{FF2B5EF4-FFF2-40B4-BE49-F238E27FC236}">
                <a16:creationId xmlns:a16="http://schemas.microsoft.com/office/drawing/2014/main" id="{9BDBC3E6-DF0B-4AC8-9211-2BAC042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map-2-problem-bg">
            <a:extLst xmlns:a="http://schemas.openxmlformats.org/drawingml/2006/main">
              <a:ext uri="{FF2B5EF4-FFF2-40B4-BE49-F238E27FC236}">
                <a16:creationId xmlns:a16="http://schemas.microsoft.com/office/drawing/2014/main" id="{787E14F0-1508-4F5E-BE65-B57F5580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57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p-2-problem">
            <a:extLst xmlns:a="http://schemas.openxmlformats.org/drawingml/2006/main">
              <a:ext uri="{FF2B5EF4-FFF2-40B4-BE49-F238E27FC236}">
                <a16:creationId xmlns:a16="http://schemas.microsoft.com/office/drawing/2014/main" id="{B8148326-4EDD-4B64-BB01-DE4F44BF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흩어진 정보</a:t>
            </a:r>
          </a:p>
        </p:txBody>
      </p:sp>
      <p:sp>
        <p:nvSpPr>
          <p:cNvPr id="18" name="map-2-arrow">
            <a:extLst xmlns:a="http://schemas.openxmlformats.org/drawingml/2006/main">
              <a:ext uri="{FF2B5EF4-FFF2-40B4-BE49-F238E27FC236}">
                <a16:creationId xmlns:a16="http://schemas.microsoft.com/office/drawing/2014/main" id="{65ABDD45-844A-4754-86BB-8E8B659F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62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9" name="map-2-solution-bg">
            <a:extLst xmlns:a="http://schemas.openxmlformats.org/drawingml/2006/main">
              <a:ext uri="{FF2B5EF4-FFF2-40B4-BE49-F238E27FC236}">
                <a16:creationId xmlns:a16="http://schemas.microsoft.com/office/drawing/2014/main" id="{8AD9FDB8-A577-4833-86E1-7F37FFF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2571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7864"/>
            </a:solidFill>
            <a:prstDash val="solid"/>
          </a:ln>
        </p:spPr>
      </p:sp>
      <p:sp>
        <p:nvSpPr>
          <p:cNvPr id="20" name="map-2-solution-accent">
            <a:extLst xmlns:a="http://schemas.openxmlformats.org/drawingml/2006/main">
              <a:ext uri="{FF2B5EF4-FFF2-40B4-BE49-F238E27FC236}">
                <a16:creationId xmlns:a16="http://schemas.microsoft.com/office/drawing/2014/main" id="{6A4335E2-1EFA-4168-8D44-860B4EDE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ap-2-solution">
            <a:extLst xmlns:a="http://schemas.openxmlformats.org/drawingml/2006/main">
              <a:ext uri="{FF2B5EF4-FFF2-40B4-BE49-F238E27FC236}">
                <a16:creationId xmlns:a16="http://schemas.microsoft.com/office/drawing/2014/main" id="{F3C350F7-7DDC-4984-965A-066BC762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222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rPr>
              <a:t>근거 기반 안내</a:t>
            </a:r>
          </a:p>
        </p:txBody>
      </p:sp>
      <p:sp>
        <p:nvSpPr>
          <p:cNvPr id="22" name="map-2-detail">
            <a:extLst xmlns:a="http://schemas.openxmlformats.org/drawingml/2006/main">
              <a:ext uri="{FF2B5EF4-FFF2-40B4-BE49-F238E27FC236}">
                <a16:creationId xmlns:a16="http://schemas.microsoft.com/office/drawing/2014/main" id="{B7B45186-E35A-4EEB-9872-D178EEE7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29125"/>
            <a:ext cx="222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추천 성분·제품 검색 + RAG 상담</a:t>
            </a:r>
          </a:p>
        </p:txBody>
      </p:sp>
      <p:sp>
        <p:nvSpPr>
          <p:cNvPr id="23" name="map-2-badge">
            <a:extLst xmlns:a="http://schemas.openxmlformats.org/drawingml/2006/main">
              <a:ext uri="{FF2B5EF4-FFF2-40B4-BE49-F238E27FC236}">
                <a16:creationId xmlns:a16="http://schemas.microsoft.com/office/drawing/2014/main" id="{8453B65D-5097-48CE-9BC4-3542C9AA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970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ap-3-num">
            <a:extLst xmlns:a="http://schemas.openxmlformats.org/drawingml/2006/main">
              <a:ext uri="{FF2B5EF4-FFF2-40B4-BE49-F238E27FC236}">
                <a16:creationId xmlns:a16="http://schemas.microsoft.com/office/drawing/2014/main" id="{7F2C1334-A193-4BFA-AD54-BBDCA61F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5" name="map-3-problem-bg">
            <a:extLst xmlns:a="http://schemas.openxmlformats.org/drawingml/2006/main">
              <a:ext uri="{FF2B5EF4-FFF2-40B4-BE49-F238E27FC236}">
                <a16:creationId xmlns:a16="http://schemas.microsoft.com/office/drawing/2014/main" id="{9D7E617F-B11C-45AB-9C65-8A4C2A97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57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ap-3-problem">
            <a:extLst xmlns:a="http://schemas.openxmlformats.org/drawingml/2006/main">
              <a:ext uri="{FF2B5EF4-FFF2-40B4-BE49-F238E27FC236}">
                <a16:creationId xmlns:a16="http://schemas.microsoft.com/office/drawing/2014/main" id="{B6079569-BA8D-4860-A045-5C54E73F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일회성 분석</a:t>
            </a:r>
          </a:p>
        </p:txBody>
      </p:sp>
      <p:sp>
        <p:nvSpPr>
          <p:cNvPr id="27" name="map-3-arrow">
            <a:extLst xmlns:a="http://schemas.openxmlformats.org/drawingml/2006/main">
              <a:ext uri="{FF2B5EF4-FFF2-40B4-BE49-F238E27FC236}">
                <a16:creationId xmlns:a16="http://schemas.microsoft.com/office/drawing/2014/main" id="{A8BF9B06-B3F1-447A-AFDA-FB9F4EA8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8" name="map-3-solution-bg">
            <a:extLst xmlns:a="http://schemas.openxmlformats.org/drawingml/2006/main">
              <a:ext uri="{FF2B5EF4-FFF2-40B4-BE49-F238E27FC236}">
                <a16:creationId xmlns:a16="http://schemas.microsoft.com/office/drawing/2014/main" id="{4298B0BB-5B9E-460D-8242-23FC098E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2571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A9E"/>
            </a:solidFill>
            <a:prstDash val="solid"/>
          </a:ln>
        </p:spPr>
      </p:sp>
      <p:sp>
        <p:nvSpPr>
          <p:cNvPr id="29" name="map-3-solution-accent">
            <a:extLst xmlns:a="http://schemas.openxmlformats.org/drawingml/2006/main">
              <a:ext uri="{FF2B5EF4-FFF2-40B4-BE49-F238E27FC236}">
                <a16:creationId xmlns:a16="http://schemas.microsoft.com/office/drawing/2014/main" id="{52E17E65-0F66-4CDE-9CED-ADEDC75D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ap-3-solution">
            <a:extLst xmlns:a="http://schemas.openxmlformats.org/drawingml/2006/main">
              <a:ext uri="{FF2B5EF4-FFF2-40B4-BE49-F238E27FC236}">
                <a16:creationId xmlns:a16="http://schemas.microsoft.com/office/drawing/2014/main" id="{5BD6484D-DCFE-46F0-90D1-0EEA43FD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222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rPr>
              <a:t>지속적 기록</a:t>
            </a:r>
          </a:p>
        </p:txBody>
      </p:sp>
      <p:sp>
        <p:nvSpPr>
          <p:cNvPr id="31" name="map-3-detail">
            <a:extLst xmlns:a="http://schemas.openxmlformats.org/drawingml/2006/main">
              <a:ext uri="{FF2B5EF4-FFF2-40B4-BE49-F238E27FC236}">
                <a16:creationId xmlns:a16="http://schemas.microsoft.com/office/drawing/2014/main" id="{C56BA669-3A65-4E50-A64B-6C2AE501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222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날짜별 이력·추이 + 관리 캘린더</a:t>
            </a:r>
          </a:p>
        </p:txBody>
      </p:sp>
      <p:sp>
        <p:nvSpPr>
          <p:cNvPr id="32" name="map-3-badge">
            <a:extLst xmlns:a="http://schemas.openxmlformats.org/drawingml/2006/main">
              <a:ext uri="{FF2B5EF4-FFF2-40B4-BE49-F238E27FC236}">
                <a16:creationId xmlns:a16="http://schemas.microsoft.com/office/drawing/2014/main" id="{92702F01-D1C7-44BE-842E-6202526E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21970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ap-4-num">
            <a:extLst xmlns:a="http://schemas.openxmlformats.org/drawingml/2006/main">
              <a:ext uri="{FF2B5EF4-FFF2-40B4-BE49-F238E27FC236}">
                <a16:creationId xmlns:a16="http://schemas.microsoft.com/office/drawing/2014/main" id="{8DFB678F-4DAF-4341-8639-D736B7C2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4" name="map-4-problem-bg">
            <a:extLst xmlns:a="http://schemas.openxmlformats.org/drawingml/2006/main">
              <a:ext uri="{FF2B5EF4-FFF2-40B4-BE49-F238E27FC236}">
                <a16:creationId xmlns:a16="http://schemas.microsoft.com/office/drawing/2014/main" id="{00ED964D-ACDC-4FEB-804D-F4643137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57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ap-4-problem">
            <a:extLst xmlns:a="http://schemas.openxmlformats.org/drawingml/2006/main">
              <a:ext uri="{FF2B5EF4-FFF2-40B4-BE49-F238E27FC236}">
                <a16:creationId xmlns:a16="http://schemas.microsoft.com/office/drawing/2014/main" id="{A1019E4A-5D5E-4348-B7CB-5041F1B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43175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민감한 정보</a:t>
            </a:r>
          </a:p>
        </p:txBody>
      </p:sp>
      <p:sp>
        <p:nvSpPr>
          <p:cNvPr id="36" name="map-4-arrow">
            <a:extLst xmlns:a="http://schemas.openxmlformats.org/drawingml/2006/main">
              <a:ext uri="{FF2B5EF4-FFF2-40B4-BE49-F238E27FC236}">
                <a16:creationId xmlns:a16="http://schemas.microsoft.com/office/drawing/2014/main" id="{A4EA98AD-2260-478C-828D-A88518F5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37" name="map-4-solution-bg">
            <a:extLst xmlns:a="http://schemas.openxmlformats.org/drawingml/2006/main">
              <a:ext uri="{FF2B5EF4-FFF2-40B4-BE49-F238E27FC236}">
                <a16:creationId xmlns:a16="http://schemas.microsoft.com/office/drawing/2014/main" id="{3101EF28-D174-4E88-B166-160D2C9F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571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76A30"/>
            </a:solidFill>
            <a:prstDash val="solid"/>
          </a:ln>
        </p:spPr>
      </p:sp>
      <p:sp>
        <p:nvSpPr>
          <p:cNvPr id="38" name="map-4-solution-accent">
            <a:extLst xmlns:a="http://schemas.openxmlformats.org/drawingml/2006/main">
              <a:ext uri="{FF2B5EF4-FFF2-40B4-BE49-F238E27FC236}">
                <a16:creationId xmlns:a16="http://schemas.microsoft.com/office/drawing/2014/main" id="{96EDF5F1-13A4-4325-B605-AEF9F7D5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6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ap-4-solution">
            <a:extLst xmlns:a="http://schemas.openxmlformats.org/drawingml/2006/main">
              <a:ext uri="{FF2B5EF4-FFF2-40B4-BE49-F238E27FC236}">
                <a16:creationId xmlns:a16="http://schemas.microsoft.com/office/drawing/2014/main" id="{F0D75203-BA6C-44D0-A4F3-E050801C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222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876A30"/>
                </a:solidFill>
                <a:latin typeface="Malgun Gothic"/>
                <a:ea typeface="Malgun Gothic"/>
                <a:cs typeface="Malgun Gothic"/>
              </a:rPr>
              <a:t>보호된 이용</a:t>
            </a:r>
          </a:p>
        </p:txBody>
      </p:sp>
      <p:sp>
        <p:nvSpPr>
          <p:cNvPr id="40" name="map-4-detail">
            <a:extLst xmlns:a="http://schemas.openxmlformats.org/drawingml/2006/main">
              <a:ext uri="{FF2B5EF4-FFF2-40B4-BE49-F238E27FC236}">
                <a16:creationId xmlns:a16="http://schemas.microsoft.com/office/drawing/2014/main" id="{C966DC98-3F85-4A66-A165-660DF11D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29125"/>
            <a:ext cx="222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세션·BCrypt·CSRF + 소유권 검증</a:t>
            </a:r>
          </a:p>
        </p:txBody>
      </p:sp>
      <p:sp>
        <p:nvSpPr>
          <p:cNvPr id="41" name="map-4-badge">
            <a:extLst xmlns:a="http://schemas.openxmlformats.org/drawingml/2006/main">
              <a:ext uri="{FF2B5EF4-FFF2-40B4-BE49-F238E27FC236}">
                <a16:creationId xmlns:a16="http://schemas.microsoft.com/office/drawing/2014/main" id="{0738BD5A-820C-4446-B6C5-110188CD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21970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olution-flow-bg">
            <a:extLst xmlns:a="http://schemas.openxmlformats.org/drawingml/2006/main">
              <a:ext uri="{FF2B5EF4-FFF2-40B4-BE49-F238E27FC236}">
                <a16:creationId xmlns:a16="http://schemas.microsoft.com/office/drawing/2014/main" id="{670FD519-9C37-4D9C-9E5D-38B3169D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19750"/>
            <a:ext cx="807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olution-flow-text">
            <a:extLst xmlns:a="http://schemas.openxmlformats.org/drawingml/2006/main">
              <a:ext uri="{FF2B5EF4-FFF2-40B4-BE49-F238E27FC236}">
                <a16:creationId xmlns:a16="http://schemas.microsoft.com/office/drawing/2014/main" id="{FFBE62E2-3DCD-49F9-8BD7-AC67D083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05475"/>
            <a:ext cx="7696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분석  →  이해  →  실천  →  기록  →  다시 관리</a:t>
            </a:r>
          </a:p>
        </p:txBody>
      </p:sp>
    </p:spTree>
    <p:extLst>
      <p:ext uri="{BB962C8B-B14F-4D97-AF65-F5344CB8AC3E}">
        <p14:creationId xmlns:p14="http://schemas.microsoft.com/office/powerpoint/2010/main" val="1581591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question-eyebrow">
            <a:extLst xmlns:a="http://schemas.openxmlformats.org/drawingml/2006/main">
              <a:ext uri="{FF2B5EF4-FFF2-40B4-BE49-F238E27FC236}">
                <a16:creationId xmlns:a16="http://schemas.microsoft.com/office/drawing/2014/main" id="{C9A0C63F-3D55-40AD-8BEB-3F974549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PROJECT QUESTION</a:t>
            </a:r>
          </a:p>
        </p:txBody>
      </p:sp>
      <p:sp>
        <p:nvSpPr>
          <p:cNvPr id="2" name="question-top-rule">
            <a:extLst xmlns:a="http://schemas.openxmlformats.org/drawingml/2006/main">
              <a:ext uri="{FF2B5EF4-FFF2-40B4-BE49-F238E27FC236}">
                <a16:creationId xmlns:a16="http://schemas.microsoft.com/office/drawing/2014/main" id="{A7608BD3-0BB8-488B-BA06-B17658B6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question-line-1">
            <a:extLst xmlns:a="http://schemas.openxmlformats.org/drawingml/2006/main">
              <a:ext uri="{FF2B5EF4-FFF2-40B4-BE49-F238E27FC236}">
                <a16:creationId xmlns:a16="http://schemas.microsoft.com/office/drawing/2014/main" id="{E196F9E2-BCEB-4BED-9AEF-2351B8E0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11C1A"/>
                </a:solidFill>
                <a:latin typeface="Malgun Gothic"/>
                <a:ea typeface="Malgun Gothic"/>
                <a:cs typeface="Malgun Gothic"/>
              </a:rPr>
              <a:t>어떻게 하면 사용자가</a:t>
            </a:r>
          </a:p>
        </p:txBody>
      </p:sp>
      <p:sp>
        <p:nvSpPr>
          <p:cNvPr id="4" name="question-line-2">
            <a:extLst xmlns:a="http://schemas.openxmlformats.org/drawingml/2006/main">
              <a:ext uri="{FF2B5EF4-FFF2-40B4-BE49-F238E27FC236}">
                <a16:creationId xmlns:a16="http://schemas.microsoft.com/office/drawing/2014/main" id="{BAE1687B-5036-4092-8FB4-F65C0A81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피부 상태를 더 객관적으로 이해하고,</a:t>
            </a:r>
          </a:p>
        </p:txBody>
      </p:sp>
      <p:sp>
        <p:nvSpPr>
          <p:cNvPr id="5" name="question-line-3">
            <a:extLst xmlns:a="http://schemas.openxmlformats.org/drawingml/2006/main">
              <a:ext uri="{FF2B5EF4-FFF2-40B4-BE49-F238E27FC236}">
                <a16:creationId xmlns:a16="http://schemas.microsoft.com/office/drawing/2014/main" id="{311631DE-35F6-422C-B49C-EB9364EA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rPr>
              <a:t>신뢰할 수 있는 관리 정보를 얻어,</a:t>
            </a:r>
          </a:p>
        </p:txBody>
      </p:sp>
      <p:sp>
        <p:nvSpPr>
          <p:cNvPr id="6" name="question-line-4">
            <a:extLst xmlns:a="http://schemas.openxmlformats.org/drawingml/2006/main">
              <a:ext uri="{FF2B5EF4-FFF2-40B4-BE49-F238E27FC236}">
                <a16:creationId xmlns:a16="http://schemas.microsoft.com/office/drawing/2014/main" id="{17497AC4-A4A9-4C1C-A8CE-2A1219E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rPr>
              <a:t>꾸준한 관리 행동으로 이어지게 할 수 있을까?</a:t>
            </a:r>
          </a:p>
        </p:txBody>
      </p:sp>
      <p:sp>
        <p:nvSpPr>
          <p:cNvPr id="7" name="question-pill-1-bg">
            <a:extLst xmlns:a="http://schemas.openxmlformats.org/drawingml/2006/main">
              <a:ext uri="{FF2B5EF4-FFF2-40B4-BE49-F238E27FC236}">
                <a16:creationId xmlns:a16="http://schemas.microsoft.com/office/drawing/2014/main" id="{095C1452-705F-40D6-99A7-66CC1A01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9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-pill-1-text">
            <a:extLst xmlns:a="http://schemas.openxmlformats.org/drawingml/2006/main">
              <a:ext uri="{FF2B5EF4-FFF2-40B4-BE49-F238E27FC236}">
                <a16:creationId xmlns:a16="http://schemas.microsoft.com/office/drawing/2014/main" id="{29A238FE-5F90-46DE-BD97-E31FA988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객관적 이해</a:t>
            </a:r>
          </a:p>
        </p:txBody>
      </p:sp>
      <p:sp>
        <p:nvSpPr>
          <p:cNvPr id="9" name="question-pill-2-bg">
            <a:extLst xmlns:a="http://schemas.openxmlformats.org/drawingml/2006/main">
              <a:ext uri="{FF2B5EF4-FFF2-40B4-BE49-F238E27FC236}">
                <a16:creationId xmlns:a16="http://schemas.microsoft.com/office/drawing/2014/main" id="{A6A3C7EB-2EB9-4B2D-8830-4DF6E98B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pill-2-text">
            <a:extLst xmlns:a="http://schemas.openxmlformats.org/drawingml/2006/main">
              <a:ext uri="{FF2B5EF4-FFF2-40B4-BE49-F238E27FC236}">
                <a16:creationId xmlns:a16="http://schemas.microsoft.com/office/drawing/2014/main" id="{F746436B-3C25-41A3-989A-891B6CA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006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67864"/>
                </a:solidFill>
                <a:latin typeface="Malgun Gothic"/>
                <a:ea typeface="Malgun Gothic"/>
                <a:cs typeface="Malgun Gothic"/>
              </a:rPr>
              <a:t>신뢰할 정보</a:t>
            </a:r>
          </a:p>
        </p:txBody>
      </p:sp>
      <p:sp>
        <p:nvSpPr>
          <p:cNvPr id="11" name="question-pill-3-bg">
            <a:extLst xmlns:a="http://schemas.openxmlformats.org/drawingml/2006/main">
              <a:ext uri="{FF2B5EF4-FFF2-40B4-BE49-F238E27FC236}">
                <a16:creationId xmlns:a16="http://schemas.microsoft.com/office/drawing/2014/main" id="{3C08D3EF-E3BD-4B39-A96B-56A0EBB2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3400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question-pill-3-text">
            <a:extLst xmlns:a="http://schemas.openxmlformats.org/drawingml/2006/main">
              <a:ext uri="{FF2B5EF4-FFF2-40B4-BE49-F238E27FC236}">
                <a16:creationId xmlns:a16="http://schemas.microsoft.com/office/drawing/2014/main" id="{D90FC3EC-82A4-41B8-8619-1DE3CE65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006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57A9E"/>
                </a:solidFill>
                <a:latin typeface="Malgun Gothic"/>
                <a:ea typeface="Malgun Gothic"/>
                <a:cs typeface="Malgun Gothic"/>
              </a:rPr>
              <a:t>꾸준한 행동</a:t>
            </a:r>
          </a:p>
        </p:txBody>
      </p:sp>
      <p:sp>
        <p:nvSpPr>
          <p:cNvPr id="13" name="question-answer">
            <a:extLst xmlns:a="http://schemas.openxmlformats.org/drawingml/2006/main">
              <a:ext uri="{FF2B5EF4-FFF2-40B4-BE49-F238E27FC236}">
                <a16:creationId xmlns:a16="http://schemas.microsoft.com/office/drawing/2014/main" id="{671EA327-B8BE-4C6F-84E0-8CBE1994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Triple Skin이 해결하고자 한 질문입니다.</a:t>
            </a:r>
          </a:p>
        </p:txBody>
      </p:sp>
      <p:sp>
        <p:nvSpPr>
          <p:cNvPr id="14" name="question-brand">
            <a:extLst xmlns:a="http://schemas.openxmlformats.org/drawingml/2006/main">
              <a:ext uri="{FF2B5EF4-FFF2-40B4-BE49-F238E27FC236}">
                <a16:creationId xmlns:a16="http://schemas.microsoft.com/office/drawing/2014/main" id="{BC69D91A-963D-4AF7-8947-116ECE1C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7644D"/>
                </a:solidFill>
                <a:latin typeface="Malgun Gothic"/>
                <a:ea typeface="Malgun Gothic"/>
                <a:cs typeface="Malgun Gothic"/>
              </a:rPr>
              <a:t>TRIPLE SKIN</a:t>
            </a:r>
          </a:p>
        </p:txBody>
      </p:sp>
      <p:sp>
        <p:nvSpPr>
          <p:cNvPr id="15" name="page-6">
            <a:extLst xmlns:a="http://schemas.openxmlformats.org/drawingml/2006/main">
              <a:ext uri="{FF2B5EF4-FFF2-40B4-BE49-F238E27FC236}">
                <a16:creationId xmlns:a16="http://schemas.microsoft.com/office/drawing/2014/main" id="{68B85E8F-B2D0-4139-8A48-44D8328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66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3433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2026-07-20T02:11:39.4350000Z</dcterms:created>
  <dcterms:modified xsi:type="dcterms:W3CDTF">2026-07-20T02:11:39.4350000Z</dcterms:modified>
</coreProperties>
</file>